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7.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9.xml" ContentType="application/vnd.openxmlformats-officedocument.presentationml.notesSlide+xml"/>
  <Override PartName="/ppt/notesSlides/notesSlide126.xml" ContentType="application/vnd.openxmlformats-officedocument.presentationml.notesSlide+xml"/>
  <Override PartName="/ppt/notesSlides/notesSlide125.xml" ContentType="application/vnd.openxmlformats-officedocument.presentationml.notesSlide+xml"/>
  <Override PartName="/ppt/notesSlides/notesSlide127.xml" ContentType="application/vnd.openxmlformats-officedocument.presentationml.notesSlide+xml"/>
  <Override PartName="/ppt/notesSlides/notesSlide12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88" r:id="rId3"/>
    <p:sldId id="290" r:id="rId4"/>
    <p:sldId id="325" r:id="rId5"/>
    <p:sldId id="292" r:id="rId6"/>
    <p:sldId id="259" r:id="rId7"/>
    <p:sldId id="294" r:id="rId8"/>
    <p:sldId id="321" r:id="rId11"/>
    <p:sldId id="296" r:id="rId12"/>
    <p:sldId id="298" r:id="rId13"/>
    <p:sldId id="300" r:id="rId14"/>
    <p:sldId id="302" r:id="rId15"/>
    <p:sldId id="304" r:id="rId16"/>
    <p:sldId id="322" r:id="rId17"/>
    <p:sldId id="308" r:id="rId20"/>
    <p:sldId id="324" r:id="rId21"/>
    <p:sldId id="306" r:id="rId18"/>
    <p:sldId id="323" r:id="rId19"/>
    <p:sldId id="310" r:id="rId22"/>
    <p:sldId id="261" r:id="rId9"/>
    <p:sldId id="257" r:id="rId10"/>
    <p:sldId id="260" r:id="rId23"/>
    <p:sldId id="312" r:id="rId25"/>
    <p:sldId id="316" r:id="rId27"/>
    <p:sldId id="314" r:id="rId26"/>
    <p:sldId id="318" r:id="rId28"/>
    <p:sldId id="286" r:id="rId29"/>
  </p:sldIdLst>
  <p:sldSz cx="12192000" cy="762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20.xml"/><Relationship Id="rId10" Type="http://schemas.openxmlformats.org/officeDocument/2006/relationships/slide" Target="slides/slide21.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y Cohen" userId="0c42f040-7aa0-4d08-bf84-cb96ea5ed514" providerId="ADAL" clId="{A5FC7D00-5239-449A-81B9-1927F78B1EE7}"/>
    <pc:docChg chg="modSld sldOrd">
      <pc:chgData name="Guy Cohen" userId="0c42f040-7aa0-4d08-bf84-cb96ea5ed514" providerId="ADAL" clId="{A5FC7D00-5239-449A-81B9-1927F78B1EE7}" dt="2026-09-02T07:55:02.703" v="0"/>
      <pc:docMkLst>
        <pc:docMk/>
      </pc:docMkLst>
      <pc:sldChg chg="ord">
        <pc:chgData name="Guy Cohen" userId="0c42f040-7aa0-4d08-bf84-cb96ea5ed514" providerId="ADAL" clId="{A5FC7D00-5239-449A-81B9-1927F78B1EE7}" dt="2026-09-02T07:55:02.703" v="0"/>
        <pc:sldMkLst>
          <pc:docMk/>
          <pc:sldMk cId="0"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397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0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10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10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10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1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17.xml.rels><?xml version="1.0" encoding="UTF-8" standalone="yes"?><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18.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19.xml.rels><?xml version="1.0" encoding="UTF-8" standalone="yes"?><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25.xml.rels><?xml version="1.0" encoding="UTF-8" standalone="yes"?><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26.xml.rels><?xml version="1.0" encoding="UTF-8" standalone="yes"?><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27.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29.xml.rels><?xml version="1.0" encoding="UTF-8" standalone="yes"?><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 מתוך 27 | פתיחה</a:t>
            </a:r>
          </a:p>
          <a:p>
            <a:pPr algn="r" rtl="1"/>
            <a:r>
              <a:rPr lang="he-IL" sz="1400">
                <a:latin typeface="Segoe UI"/>
                <a:cs typeface="Segoe UI"/>
              </a:rPr>
              <a:t>תזמון למנחה בלבד: 00:00–00:01 | 1 דקות כולל תרגול</a:t>
            </a:r>
          </a:p>
          <a:p>
            <a:pPr algn="r" rtl="1"/>
            <a:r>
              <a:rPr lang="he-IL" sz="1400">
                <a:latin typeface="Segoe UI"/>
                <a:cs typeface="Segoe UI"/>
              </a:rPr>
              <a:t>להקראה</a:t>
            </a:r>
          </a:p>
          <a:p>
            <a:pPr algn="r" rtl="1"/>
            <a:r>
              <a:rPr lang="he-IL" sz="1400">
                <a:latin typeface="Segoe UI"/>
                <a:cs typeface="Segoe UI"/>
              </a:rPr>
              <a:t>בוקר טוב, אני גיא מוואלור. היום נעבוד עם Copilot על משימות שמוכרות לכם: להבין קובץ, לסכם מסמך, להכין מצגת ולנסח תשובה. המטרה היא שכל אחד ייצא עם תוצאה שבדק בעצמו ועם משימה ברורה להמשך. מי כבר פתח את Copilot השבוע?</a:t>
            </a:r>
          </a:p>
          <a:p>
            <a:pPr algn="r" rtl="1"/>
            <a:r>
              <a:rPr lang="he-IL" sz="1400">
                <a:latin typeface="Segoe UI"/>
                <a:cs typeface="Segoe UI"/>
              </a:rPr>
              <a:t>פעולה על המסך</a:t>
            </a:r>
          </a:p>
          <a:p>
            <a:pPr algn="r" rtl="1"/>
            <a:r>
              <a:rPr lang="he-IL" sz="1400">
                <a:latin typeface="Segoe UI"/>
                <a:cs typeface="Segoe UI"/>
              </a:rPr>
              <a:t>הרם יד בעצמך, המתן לתגובות עשר שניות. אל תפתח בסיפור החסימה. בפגישה עם עינת ודוד קרא את הפתיחה כפי שתיאמר ללקוח, ואז הצג את מפת הזמנים שבמדריך.</a:t>
            </a:r>
          </a:p>
          <a:p>
            <a:pPr algn="r" rtl="1"/>
            <a:r>
              <a:rPr lang="he-IL" sz="1400">
                <a:latin typeface="Segoe UI"/>
                <a:cs typeface="Segoe UI"/>
              </a:rPr>
              <a:t>הנחיה לקהל ותוצר</a:t>
            </a:r>
          </a:p>
          <a:p>
            <a:pPr algn="r" rtl="1"/>
            <a:r>
              <a:rPr lang="he-IL" sz="1400">
                <a:latin typeface="Segoe UI"/>
                <a:cs typeface="Segoe UI"/>
              </a:rPr>
              <a:t>סקר ידיים קצר. אין צורך שכל אחד יציג את עצמו.</a:t>
            </a:r>
          </a:p>
          <a:p>
            <a:pPr algn="r" rtl="1"/>
            <a:r>
              <a:rPr lang="he-IL" sz="1400">
                <a:latin typeface="Segoe UI"/>
                <a:cs typeface="Segoe UI"/>
              </a:rPr>
              <a:t>בדיקה, גיבוי ומעבר</a:t>
            </a:r>
          </a:p>
          <a:p>
            <a:pPr algn="r" rtl="1"/>
            <a:r>
              <a:rPr lang="he-IL" sz="1400">
                <a:latin typeface="Segoe UI"/>
                <a:cs typeface="Segoe UI"/>
              </a:rPr>
              <a:t>עבור למטרות אחרי תגובה אחת או שתיים.</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6 מתוך 27 | מה זמין בחשבון</a:t>
            </a:r>
          </a:p>
          <a:p>
            <a:pPr algn="r" rtl="1"/>
            <a:r>
              <a:rPr lang="he-IL" sz="1400">
                <a:latin typeface="Segoe UI"/>
                <a:cs typeface="Segoe UI"/>
              </a:rPr>
              <a:t>תזמון למנחה בלבד: 00:08–00:10 | 2 דקות כולל תרגול</a:t>
            </a:r>
          </a:p>
          <a:p>
            <a:pPr algn="r" rtl="1"/>
            <a:r>
              <a:rPr lang="he-IL" sz="1400">
                <a:latin typeface="Segoe UI"/>
                <a:cs typeface="Segoe UI"/>
              </a:rPr>
              <a:t>להקראה</a:t>
            </a:r>
          </a:p>
          <a:p>
            <a:pPr algn="r" rtl="1"/>
            <a:r>
              <a:rPr lang="he-IL" sz="1400">
                <a:latin typeface="Segoe UI"/>
                <a:cs typeface="Segoe UI"/>
              </a:rPr>
              <a:t>בחלק מהחשבונות יש צ׳אט, ובחלקם גם יכולות בתוך Word, Excel ו־PowerPoint. היכולת המדויקת תלויה ברישוי ובהגדרות הארגון. עצם הופעת סמל Copilot לא מבטיחה שכל פעולה תעבוד. נתרגל במה שזמין אצלכם, ונראה גם יכולת מתקדמת כדי שתדעו מה לבקש כשיש צורך עסקי.</a:t>
            </a:r>
          </a:p>
          <a:p>
            <a:pPr algn="r" rtl="1"/>
            <a:r>
              <a:rPr lang="he-IL" sz="1400">
                <a:latin typeface="Segoe UI"/>
                <a:cs typeface="Segoe UI"/>
              </a:rPr>
              <a:t>פעולה על המסך</a:t>
            </a:r>
          </a:p>
          <a:p>
            <a:pPr algn="r" rtl="1"/>
            <a:r>
              <a:rPr lang="he-IL" sz="1400">
                <a:latin typeface="Segoe UI"/>
                <a:cs typeface="Segoe UI"/>
              </a:rPr>
              <a:t>הראה היכן הכפתור אצלך. אל תציג רשימת מחירים. אבטחה: בחשבון עבודה חלות הגנות ארגוניות, אך עדיין צריך לפעול לפי מדיניות הארגון והרשאות הקבצים.</a:t>
            </a:r>
          </a:p>
          <a:p>
            <a:pPr algn="r" rtl="1"/>
            <a:r>
              <a:rPr lang="he-IL" sz="1400">
                <a:latin typeface="Segoe UI"/>
                <a:cs typeface="Segoe UI"/>
              </a:rPr>
              <a:t>הנחיה לקהל ותוצר</a:t>
            </a:r>
          </a:p>
          <a:p>
            <a:pPr algn="r" rtl="1"/>
            <a:r>
              <a:rPr lang="he-IL" sz="1400">
                <a:latin typeface="Segoe UI"/>
                <a:cs typeface="Segoe UI"/>
              </a:rPr>
              <a:t>בקש מכל משתתף לזהות אם הוא רואה צ׳אט בלבד או גם כלי בתוך האפליקציה.</a:t>
            </a:r>
          </a:p>
          <a:p>
            <a:pPr algn="r" rtl="1"/>
            <a:r>
              <a:rPr lang="he-IL" sz="1400">
                <a:latin typeface="Segoe UI"/>
                <a:cs typeface="Segoe UI"/>
              </a:rPr>
              <a:t>בדיקה, גיבוי ומעבר</a:t>
            </a:r>
          </a:p>
          <a:p>
            <a:pPr algn="r" rtl="1"/>
            <a:r>
              <a:rPr lang="he-IL" sz="1400">
                <a:latin typeface="Segoe UI"/>
                <a:cs typeface="Segoe UI"/>
              </a:rPr>
              <a:t>עד כאן עשר דקות מהפתיחה. ממשיכים לבקשה הראשונה.</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a:p>
            <a:pPr algn="r" rtl="1"/>
            <a:r>
              <a:rPr lang="he-IL" sz="1400">
                <a:latin typeface="Segoe UI"/>
                <a:cs typeface="Segoe UI"/>
              </a:rPr>
              <a:t>https://learn.microsoft.com/en-us/microsoft-365/copilot/enterprise-data-protection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20 מתוך 27 | הקשר וסיכום ההשוואה</a:t>
            </a:r>
          </a:p>
          <a:p>
            <a:pPr algn="r" rtl="1"/>
            <a:r>
              <a:rPr lang="he-IL" sz="1400">
                <a:latin typeface="Segoe UI"/>
                <a:cs typeface="Segoe UI"/>
              </a:rPr>
              <a:t>תזמון למנחה בלבד: 01:15–01:18 | 3 דקות כולל תרגול</a:t>
            </a:r>
          </a:p>
          <a:p>
            <a:pPr algn="r" rtl="1"/>
            <a:r>
              <a:rPr lang="he-IL" sz="1400">
                <a:latin typeface="Segoe UI"/>
                <a:cs typeface="Segoe UI"/>
              </a:rPr>
              <a:t>להקראה</a:t>
            </a:r>
          </a:p>
          <a:p>
            <a:pPr algn="r" rtl="1"/>
            <a:r>
              <a:rPr lang="he-IL" sz="1400">
                <a:latin typeface="Segoe UI"/>
                <a:cs typeface="Segoe UI"/>
              </a:rPr>
              <a:t>השקף הזה מתעד את ההשוואה שעשינו בבדיקה קודמת. חשוב לדייק את הניסוח: בלי קובץ הכלי עדיין יכול לענות לשאלות כלליות, אבל אין לו בהכרח את הנתון הפנימי. בחשבון עם חיפוש ארגוני הוא עשוי למצוא מקור, בהתאם להרשאות ולזמינות. קובץ מצורף מאפשר לבדוק על מה התשובה נשענת; הוא לא מבטיח שאין טעות.</a:t>
            </a:r>
          </a:p>
          <a:p>
            <a:pPr algn="r" rtl="1"/>
            <a:r>
              <a:rPr lang="he-IL" sz="1400">
                <a:latin typeface="Segoe UI"/>
                <a:cs typeface="Segoe UI"/>
              </a:rPr>
              <a:t>פעולה על המסך</a:t>
            </a:r>
          </a:p>
          <a:p>
            <a:pPr algn="r" rtl="1"/>
            <a:r>
              <a:rPr lang="he-IL" sz="1400">
                <a:latin typeface="Segoe UI"/>
                <a:cs typeface="Segoe UI"/>
              </a:rPr>
              <a:t>זהו שקף המקור שנשמר לפי בקשתך. אל תקרא את המשפטים לא יעשה כלום או כבר ימצא כהבטחה כללית. קרא את ההבהרה למעלה. אין להדגים מספר חסר כאילו מובטח שהכלי ימציא אותו.</a:t>
            </a:r>
          </a:p>
          <a:p>
            <a:pPr algn="r" rtl="1"/>
            <a:r>
              <a:rPr lang="he-IL" sz="1400">
                <a:latin typeface="Segoe UI"/>
                <a:cs typeface="Segoe UI"/>
              </a:rPr>
              <a:t>הנחיה לקהל ותוצר</a:t>
            </a:r>
          </a:p>
          <a:p>
            <a:pPr algn="r" rtl="1"/>
            <a:r>
              <a:rPr lang="he-IL" sz="1400">
                <a:latin typeface="Segoe UI"/>
                <a:cs typeface="Segoe UI"/>
              </a:rPr>
              <a:t>שאל: איך נדע שהמספר מבוסס על הקובץ שלנו? חפש תשובה: מקור, התאמה לשאלה וחישוב.</a:t>
            </a:r>
          </a:p>
          <a:p>
            <a:pPr algn="r" rtl="1"/>
            <a:r>
              <a:rPr lang="he-IL" sz="1400">
                <a:latin typeface="Segoe UI"/>
                <a:cs typeface="Segoe UI"/>
              </a:rPr>
              <a:t>בדיקה, גיבוי ומעבר</a:t>
            </a:r>
          </a:p>
          <a:p>
            <a:pPr algn="r" rtl="1"/>
            <a:r>
              <a:rPr lang="he-IL" sz="1400">
                <a:latin typeface="Segoe UI"/>
                <a:cs typeface="Segoe UI"/>
              </a:rPr>
              <a:t>עבור מהקשר לסיפור ההתנסות.</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a:p>
            <a:pPr algn="r" rtl="1"/>
            <a:r>
              <a:rPr lang="he-IL" sz="1400">
                <a:latin typeface="Segoe UI"/>
                <a:cs typeface="Segoe UI"/>
              </a:rPr>
              <a:t>שימור מקור: מספור השקף המודפס הוא המספור הישן; בתצוגת המציג השתמש במספר הנוכחי. השקף נשמר ללא עריכת XML לפי בקשת בעל המצגת.</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21 מתוך 27 | סיפור ההתנסות</a:t>
            </a:r>
          </a:p>
          <a:p>
            <a:pPr algn="r" rtl="1"/>
            <a:r>
              <a:rPr lang="he-IL" sz="1400">
                <a:latin typeface="Segoe UI"/>
                <a:cs typeface="Segoe UI"/>
              </a:rPr>
              <a:t>תזמון למנחה בלבד: 01:18–01:21 | 3 דקות כולל תרגול</a:t>
            </a:r>
          </a:p>
          <a:p>
            <a:pPr algn="r" rtl="1"/>
            <a:r>
              <a:rPr lang="he-IL" sz="1400">
                <a:latin typeface="Segoe UI"/>
                <a:cs typeface="Segoe UI"/>
              </a:rPr>
              <a:t>להקראה</a:t>
            </a:r>
          </a:p>
          <a:p>
            <a:pPr algn="r" rtl="1"/>
            <a:r>
              <a:rPr lang="he-IL" sz="1400">
                <a:latin typeface="Segoe UI"/>
                <a:cs typeface="Segoe UI"/>
              </a:rPr>
              <a:t>אני רוצה להראות לכם גם מצב שנתקלנו בו בבדיקה קודמת: התחלנו לעבוד באקסל, ואז הופיעה הודעה שמבקשת לנסות שוב מאוחר יותר או לשדרג. המילה אתמול כאן שייכת לשקף מהבדיקה המקורית. זה לא אומר שזה מה שיקרה אצלכם. הלקח הוא להכין גיבוי ולשמור את העבודה, ולא לבנות את הסדנה על כך שהשירות תמיד יהיה זמין.</a:t>
            </a:r>
          </a:p>
          <a:p>
            <a:pPr algn="r" rtl="1"/>
            <a:r>
              <a:rPr lang="he-IL" sz="1400">
                <a:latin typeface="Segoe UI"/>
                <a:cs typeface="Segoe UI"/>
              </a:rPr>
              <a:t>פעולה על המסך</a:t>
            </a:r>
          </a:p>
          <a:p>
            <a:pPr algn="r" rtl="1"/>
            <a:r>
              <a:rPr lang="he-IL" sz="1400">
                <a:latin typeface="Segoe UI"/>
                <a:cs typeface="Segoe UI"/>
              </a:rPr>
              <a:t>השאר את שקף המקור ללא שינוי. הצג אותו כסיפור עבר. אין צורך להריץ סרטון חסימה אלא אם ההסבר אינו ברור.</a:t>
            </a:r>
          </a:p>
          <a:p>
            <a:pPr algn="r" rtl="1"/>
            <a:r>
              <a:rPr lang="he-IL" sz="1400">
                <a:latin typeface="Segoe UI"/>
                <a:cs typeface="Segoe UI"/>
              </a:rPr>
              <a:t>הנחיה לקהל ותוצר</a:t>
            </a:r>
          </a:p>
          <a:p>
            <a:pPr algn="r" rtl="1"/>
            <a:r>
              <a:rPr lang="he-IL" sz="1400">
                <a:latin typeface="Segoe UI"/>
                <a:cs typeface="Segoe UI"/>
              </a:rPr>
              <a:t>שאל מה עושים אם הכלי נעצר באמצע משימה. אפשר להמשיך לעבוד על הקובץ, לצמצם בקשה או לעבור לדוגמה שמורה.</a:t>
            </a:r>
          </a:p>
          <a:p>
            <a:pPr algn="r" rtl="1"/>
            <a:r>
              <a:rPr lang="he-IL" sz="1400">
                <a:latin typeface="Segoe UI"/>
                <a:cs typeface="Segoe UI"/>
              </a:rPr>
              <a:t>בדיקה, גיבוי ומעבר</a:t>
            </a:r>
          </a:p>
          <a:p>
            <a:pPr algn="r" rtl="1"/>
            <a:r>
              <a:rPr lang="he-IL" sz="1400">
                <a:latin typeface="Segoe UI"/>
                <a:cs typeface="Segoe UI"/>
              </a:rPr>
              <a:t>אל תאריך בסיפור מעבר לשלוש דקות.</a:t>
            </a:r>
          </a:p>
          <a:p>
            <a:pPr algn="r" rtl="1"/>
            <a:r>
              <a:rPr lang="he-IL" sz="1400">
                <a:latin typeface="Segoe UI"/>
                <a:cs typeface="Segoe UI"/>
              </a:rPr>
              <a:t>שימור מקור: מספור השקף המודפס הוא המספור הישן; בתצוגת המציג השתמש במספר הנוכחי. השקף נשמר ללא עריכת XML לפי בקשת בעל המצגת.</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22 מתוך 27 | מגבלות והיערכות</a:t>
            </a:r>
          </a:p>
          <a:p>
            <a:pPr algn="r" rtl="1"/>
            <a:r>
              <a:rPr lang="he-IL" sz="1400">
                <a:latin typeface="Segoe UI"/>
                <a:cs typeface="Segoe UI"/>
              </a:rPr>
              <a:t>תזמון למנחה בלבד: 01:21–01:25 | 4 דקות כולל תרגול</a:t>
            </a:r>
          </a:p>
          <a:p>
            <a:pPr algn="r" rtl="1"/>
            <a:r>
              <a:rPr lang="he-IL" sz="1400">
                <a:latin typeface="Segoe UI"/>
                <a:cs typeface="Segoe UI"/>
              </a:rPr>
              <a:t>להקראה</a:t>
            </a:r>
          </a:p>
          <a:p>
            <a:pPr algn="r" rtl="1"/>
            <a:r>
              <a:rPr lang="he-IL" sz="1400">
                <a:latin typeface="Segoe UI"/>
                <a:cs typeface="Segoe UI"/>
              </a:rPr>
              <a:t>המספר שמופיע כאן הוא תצפית מיום עבודה אחד בחשבון אחד. הוא אינו מכסה רשמית או התחייבות של Microsoft. גם שאר הפרטים בשקף מתארים את אותה סביבת בדיקה; אין לנו בסיס לקבוע שכל ביטול נספר כך אצל כל משתמש. מבחינתכם, אם מופיעה מגבלה, שומרים את התוצר, קוראים את ההודעה ופונים לאחראי בארגון כשצריך.</a:t>
            </a:r>
          </a:p>
          <a:p>
            <a:pPr algn="r" rtl="1"/>
            <a:r>
              <a:rPr lang="he-IL" sz="1400">
                <a:latin typeface="Segoe UI"/>
                <a:cs typeface="Segoe UI"/>
              </a:rPr>
              <a:t>פעולה על המסך</a:t>
            </a:r>
          </a:p>
          <a:p>
            <a:pPr algn="r" rtl="1"/>
            <a:r>
              <a:rPr lang="he-IL" sz="1400">
                <a:latin typeface="Segoe UI"/>
                <a:cs typeface="Segoe UI"/>
              </a:rPr>
              <a:t>שקף המקור מוגן משינויים. חובה למסגר את כל ארבע השורות כתיעוד היסטורי שלא אומת לכלל החשבונות. אין להסיק מחיווי ישן את כללי השירות של הלקוח. אין למכור שדרוג כהבטחה לשימוש בלתי מוגבל.</a:t>
            </a:r>
          </a:p>
          <a:p>
            <a:pPr algn="r" rtl="1"/>
            <a:r>
              <a:rPr lang="he-IL" sz="1400">
                <a:latin typeface="Segoe UI"/>
                <a:cs typeface="Segoe UI"/>
              </a:rPr>
              <a:t>הנחיה לקהל ותוצר</a:t>
            </a:r>
          </a:p>
          <a:p>
            <a:pPr algn="r" rtl="1"/>
            <a:r>
              <a:rPr lang="he-IL" sz="1400">
                <a:latin typeface="Segoe UI"/>
                <a:cs typeface="Segoe UI"/>
              </a:rPr>
              <a:t>הצג גיבוי: צילום במצגת או תוצאת ייחוס. בקש תשובה מהקהל: מה עדיף לבדוק לפני שמנסים שוב?</a:t>
            </a:r>
          </a:p>
          <a:p>
            <a:pPr algn="r" rtl="1"/>
            <a:r>
              <a:rPr lang="he-IL" sz="1400">
                <a:latin typeface="Segoe UI"/>
                <a:cs typeface="Segoe UI"/>
              </a:rPr>
              <a:t>בדיקה, גיבוי ומעבר</a:t>
            </a:r>
          </a:p>
          <a:p>
            <a:pPr algn="r" rtl="1"/>
            <a:r>
              <a:rPr lang="he-IL" sz="1400">
                <a:latin typeface="Segoe UI"/>
                <a:cs typeface="Segoe UI"/>
              </a:rPr>
              <a:t>סיים בדקה 85. עוברים לכללי העבודה ולבדיקה אנושית.</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a:p>
            <a:pPr algn="r" rtl="1"/>
            <a:r>
              <a:rPr lang="he-IL" sz="1400">
                <a:latin typeface="Segoe UI"/>
                <a:cs typeface="Segoe UI"/>
              </a:rPr>
              <a:t>שימור מקור: מספור השקף המודפס הוא המספור הישן; בתצוגת המציג השתמש במספר הנוכחי. השקף נשמר ללא עריכת XML לפי בקשת בעל המצגת.</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27 מתוך 27 | מקרים אישיים וסגירה</a:t>
            </a:r>
          </a:p>
          <a:p>
            <a:pPr algn="r" rtl="1"/>
            <a:r>
              <a:rPr lang="he-IL" sz="1400">
                <a:latin typeface="Segoe UI"/>
                <a:cs typeface="Segoe UI"/>
              </a:rPr>
              <a:t>תזמון למנחה בלבד: 01:40–02:00 | 20 דקות כולל תרגול</a:t>
            </a:r>
          </a:p>
          <a:p>
            <a:pPr algn="r" rtl="1"/>
            <a:r>
              <a:rPr lang="he-IL" sz="1400">
                <a:latin typeface="Segoe UI"/>
                <a:cs typeface="Segoe UI"/>
              </a:rPr>
              <a:t>להקראה</a:t>
            </a:r>
          </a:p>
          <a:p>
            <a:pPr algn="r" rtl="1"/>
            <a:r>
              <a:rPr lang="he-IL" sz="1400">
                <a:latin typeface="Segoe UI"/>
                <a:cs typeface="Segoe UI"/>
              </a:rPr>
              <a:t>עכשיו בחרו שלוש משימות חוזרות מהעבודה שלכם. מתוך השלוש בחרו אחת שאפשר לבצע כאן בעזרת מידע שמותר להשתמש בו. כתבו בקשה, בצעו ובדקו את התוצאה. בחרו גם משימה אחת למחר ורשמו מועד. אין צורך לסיים שלוש משימות עכשיו; צריך לצאת עם אחת שביצעתם ובדקתם.</a:t>
            </a:r>
          </a:p>
          <a:p>
            <a:pPr algn="r" rtl="1"/>
            <a:r>
              <a:rPr lang="he-IL" sz="1400">
                <a:latin typeface="Segoe UI"/>
                <a:cs typeface="Segoe UI"/>
              </a:rPr>
              <a:t>פעולה על המסך</a:t>
            </a:r>
          </a:p>
          <a:p>
            <a:pPr algn="r" rtl="1"/>
            <a:r>
              <a:rPr lang="he-IL" sz="1400">
                <a:latin typeface="Segoe UI"/>
                <a:cs typeface="Segoe UI"/>
              </a:rPr>
              <a:t>דקות 100–102: בחירה וניסוח. 102–112: עבודה שקטה וסיוע אישי. 112–116: שתי דוגמאות ובדיקת מקורות. 116–117: קביעת משימה למחר ותזכורת לעוד שבועיים. 117–120: שאלות אחרונות וסגירה. אל תדבר ברצף בזמן העבודה. תפריט: סיכום מסמך, טבלת משימות, חריגה באקסל, טיוטת מייל, מתווה מצגת, איתור מקור.</a:t>
            </a:r>
          </a:p>
          <a:p>
            <a:pPr algn="r" rtl="1"/>
            <a:r>
              <a:rPr lang="he-IL" sz="1400">
                <a:latin typeface="Segoe UI"/>
                <a:cs typeface="Segoe UI"/>
              </a:rPr>
              <a:t>הנחיה לקהל ותוצר</a:t>
            </a:r>
          </a:p>
          <a:p>
            <a:pPr algn="r" rtl="1"/>
            <a:r>
              <a:rPr lang="he-IL" sz="1400">
                <a:latin typeface="Segoe UI"/>
                <a:cs typeface="Segoe UI"/>
              </a:rPr>
              <a:t>תוצר סיום: שלוש משימות רשומות; תוצר אחד שנבדק; משימה למחר עם מועד; תזכורת לבדיקה בעוד שבועיים. אם אין מקרה מאושר, עובדים על קובץ הדמה. שאלה מורכבת נרשמת להמשך כדי לא לקחת את זמן החדר.</a:t>
            </a:r>
          </a:p>
          <a:p>
            <a:pPr algn="r" rtl="1"/>
            <a:r>
              <a:rPr lang="he-IL" sz="1400">
                <a:latin typeface="Segoe UI"/>
                <a:cs typeface="Segoe UI"/>
              </a:rPr>
              <a:t>בדיקה, גיבוי ומעבר</a:t>
            </a:r>
          </a:p>
          <a:p>
            <a:pPr algn="r" rtl="1"/>
            <a:r>
              <a:rPr lang="he-IL" sz="1400">
                <a:latin typeface="Segoe UI"/>
                <a:cs typeface="Segoe UI"/>
              </a:rPr>
              <a:t>משפט סיום להקראה: היום יצאתם עם תוצאה אחת שבדקתם ועם דרך לחזור עליה. מחר בחרו משימה קטנה נוספת, ולפני שאתם מעבירים את התוצאה, חזרו למקור. תודה, ובהצלחה. סיום בדקה 120.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 מתוך 27 | מטרות</a:t>
            </a:r>
          </a:p>
          <a:p>
            <a:pPr algn="r" rtl="1"/>
            <a:r>
              <a:rPr lang="he-IL" sz="1400">
                <a:latin typeface="Segoe UI"/>
                <a:cs typeface="Segoe UI"/>
              </a:rPr>
              <a:t>תזמון למנחה בלבד: 00:01–00:02 | 1 דקות כולל תרגול</a:t>
            </a:r>
          </a:p>
          <a:p>
            <a:pPr algn="r" rtl="1"/>
            <a:r>
              <a:rPr lang="he-IL" sz="1400">
                <a:latin typeface="Segoe UI"/>
                <a:cs typeface="Segoe UI"/>
              </a:rPr>
              <a:t>להקראה</a:t>
            </a:r>
          </a:p>
          <a:p>
            <a:pPr algn="r" rtl="1"/>
            <a:r>
              <a:rPr lang="he-IL" sz="1400">
                <a:latin typeface="Segoe UI"/>
                <a:cs typeface="Segoe UI"/>
              </a:rPr>
              <a:t>בסוף הסדנה תדעו לבחור משימה מתאימה, לתת לכלי את המידע שהוא צריך, ולבדוק את מה שהוא מחזיר. לא צריך לדעת לתכנת. נתחיל מדוגמאות משותפות, ובהמשך נעבוד על המשימות שלכם. הצלחה מבחינתי היא תוצר שימושי שבדקתם, ולא רק תשובה שנראית יפה.</a:t>
            </a:r>
          </a:p>
          <a:p>
            <a:pPr algn="r" rtl="1"/>
            <a:r>
              <a:rPr lang="he-IL" sz="1400">
                <a:latin typeface="Segoe UI"/>
                <a:cs typeface="Segoe UI"/>
              </a:rPr>
              <a:t>פעולה על המסך</a:t>
            </a:r>
          </a:p>
          <a:p>
            <a:pPr algn="r" rtl="1"/>
            <a:r>
              <a:rPr lang="he-IL" sz="1400">
                <a:latin typeface="Segoe UI"/>
                <a:cs typeface="Segoe UI"/>
              </a:rPr>
              <a:t>הצבע על עבודה על קבצים ועל בדיקה. אל תקרא את כל הרשימה מילה במילה.</a:t>
            </a:r>
          </a:p>
          <a:p>
            <a:pPr algn="r" rtl="1"/>
            <a:r>
              <a:rPr lang="he-IL" sz="1400">
                <a:latin typeface="Segoe UI"/>
                <a:cs typeface="Segoe UI"/>
              </a:rPr>
              <a:t>הנחיה לקהל ותוצר</a:t>
            </a:r>
          </a:p>
          <a:p>
            <a:pPr algn="r" rtl="1"/>
            <a:r>
              <a:rPr lang="he-IL" sz="1400">
                <a:latin typeface="Segoe UI"/>
                <a:cs typeface="Segoe UI"/>
              </a:rPr>
              <a:t>בקשו מהמשתתפים לחשוב על משימה חוזרת אחת שמבזבזת להם זמן.</a:t>
            </a:r>
          </a:p>
          <a:p>
            <a:pPr algn="r" rtl="1"/>
            <a:r>
              <a:rPr lang="he-IL" sz="1400">
                <a:latin typeface="Segoe UI"/>
                <a:cs typeface="Segoe UI"/>
              </a:rPr>
              <a:t>בדיקה, גיבוי ומעבר</a:t>
            </a:r>
          </a:p>
          <a:p>
            <a:pPr algn="r" rtl="1"/>
            <a:r>
              <a:rPr lang="he-IL" sz="1400">
                <a:latin typeface="Segoe UI"/>
                <a:cs typeface="Segoe UI"/>
              </a:rPr>
              <a:t>עכשיו נראה איך נגיע לשם.</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8 מתוך 27 | בקשה והתאמה לתפקיד</a:t>
            </a:r>
          </a:p>
          <a:p>
            <a:pPr algn="r" rtl="1"/>
            <a:r>
              <a:rPr lang="he-IL" sz="1400">
                <a:latin typeface="Segoe UI"/>
                <a:cs typeface="Segoe UI"/>
              </a:rPr>
              <a:t>תזמון למנחה בלבד: 00:13–00:20 | 7 דקות כולל תרגול</a:t>
            </a:r>
          </a:p>
          <a:p>
            <a:pPr algn="r" rtl="1"/>
            <a:r>
              <a:rPr lang="he-IL" sz="1400">
                <a:latin typeface="Segoe UI"/>
                <a:cs typeface="Segoe UI"/>
              </a:rPr>
              <a:t>להקראה</a:t>
            </a:r>
          </a:p>
          <a:p>
            <a:pPr algn="r" rtl="1"/>
            <a:r>
              <a:rPr lang="he-IL" sz="1400">
                <a:latin typeface="Segoe UI"/>
                <a:cs typeface="Segoe UI"/>
              </a:rPr>
              <a:t>התאמה מתחילה בהסבר קצר על העבודה שלכם. לא חייבים להיכנס להגדרות מיוחדות: אפשר לכתוב את התפקיד והכללים בתחילת השיחה. למשל, אני מנהל פרויקטים, אני צריך לזהות חריגות, ואל תניח מה גרם להן. עכשיו כל אחד יחליף את התפקיד ואת המטרה כך שיתאימו לעבודה שלו.</a:t>
            </a:r>
          </a:p>
          <a:p>
            <a:pPr algn="r" rtl="1"/>
            <a:r>
              <a:rPr lang="he-IL" sz="1400">
                <a:latin typeface="Segoe UI"/>
                <a:cs typeface="Segoe UI"/>
              </a:rPr>
              <a:t>פעולה על המסך</a:t>
            </a:r>
          </a:p>
          <a:p>
            <a:pPr algn="r" rtl="1"/>
            <a:r>
              <a:rPr lang="he-IL" sz="1400">
                <a:latin typeface="Segoe UI"/>
                <a:cs typeface="Segoe UI"/>
              </a:rPr>
              <a:t>הדבק את בקשת ההתאמה מספריית הבקשות. שתי דקות הסבר והדגמה, שלוש דקות כתיבה שקטה, שתי דקות להצגת שתי דוגמאות. בסוף צרף את מעקב-שעות-תרגול.xlsx לקראת האקסל.</a:t>
            </a:r>
          </a:p>
          <a:p>
            <a:pPr algn="r" rtl="1"/>
            <a:r>
              <a:rPr lang="he-IL" sz="1400">
                <a:latin typeface="Segoe UI"/>
                <a:cs typeface="Segoe UI"/>
              </a:rPr>
              <a:t>הנחיה לקהל ותוצר</a:t>
            </a:r>
          </a:p>
          <a:p>
            <a:pPr algn="r" rtl="1"/>
            <a:r>
              <a:rPr lang="he-IL" sz="1400">
                <a:latin typeface="Segoe UI"/>
                <a:cs typeface="Segoe UI"/>
              </a:rPr>
              <a:t>תוצר: כל אחד שומר בקשה עם תפקיד, מטרה, מקור, מבנה וכלל בדיקה. לשימוש עם אותו קובץ אפשר להשאיר את נוסח ההדגמה.</a:t>
            </a:r>
          </a:p>
          <a:p>
            <a:pPr algn="r" rtl="1"/>
            <a:r>
              <a:rPr lang="he-IL" sz="1400">
                <a:latin typeface="Segoe UI"/>
                <a:cs typeface="Segoe UI"/>
              </a:rPr>
              <a:t>בדיקה, גיבוי ומעבר</a:t>
            </a:r>
          </a:p>
          <a:p>
            <a:pPr algn="r" rtl="1"/>
            <a:r>
              <a:rPr lang="he-IL" sz="1400">
                <a:latin typeface="Segoe UI"/>
                <a:cs typeface="Segoe UI"/>
              </a:rPr>
              <a:t>בדוק שיש מקור מוגדר ושהבקשה אינה מבקשת לנחש. זמן מצטבר 20 דקות.</a:t>
            </a:r>
          </a:p>
          <a:p>
            <a:pPr algn="r" rtl="1"/>
            <a:r>
              <a:rPr lang="he-IL" sz="1400">
                <a:latin typeface="Segoe UI"/>
                <a:cs typeface="Segoe UI"/>
              </a:rPr>
              <a:t>בקשה להעתקה</a:t>
            </a:r>
          </a:p>
          <a:p>
            <a:pPr algn="r" rtl="1"/>
            <a:r>
              <a:rPr lang="he-IL" sz="1400">
                <a:latin typeface="Segoe UI"/>
                <a:cs typeface="Segoe UI"/>
              </a:rPr>
              <a:t>אני עובד בניהול פרויקטים. ענה בעברית מקצועית ותמציתית. הסתמך רק על הקובץ המצורף. אל תניח מה גרם לחריגה ואל תסיק רווחיות. כשמידע חסר, ציין שלא צוין. הצג את המקור לכל מסקנה.</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9 מתוך 27 | אקסל יכולות ותנאים</a:t>
            </a:r>
          </a:p>
          <a:p>
            <a:pPr algn="r" rtl="1"/>
            <a:r>
              <a:rPr lang="he-IL" sz="1400">
                <a:latin typeface="Segoe UI"/>
                <a:cs typeface="Segoe UI"/>
              </a:rPr>
              <a:t>תזמון למנחה בלבד: 00:20–00:22 | 2 דקות כולל תרגול</a:t>
            </a:r>
          </a:p>
          <a:p>
            <a:pPr algn="r" rtl="1"/>
            <a:r>
              <a:rPr lang="he-IL" sz="1400">
                <a:latin typeface="Segoe UI"/>
                <a:cs typeface="Segoe UI"/>
              </a:rPr>
              <a:t>להקראה</a:t>
            </a:r>
          </a:p>
          <a:p>
            <a:pPr algn="r" rtl="1"/>
            <a:r>
              <a:rPr lang="he-IL" sz="1400">
                <a:latin typeface="Segoe UI"/>
                <a:cs typeface="Segoe UI"/>
              </a:rPr>
              <a:t>באקסל נעשה משימה אחת: נזהה את החריגות בתקציב שעות ונבדוק את החישוב. אפשר לקבל עזרה בחישובים ובניתוח, אבל הנתונים צריכים להיות ברורים. אצל מי שפתוחה עריכה בתוך אקסל נוסיף עמודה. בצ׳אט נקבל טבלת תוצאות ונבדוק אותה מול הקובץ.</a:t>
            </a:r>
          </a:p>
          <a:p>
            <a:pPr algn="r" rtl="1"/>
            <a:r>
              <a:rPr lang="he-IL" sz="1400">
                <a:latin typeface="Segoe UI"/>
                <a:cs typeface="Segoe UI"/>
              </a:rPr>
              <a:t>פעולה על המסך</a:t>
            </a:r>
          </a:p>
          <a:p>
            <a:pPr algn="r" rtl="1"/>
            <a:r>
              <a:rPr lang="he-IL" sz="1400">
                <a:latin typeface="Segoe UI"/>
                <a:cs typeface="Segoe UI"/>
              </a:rPr>
              <a:t>פתח את מעקב-שעות-תרגול.xlsx. הגיליון מעקב שעות, הטבלה TrainingHours. שש רשומות. עבור על כותרות העמודות. אל תפתח דמו של טבלת ציר או תוכנית קיבולת.</a:t>
            </a:r>
          </a:p>
          <a:p>
            <a:pPr algn="r" rtl="1"/>
            <a:r>
              <a:rPr lang="he-IL" sz="1400">
                <a:latin typeface="Segoe UI"/>
                <a:cs typeface="Segoe UI"/>
              </a:rPr>
              <a:t>הנחיה לקהל ותוצר</a:t>
            </a:r>
          </a:p>
          <a:p>
            <a:pPr algn="r" rtl="1"/>
            <a:r>
              <a:rPr lang="he-IL" sz="1400">
                <a:latin typeface="Segoe UI"/>
                <a:cs typeface="Segoe UI"/>
              </a:rPr>
              <a:t>כולם פותחים את אותו קובץ. שאלה: הפרש חיובי מסמן חריגה או חיסכון?</a:t>
            </a:r>
          </a:p>
          <a:p>
            <a:pPr algn="r" rtl="1"/>
            <a:r>
              <a:rPr lang="he-IL" sz="1400">
                <a:latin typeface="Segoe UI"/>
                <a:cs typeface="Segoe UI"/>
              </a:rPr>
              <a:t>בדיקה, גיבוי ומעבר</a:t>
            </a:r>
          </a:p>
          <a:p>
            <a:pPr algn="r" rtl="1"/>
            <a:r>
              <a:rPr lang="he-IL" sz="1400">
                <a:latin typeface="Segoe UI"/>
                <a:cs typeface="Segoe UI"/>
              </a:rPr>
              <a:t>זה חלק של עשר דקות כולל השקף הבא.</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23 מתוך 27 | בדיקה ואחריות</a:t>
            </a:r>
          </a:p>
          <a:p>
            <a:pPr algn="r" rtl="1"/>
            <a:r>
              <a:rPr lang="he-IL" sz="1400">
                <a:latin typeface="Segoe UI"/>
                <a:cs typeface="Segoe UI"/>
              </a:rPr>
              <a:t>תזמון למנחה בלבד: 01:25–01:30 | 5 דקות כולל תרגול</a:t>
            </a:r>
          </a:p>
          <a:p>
            <a:pPr algn="r" rtl="1"/>
            <a:r>
              <a:rPr lang="he-IL" sz="1400">
                <a:latin typeface="Segoe UI"/>
                <a:cs typeface="Segoe UI"/>
              </a:rPr>
              <a:t>להקראה</a:t>
            </a:r>
          </a:p>
          <a:p>
            <a:pPr algn="r" rtl="1"/>
            <a:r>
              <a:rPr lang="he-IL" sz="1400">
                <a:latin typeface="Segoe UI"/>
                <a:cs typeface="Segoe UI"/>
              </a:rPr>
              <a:t>נחזור לארבעת כללי העבודה: מטרה, הקשר, מבנה ובדיקה. הבדיקה היא חלק מהמשימה. לפני שמעבירים תוצר, פותחים מקור ובודקים מספר, שם, תאריך והתחייבות. משתמשים רק במידע שמותר לנו לספק. האחריות על מה שיוצא מאיתנו נשארת שלנו.</a:t>
            </a:r>
          </a:p>
          <a:p>
            <a:pPr algn="r" rtl="1"/>
            <a:r>
              <a:rPr lang="he-IL" sz="1400">
                <a:latin typeface="Segoe UI"/>
                <a:cs typeface="Segoe UI"/>
              </a:rPr>
              <a:t>פעולה על המסך</a:t>
            </a:r>
          </a:p>
          <a:p>
            <a:pPr algn="r" rtl="1"/>
            <a:r>
              <a:rPr lang="he-IL" sz="1400">
                <a:latin typeface="Segoe UI"/>
                <a:cs typeface="Segoe UI"/>
              </a:rPr>
              <a:t>דקה וחצי הסבר. שתי דקות: בזוגות בדקו תוצאה מהתרגול. דקה וחצי לשתי דוגמאות. שאל על נתון חסר ועל הבחנה בין יעד להישג.</a:t>
            </a:r>
          </a:p>
          <a:p>
            <a:pPr algn="r" rtl="1"/>
            <a:r>
              <a:rPr lang="he-IL" sz="1400">
                <a:latin typeface="Segoe UI"/>
                <a:cs typeface="Segoe UI"/>
              </a:rPr>
              <a:t>הנחיה לקהל ותוצר</a:t>
            </a:r>
          </a:p>
          <a:p>
            <a:pPr algn="r" rtl="1"/>
            <a:r>
              <a:rPr lang="he-IL" sz="1400">
                <a:latin typeface="Segoe UI"/>
                <a:cs typeface="Segoe UI"/>
              </a:rPr>
              <a:t>כל זוג מצביע על תיקון אחד ועל המקור שביסס אותו. לא להסתפק נראה לי בסדר.</a:t>
            </a:r>
          </a:p>
          <a:p>
            <a:pPr algn="r" rtl="1"/>
            <a:r>
              <a:rPr lang="he-IL" sz="1400">
                <a:latin typeface="Segoe UI"/>
                <a:cs typeface="Segoe UI"/>
              </a:rPr>
              <a:t>בדיקה, גיבוי ומעבר</a:t>
            </a:r>
          </a:p>
          <a:p>
            <a:pPr algn="r" rtl="1"/>
            <a:r>
              <a:rPr lang="he-IL" sz="1400">
                <a:latin typeface="Segoe UI"/>
                <a:cs typeface="Segoe UI"/>
              </a:rPr>
              <a:t>אם אין תיקון: מציינים איזה פרט בדקו ואיך. זמן מצטבר 90 דקות.</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3 מתוך 27 | מסלול</a:t>
            </a:r>
          </a:p>
          <a:p>
            <a:pPr algn="r" rtl="1"/>
            <a:r>
              <a:rPr lang="he-IL" sz="1400">
                <a:latin typeface="Segoe UI"/>
                <a:cs typeface="Segoe UI"/>
              </a:rPr>
              <a:t>תזמון למנחה בלבד: 00:02–00:03 | 1 דקות כולל תרגול</a:t>
            </a:r>
          </a:p>
          <a:p>
            <a:pPr algn="r" rtl="1"/>
            <a:r>
              <a:rPr lang="he-IL" sz="1400">
                <a:latin typeface="Segoe UI"/>
                <a:cs typeface="Segoe UI"/>
              </a:rPr>
              <a:t>להקראה</a:t>
            </a:r>
          </a:p>
          <a:p>
            <a:pPr algn="r" rtl="1"/>
            <a:r>
              <a:rPr lang="he-IL" sz="1400">
                <a:latin typeface="Segoe UI"/>
                <a:cs typeface="Segoe UI"/>
              </a:rPr>
              <a:t>נכיר את הכלי, ננסח בקשה ראשונה, ואז נעבור כלי אחר כלי. בכל חלק אראה מה אפשר לעשות, נבצע דוגמה ותנסו בעצמכם. נשאיר זמן מסודר למקרים שהבאתם. אם יכולת מסוימת לא פתוחה אצלכם, נתרגל את אותה משימה בעזרת הקובץ בצ׳אט.</a:t>
            </a:r>
          </a:p>
          <a:p>
            <a:pPr algn="r" rtl="1"/>
            <a:r>
              <a:rPr lang="he-IL" sz="1400">
                <a:latin typeface="Segoe UI"/>
                <a:cs typeface="Segoe UI"/>
              </a:rPr>
              <a:t>פעולה על המסך</a:t>
            </a:r>
          </a:p>
          <a:p>
            <a:pPr algn="r" rtl="1"/>
            <a:r>
              <a:rPr lang="he-IL" sz="1400">
                <a:latin typeface="Segoe UI"/>
                <a:cs typeface="Segoe UI"/>
              </a:rPr>
              <a:t>הזמנים מופיעים בהערות ובמדריך בלבד. עד עשר דקות לכל כלי. אל תעביר את כל שקפי היכולות לפני התרגולים.</a:t>
            </a:r>
          </a:p>
          <a:p>
            <a:pPr algn="r" rtl="1"/>
            <a:r>
              <a:rPr lang="he-IL" sz="1400">
                <a:latin typeface="Segoe UI"/>
                <a:cs typeface="Segoe UI"/>
              </a:rPr>
              <a:t>הנחיה לקהל ותוצר</a:t>
            </a:r>
          </a:p>
          <a:p>
            <a:pPr algn="r" rtl="1"/>
            <a:r>
              <a:rPr lang="he-IL" sz="1400">
                <a:latin typeface="Segoe UI"/>
                <a:cs typeface="Segoe UI"/>
              </a:rPr>
              <a:t>וודא שלכולם ברור שהמחשב יהיה פתוח ושיש זמן עבודה שקט.</a:t>
            </a:r>
          </a:p>
          <a:p>
            <a:pPr algn="r" rtl="1"/>
            <a:r>
              <a:rPr lang="he-IL" sz="1400">
                <a:latin typeface="Segoe UI"/>
                <a:cs typeface="Segoe UI"/>
              </a:rPr>
              <a:t>בדיקה, גיבוי ומעבר</a:t>
            </a:r>
          </a:p>
          <a:p>
            <a:pPr algn="r" rtl="1"/>
            <a:r>
              <a:rPr lang="he-IL" sz="1400">
                <a:latin typeface="Segoe UI"/>
                <a:cs typeface="Segoe UI"/>
              </a:rPr>
              <a:t>לפני שנוגעים בכלי, נוודא שהכול מוכן.</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4 מתוך 27 | בדיקת מוכנות</a:t>
            </a:r>
          </a:p>
          <a:p>
            <a:pPr algn="r" rtl="1"/>
            <a:r>
              <a:rPr lang="he-IL" sz="1400">
                <a:latin typeface="Segoe UI"/>
                <a:cs typeface="Segoe UI"/>
              </a:rPr>
              <a:t>תזמון למנחה בלבד: 00:03–00:06 | 3 דקות כולל תרגול</a:t>
            </a:r>
          </a:p>
          <a:p>
            <a:pPr algn="r" rtl="1"/>
            <a:r>
              <a:rPr lang="he-IL" sz="1400">
                <a:latin typeface="Segoe UI"/>
                <a:cs typeface="Segoe UI"/>
              </a:rPr>
              <a:t>להקראה</a:t>
            </a:r>
          </a:p>
          <a:p>
            <a:pPr algn="r" rtl="1"/>
            <a:r>
              <a:rPr lang="he-IL" sz="1400">
                <a:latin typeface="Segoe UI"/>
                <a:cs typeface="Segoe UI"/>
              </a:rPr>
              <a:t>פתחו את החשבון הארגוני ואת תיקיית התרגול. בדקו שהשם או כתובת החשבון בפינה הם של העבודה. היום נשתמש בקבצי דמה. אל תעלו מידע רגיש או קובץ מהעבודה בלי אישור מתאים. מי שאין לו Copilot בתוך האפליקציה יוכל לעבוד בצ׳אט עם הקובץ, או לצפות בהדגמה ולבדוק את התוצאה איתנו.</a:t>
            </a:r>
          </a:p>
          <a:p>
            <a:pPr algn="r" rtl="1"/>
            <a:r>
              <a:rPr lang="he-IL" sz="1400">
                <a:latin typeface="Segoe UI"/>
                <a:cs typeface="Segoe UI"/>
              </a:rPr>
              <a:t>פעולה על המסך</a:t>
            </a:r>
          </a:p>
          <a:p>
            <a:pPr algn="r" rtl="1"/>
            <a:r>
              <a:rPr lang="he-IL" sz="1400">
                <a:latin typeface="Segoe UI"/>
                <a:cs typeface="Segoe UI"/>
              </a:rPr>
              <a:t>פתח m365copilot.com בחשבון הארגוני ואת תיקיית toolkit. פתח מראש את שלושת מסמכי Word ואת האקסל. בדוק צירוף קובץ קטן. למשתתף תקוע הקצה זוג; אל תנהל טיפול ברישוי מול כל החדר.</a:t>
            </a:r>
          </a:p>
          <a:p>
            <a:pPr algn="r" rtl="1"/>
            <a:r>
              <a:rPr lang="he-IL" sz="1400">
                <a:latin typeface="Segoe UI"/>
                <a:cs typeface="Segoe UI"/>
              </a:rPr>
              <a:t>הנחיה לקהל ותוצר</a:t>
            </a:r>
          </a:p>
          <a:p>
            <a:pPr algn="r" rtl="1"/>
            <a:r>
              <a:rPr lang="he-IL" sz="1400">
                <a:latin typeface="Segoe UI"/>
                <a:cs typeface="Segoe UI"/>
              </a:rPr>
              <a:t>כולם פותחים קובץ אחד. שאל מי עדיין לא רואה אותו.</a:t>
            </a:r>
          </a:p>
          <a:p>
            <a:pPr algn="r" rtl="1"/>
            <a:r>
              <a:rPr lang="he-IL" sz="1400">
                <a:latin typeface="Segoe UI"/>
                <a:cs typeface="Segoe UI"/>
              </a:rPr>
              <a:t>בדיקה, גיבוי ומעבר</a:t>
            </a:r>
          </a:p>
          <a:p>
            <a:pPr algn="r" rtl="1"/>
            <a:r>
              <a:rPr lang="he-IL" sz="1400">
                <a:latin typeface="Segoe UI"/>
                <a:cs typeface="Segoe UI"/>
              </a:rPr>
              <a:t>גיבוי: תוצרי הציפייה במדריך והצילומים במצגת. זמן פתרון לתקלה עד דקה.</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5 מתוך 27 | מהו Copilot</a:t>
            </a:r>
          </a:p>
          <a:p>
            <a:pPr algn="r" rtl="1"/>
            <a:r>
              <a:rPr lang="he-IL" sz="1400">
                <a:latin typeface="Segoe UI"/>
                <a:cs typeface="Segoe UI"/>
              </a:rPr>
              <a:t>תזמון למנחה בלבד: 00:06–00:08 | 2 דקות כולל תרגול</a:t>
            </a:r>
          </a:p>
          <a:p>
            <a:pPr algn="r" rtl="1"/>
            <a:r>
              <a:rPr lang="he-IL" sz="1400">
                <a:latin typeface="Segoe UI"/>
                <a:cs typeface="Segoe UI"/>
              </a:rPr>
              <a:t>להקראה</a:t>
            </a:r>
          </a:p>
          <a:p>
            <a:pPr algn="r" rtl="1"/>
            <a:r>
              <a:rPr lang="he-IL" sz="1400">
                <a:latin typeface="Segoe UI"/>
                <a:cs typeface="Segoe UI"/>
              </a:rPr>
              <a:t>אפשר לחשוב על Copilot כעוזר שמקבל בקשה בשפה רגילה. הוא יכול לעזור בניסוח, בסיכום ובניתוח, אבל הוא צריך מידע מתאים למשימה. כשאני שואל על מספר פנימי, עליי לתת לו את הקובץ או לוודא שיש לו גישה למקור. גם תשובה בטוחה יכולה להיות שגויה. לכן נבקש מקור ונבדוק אותו.</a:t>
            </a:r>
          </a:p>
          <a:p>
            <a:pPr algn="r" rtl="1"/>
            <a:r>
              <a:rPr lang="he-IL" sz="1400">
                <a:latin typeface="Segoe UI"/>
                <a:cs typeface="Segoe UI"/>
              </a:rPr>
              <a:t>פעולה על המסך</a:t>
            </a:r>
          </a:p>
          <a:p>
            <a:pPr algn="r" rtl="1"/>
            <a:r>
              <a:rPr lang="he-IL" sz="1400">
                <a:latin typeface="Segoe UI"/>
                <a:cs typeface="Segoe UI"/>
              </a:rPr>
              <a:t>הדגם בשדה ההקלדה בקשה כללית קצרה בלי לשלוח כמה ניסיונות. הסבר את ההבדל בין שאלה כללית לבין שאלה על הנתונים שלנו.</a:t>
            </a:r>
          </a:p>
          <a:p>
            <a:pPr algn="r" rtl="1"/>
            <a:r>
              <a:rPr lang="he-IL" sz="1400">
                <a:latin typeface="Segoe UI"/>
                <a:cs typeface="Segoe UI"/>
              </a:rPr>
              <a:t>הנחיה לקהל ותוצר</a:t>
            </a:r>
          </a:p>
          <a:p>
            <a:pPr algn="r" rtl="1"/>
            <a:r>
              <a:rPr lang="he-IL" sz="1400">
                <a:latin typeface="Segoe UI"/>
                <a:cs typeface="Segoe UI"/>
              </a:rPr>
              <a:t>שאל: אם אבקש כמה שעות עבד עובד אצלנו, מה הכלי צריך ממני?</a:t>
            </a:r>
          </a:p>
          <a:p>
            <a:pPr algn="r" rtl="1"/>
            <a:r>
              <a:rPr lang="he-IL" sz="1400">
                <a:latin typeface="Segoe UI"/>
                <a:cs typeface="Segoe UI"/>
              </a:rPr>
              <a:t>בדיקה, גיבוי ומעבר</a:t>
            </a:r>
          </a:p>
          <a:p>
            <a:pPr algn="r" rtl="1"/>
            <a:r>
              <a:rPr lang="he-IL" sz="1400">
                <a:latin typeface="Segoe UI"/>
                <a:cs typeface="Segoe UI"/>
              </a:rPr>
              <a:t>אל תבטיח שהכלי לעולם אינו ממציא. עבור לזמינות.</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7 מתוך 27 | שיטה קצרה עם דוגמה</a:t>
            </a:r>
          </a:p>
          <a:p>
            <a:pPr algn="r" rtl="1"/>
            <a:r>
              <a:rPr lang="he-IL" sz="1400">
                <a:latin typeface="Segoe UI"/>
                <a:cs typeface="Segoe UI"/>
              </a:rPr>
              <a:t>תזמון למנחה בלבד: 00:10–00:13 | 3 דקות כולל תרגול</a:t>
            </a:r>
          </a:p>
          <a:p>
            <a:pPr algn="r" rtl="1"/>
            <a:r>
              <a:rPr lang="he-IL" sz="1400">
                <a:latin typeface="Segoe UI"/>
                <a:cs typeface="Segoe UI"/>
              </a:rPr>
              <a:t>להקראה</a:t>
            </a:r>
          </a:p>
          <a:p>
            <a:pPr algn="r" rtl="1"/>
            <a:r>
              <a:rPr lang="he-IL" sz="1400">
                <a:latin typeface="Segoe UI"/>
                <a:cs typeface="Segoe UI"/>
              </a:rPr>
              <a:t>במקום לומר תנתח לי את האקסל, נאמר מה אנחנו צריכים להבין, על סמך איזה קובץ ובאיזה מבנה. אחר כך נבדוק את התשובה. לדוגמה: מצא את שתי החריגות הגדולות בתקציב השעות והראה את החישוב. זו בקשה שאפשר גם לבדוק, כי יש לה מקור ותוצאה מוגדרת.</a:t>
            </a:r>
          </a:p>
          <a:p>
            <a:pPr algn="r" rtl="1"/>
            <a:r>
              <a:rPr lang="he-IL" sz="1400">
                <a:latin typeface="Segoe UI"/>
                <a:cs typeface="Segoe UI"/>
              </a:rPr>
              <a:t>פעולה על המסך</a:t>
            </a:r>
          </a:p>
          <a:p>
            <a:pPr algn="r" rtl="1"/>
            <a:r>
              <a:rPr lang="he-IL" sz="1400">
                <a:latin typeface="Segoe UI"/>
                <a:cs typeface="Segoe UI"/>
              </a:rPr>
              <a:t>פתח את האקסל הסינתטי. הצבע על תקציב שעות ועל שעות בפועל. אל תשלח עדיין את בקשת האקסל המלאה.</a:t>
            </a:r>
          </a:p>
          <a:p>
            <a:pPr algn="r" rtl="1"/>
            <a:r>
              <a:rPr lang="he-IL" sz="1400">
                <a:latin typeface="Segoe UI"/>
                <a:cs typeface="Segoe UI"/>
              </a:rPr>
              <a:t>הנחיה לקהל ותוצר</a:t>
            </a:r>
          </a:p>
          <a:p>
            <a:pPr algn="r" rtl="1"/>
            <a:r>
              <a:rPr lang="he-IL" sz="1400">
                <a:latin typeface="Segoe UI"/>
                <a:cs typeface="Segoe UI"/>
              </a:rPr>
              <a:t>בקש מהקהל לשפר בעל פה את הבקשה תסכם לי: למי הסיכום, כמה ארוך, ואיזה מקור?</a:t>
            </a:r>
          </a:p>
          <a:p>
            <a:pPr algn="r" rtl="1"/>
            <a:r>
              <a:rPr lang="he-IL" sz="1400">
                <a:latin typeface="Segoe UI"/>
                <a:cs typeface="Segoe UI"/>
              </a:rPr>
              <a:t>בדיקה, גיבוי ומעבר</a:t>
            </a:r>
          </a:p>
          <a:p>
            <a:pPr algn="r" rtl="1"/>
            <a:r>
              <a:rPr lang="he-IL" sz="1400">
                <a:latin typeface="Segoe UI"/>
                <a:cs typeface="Segoe UI"/>
              </a:rPr>
              <a:t>שמור את השיטה קצרה. מיד עוברים לכתיבה שלהם.</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10 מתוך 27 | אקסל הדגמה ותרגול</a:t>
            </a:r>
          </a:p>
          <a:p>
            <a:pPr algn="r" rtl="1"/>
            <a:r>
              <a:rPr lang="he-IL" sz="1400">
                <a:latin typeface="Segoe UI"/>
                <a:cs typeface="Segoe UI"/>
              </a:rPr>
              <a:t>תזמון למנחה בלבד: 00:22–00:30 | 8 דקות כולל תרגול</a:t>
            </a:r>
          </a:p>
          <a:p>
            <a:pPr algn="r" rtl="1"/>
            <a:r>
              <a:rPr lang="he-IL" sz="1400">
                <a:latin typeface="Segoe UI"/>
                <a:cs typeface="Segoe UI"/>
              </a:rPr>
              <a:t>להקראה</a:t>
            </a:r>
          </a:p>
          <a:p>
            <a:pPr algn="r" rtl="1"/>
            <a:r>
              <a:rPr lang="he-IL" sz="1400">
                <a:latin typeface="Segoe UI"/>
                <a:cs typeface="Segoe UI"/>
              </a:rPr>
              <a:t>אני מבקש הפרש בין השעות בפועל לתקציב. עכשיו נבדוק ידנית שורה אחת: בפרויקט פורטל שירות נרשמו שמונים שעות מול שישים מתוכננות, כלומר עשרים שעות חריגה. נבקש את שתי החריגות הגדולות, אבל לא נאפשר לכלי להמציא את הסיבה. עכשיו תורכם לבצע את אותה בדיקה על התוצאה שלכם.</a:t>
            </a:r>
          </a:p>
          <a:p>
            <a:pPr algn="r" rtl="1"/>
            <a:r>
              <a:rPr lang="he-IL" sz="1400">
                <a:latin typeface="Segoe UI"/>
                <a:cs typeface="Segoe UI"/>
              </a:rPr>
              <a:t>פעולה על המסך</a:t>
            </a:r>
          </a:p>
          <a:p>
            <a:pPr algn="r" rtl="1"/>
            <a:r>
              <a:rPr lang="he-IL" sz="1400">
                <a:latin typeface="Segoe UI"/>
                <a:cs typeface="Segoe UI"/>
              </a:rPr>
              <a:t>דקות 0–3: שלח בקשת excel. דקות 3–7: הקהל מבצע ובודק. דקה אחרונה: סיכום. תוצאת ייחוס: פורטל שירות +20, מעבר מסמכים +15. סך תקציב 300, בפועל 338, הפרש 38. דנה 155 שעות. באחוזים מעבר מסמכים 37.5% גבוה מפורטל שירות 33.3%.</a:t>
            </a:r>
          </a:p>
          <a:p>
            <a:pPr algn="r" rtl="1"/>
            <a:r>
              <a:rPr lang="he-IL" sz="1400">
                <a:latin typeface="Segoe UI"/>
                <a:cs typeface="Segoe UI"/>
              </a:rPr>
              <a:t>הנחיה לקהל ותוצר</a:t>
            </a:r>
          </a:p>
          <a:p>
            <a:pPr algn="r" rtl="1"/>
            <a:r>
              <a:rPr lang="he-IL" sz="1400">
                <a:latin typeface="Segoe UI"/>
                <a:cs typeface="Segoe UI"/>
              </a:rPr>
              <a:t>שמור עותק בשם תרגול-שלי. חשב ידנית 80 פחות 60. בקש תיקון אם חסרה שורה או שהכלי בלבל שעות ואחוזים.</a:t>
            </a:r>
          </a:p>
          <a:p>
            <a:pPr algn="r" rtl="1"/>
            <a:r>
              <a:rPr lang="he-IL" sz="1400">
                <a:latin typeface="Segoe UI"/>
                <a:cs typeface="Segoe UI"/>
              </a:rPr>
              <a:t>בדיקה, גיבוי ומעבר</a:t>
            </a:r>
          </a:p>
          <a:p>
            <a:pPr algn="r" rtl="1"/>
            <a:r>
              <a:rPr lang="he-IL" sz="1400">
                <a:latin typeface="Segoe UI"/>
                <a:cs typeface="Segoe UI"/>
              </a:rPr>
              <a:t>אם הכפתור חסר: צרף בצ׳אט וקבל טבלה. אם ההמתנה עולה על 45 שניות: הראה את תוצאת הייחוס. אין ניסיון שלישי. מסיימים בדקה 30.</a:t>
            </a:r>
          </a:p>
          <a:p>
            <a:pPr algn="r" rtl="1"/>
            <a:r>
              <a:rPr lang="he-IL" sz="1400">
                <a:latin typeface="Segoe UI"/>
                <a:cs typeface="Segoe UI"/>
              </a:rPr>
              <a:t>בקשה להעתקה</a:t>
            </a:r>
          </a:p>
          <a:p>
            <a:pPr algn="r" rtl="1"/>
            <a:r>
              <a:rPr lang="he-IL" sz="1400">
                <a:latin typeface="Segoe UI"/>
                <a:cs typeface="Segoe UI"/>
              </a:rPr>
              <a:t>בקובץ מעקב-שעות-תרגול.xlsx, בגיליון מעקב שעות ובטבלת TrainingHours, הוסף עמודת הפרש שעות: שעות בפועל פחות תקציב שעות. ציין את שתי החריגות החיוביות הגדולות ביותר ואת העובד שביצע הכי הרבה שעות בסך הכול. הצג את החישוב, ללא הנחות על סיבות החריגה.</a:t>
            </a:r>
          </a:p>
          <a:p>
            <a:pPr algn="r" rtl="1"/>
            <a:r>
              <a:rPr lang="he-IL" sz="1400">
                <a:latin typeface="Segoe UI"/>
                <a:cs typeface="Segoe UI"/>
              </a:rPr>
              <a:t>בקשה להעתקה</a:t>
            </a:r>
          </a:p>
          <a:p>
            <a:pPr algn="r" rtl="1"/>
            <a:r>
              <a:rPr lang="he-IL" sz="1400">
                <a:latin typeface="Segoe UI"/>
                <a:cs typeface="Segoe UI"/>
              </a:rPr>
              <a:t>בדוק שוב את כל שש השורות. הפרד בין חריגה בשעות לבין חריגה באחוזים. הצג לכל פרויקט תקציב, בפועל והפרש. אם שינית מסקנה, הסבר למה.</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11 מתוך 27 | וורד יכולות ותנאים</a:t>
            </a:r>
          </a:p>
          <a:p>
            <a:pPr algn="r" rtl="1"/>
            <a:r>
              <a:rPr lang="he-IL" sz="1400">
                <a:latin typeface="Segoe UI"/>
                <a:cs typeface="Segoe UI"/>
              </a:rPr>
              <a:t>תזמון למנחה בלבד: 00:30–00:32 | 2 דקות כולל תרגול</a:t>
            </a:r>
          </a:p>
          <a:p>
            <a:pPr algn="r" rtl="1"/>
            <a:r>
              <a:rPr lang="he-IL" sz="1400">
                <a:latin typeface="Segoe UI"/>
                <a:cs typeface="Segoe UI"/>
              </a:rPr>
              <a:t>להקראה</a:t>
            </a:r>
          </a:p>
          <a:p>
            <a:pPr algn="r" rtl="1"/>
            <a:r>
              <a:rPr lang="he-IL" sz="1400">
                <a:latin typeface="Segoe UI"/>
                <a:cs typeface="Segoe UI"/>
              </a:rPr>
              <a:t>נעבור ממספרים למסמך. נשתמש בפרוטוקול קצר ונוציא ממנו סיכום וטבלת משימות. הדבר החשוב הוא להפריד בין מה שהוחלט לבין מה שרק הוצע. אם לא נקבע מועד, נרצה לראות לא צוין, ולא תאריך שהכלי בחר בעצמו.</a:t>
            </a:r>
          </a:p>
          <a:p>
            <a:pPr algn="r" rtl="1"/>
            <a:r>
              <a:rPr lang="he-IL" sz="1400">
                <a:latin typeface="Segoe UI"/>
                <a:cs typeface="Segoe UI"/>
              </a:rPr>
              <a:t>פעולה על המסך</a:t>
            </a:r>
          </a:p>
          <a:p>
            <a:pPr algn="r" rtl="1"/>
            <a:r>
              <a:rPr lang="he-IL" sz="1400">
                <a:latin typeface="Segoe UI"/>
                <a:cs typeface="Segoe UI"/>
              </a:rPr>
              <a:t>פתח פרוטוקול-פגישה.docx. הסבר שזה חומר דמה משותף. הצבע על החלטה, הצעה ושאלה פתוחה.</a:t>
            </a:r>
          </a:p>
          <a:p>
            <a:pPr algn="r" rtl="1"/>
            <a:r>
              <a:rPr lang="he-IL" sz="1400">
                <a:latin typeface="Segoe UI"/>
                <a:cs typeface="Segoe UI"/>
              </a:rPr>
              <a:t>הנחיה לקהל ותוצר</a:t>
            </a:r>
          </a:p>
          <a:p>
            <a:pPr algn="r" rtl="1"/>
            <a:r>
              <a:rPr lang="he-IL" sz="1400">
                <a:latin typeface="Segoe UI"/>
                <a:cs typeface="Segoe UI"/>
              </a:rPr>
              <a:t>בקש מהמשתתפים למצוא במסמך משימה שאין לה מועד.</a:t>
            </a:r>
          </a:p>
          <a:p>
            <a:pPr algn="r" rtl="1"/>
            <a:r>
              <a:rPr lang="he-IL" sz="1400">
                <a:latin typeface="Segoe UI"/>
                <a:cs typeface="Segoe UI"/>
              </a:rPr>
              <a:t>בדיקה, גיבוי ומעבר</a:t>
            </a:r>
          </a:p>
          <a:p>
            <a:pPr algn="r" rtl="1"/>
            <a:r>
              <a:rPr lang="he-IL" sz="1400">
                <a:latin typeface="Segoe UI"/>
                <a:cs typeface="Segoe UI"/>
              </a:rPr>
              <a:t>עבור לתרגול בלי לקרוא את כל המסמך.</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12 מתוך 27 | וורד הדגמה ותרגול</a:t>
            </a:r>
          </a:p>
          <a:p>
            <a:pPr algn="r" rtl="1"/>
            <a:r>
              <a:rPr lang="he-IL" sz="1400">
                <a:latin typeface="Segoe UI"/>
                <a:cs typeface="Segoe UI"/>
              </a:rPr>
              <a:t>תזמון למנחה בלבד: 00:32–00:40 | 8 דקות כולל תרגול</a:t>
            </a:r>
          </a:p>
          <a:p>
            <a:pPr algn="r" rtl="1"/>
            <a:r>
              <a:rPr lang="he-IL" sz="1400">
                <a:latin typeface="Segoe UI"/>
                <a:cs typeface="Segoe UI"/>
              </a:rPr>
              <a:t>להקראה</a:t>
            </a:r>
          </a:p>
          <a:p>
            <a:pPr algn="r" rtl="1"/>
            <a:r>
              <a:rPr lang="he-IL" sz="1400">
                <a:latin typeface="Segoe UI"/>
                <a:cs typeface="Segoe UI"/>
              </a:rPr>
              <a:t>אני מבקש סיכום קצר וטבלת משימות עם אחראי ומועד. עכשיו אני חוזר למסמך ובודק: האם אושר פיילוט או אושרה רכישה? הוחלט להתחיל פיילוט רק אחרי אישור אבטחה. הרכישה עדיין לא אושרה. זו הבחנה קטנה בניסוח שמשנה החלטה עסקית. תבדקו את אותה הבחנה בתוצאה שלכם.</a:t>
            </a:r>
          </a:p>
          <a:p>
            <a:pPr algn="r" rtl="1"/>
            <a:r>
              <a:rPr lang="he-IL" sz="1400">
                <a:latin typeface="Segoe UI"/>
                <a:cs typeface="Segoe UI"/>
              </a:rPr>
              <a:t>פעולה על המסך</a:t>
            </a:r>
          </a:p>
          <a:p>
            <a:pPr algn="r" rtl="1"/>
            <a:r>
              <a:rPr lang="he-IL" sz="1400">
                <a:latin typeface="Segoe UI"/>
                <a:cs typeface="Segoe UI"/>
              </a:rPr>
              <a:t>שלח word ואחריו word_fix רק אם נדרש. שלוש דקות הדגמה, ארבע דקות עבודה של הקהל, דקת בדיקה. ייחוס: דנה שולחת רשימת משתמשים עד 10.9; יואב בודק הרשאות עד 13.9; מיכל מרכזת שאלות בלי מועד. אין אחראי או מועד מוסכם למדידת זמן טיפול.</a:t>
            </a:r>
          </a:p>
          <a:p>
            <a:pPr algn="r" rtl="1"/>
            <a:r>
              <a:rPr lang="he-IL" sz="1400">
                <a:latin typeface="Segoe UI"/>
                <a:cs typeface="Segoe UI"/>
              </a:rPr>
              <a:t>הנחיה לקהל ותוצר</a:t>
            </a:r>
          </a:p>
          <a:p>
            <a:pPr algn="r" rtl="1"/>
            <a:r>
              <a:rPr lang="he-IL" sz="1400">
                <a:latin typeface="Segoe UI"/>
                <a:cs typeface="Segoe UI"/>
              </a:rPr>
              <a:t>משתתפים שומרים טבלת משימות ומסמנים בה פרט חסר אחד. בדיקת עמיתים קצרה: בן הזוג מוצא את המקור להחלטה.</a:t>
            </a:r>
          </a:p>
          <a:p>
            <a:pPr algn="r" rtl="1"/>
            <a:r>
              <a:rPr lang="he-IL" sz="1400">
                <a:latin typeface="Segoe UI"/>
                <a:cs typeface="Segoe UI"/>
              </a:rPr>
              <a:t>בדיקה, גיבוי ומעבר</a:t>
            </a:r>
          </a:p>
          <a:p>
            <a:pPr algn="r" rtl="1"/>
            <a:r>
              <a:rPr lang="he-IL" sz="1400">
                <a:latin typeface="Segoe UI"/>
                <a:cs typeface="Segoe UI"/>
              </a:rPr>
              <a:t>חלופה: לצרף את המסמך לצ׳אט או להדביק טקסט מאושר. אין צורך ביכולת עריכה כדי לתרגל חילוץ. מסיימים בדקה 40.</a:t>
            </a:r>
          </a:p>
          <a:p>
            <a:pPr algn="r" rtl="1"/>
            <a:r>
              <a:rPr lang="he-IL" sz="1400">
                <a:latin typeface="Segoe UI"/>
                <a:cs typeface="Segoe UI"/>
              </a:rPr>
              <a:t>בקשה להעתקה</a:t>
            </a:r>
          </a:p>
          <a:p>
            <a:pPr algn="r" rtl="1"/>
            <a:r>
              <a:rPr lang="he-IL" sz="1400">
                <a:latin typeface="Segoe UI"/>
                <a:cs typeface="Segoe UI"/>
              </a:rPr>
              <a:t>סכם את פרוטוקול-פגישה.docx בפסקה אחת. חלץ טבלת משימות עם משימה, אחראי, מועד ומקור במסמך. הפרד בין החלטה שהתקבלה להצעה בלבד. אם לא נקבע אחראי או מועד, כתוב לא צוין. אל תשלים פרטים.</a:t>
            </a:r>
          </a:p>
          <a:p>
            <a:pPr algn="r" rtl="1"/>
            <a:r>
              <a:rPr lang="he-IL" sz="1400">
                <a:latin typeface="Segoe UI"/>
                <a:cs typeface="Segoe UI"/>
              </a:rPr>
              <a:t>בקשה להעתקה</a:t>
            </a:r>
          </a:p>
          <a:p>
            <a:pPr algn="r" rtl="1"/>
            <a:r>
              <a:rPr lang="he-IL" sz="1400">
                <a:latin typeface="Segoe UI"/>
                <a:cs typeface="Segoe UI"/>
              </a:rPr>
              <a:t>נסח את הסיכום מחדש להנהלה בעד 80 מילים. שמור את ההחלטות, הסיכון והשאלה הפתוחה. אל תהפוך הצעה להחלטה.</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13 מתוך 27 | פאוורפוינט יכולות ותנאים</a:t>
            </a:r>
          </a:p>
          <a:p>
            <a:pPr algn="r" rtl="1"/>
            <a:r>
              <a:rPr lang="he-IL" sz="1400">
                <a:latin typeface="Segoe UI"/>
                <a:cs typeface="Segoe UI"/>
              </a:rPr>
              <a:t>תזמון למנחה בלבד: 00:40–00:42 | 2 דקות כולל תרגול</a:t>
            </a:r>
          </a:p>
          <a:p>
            <a:pPr algn="r" rtl="1"/>
            <a:r>
              <a:rPr lang="he-IL" sz="1400">
                <a:latin typeface="Segoe UI"/>
                <a:cs typeface="Segoe UI"/>
              </a:rPr>
              <a:t>להקראה</a:t>
            </a:r>
          </a:p>
          <a:p>
            <a:pPr algn="r" rtl="1"/>
            <a:r>
              <a:rPr lang="he-IL" sz="1400">
                <a:latin typeface="Segoe UI"/>
                <a:cs typeface="Segoe UI"/>
              </a:rPr>
              <a:t>כדי לבנות מצגת שימושית, צריך להתחיל בקהל ובמטרה. היום נכין מבנה לעדכון צוות על פיילוט. נשתמש בבריף אחד, נבקש חמישה שקפים ונבדוק שהכלי לא הפך יעד לתוצאה שכבר הושגה. אם יצירת השקפים לא זמינה, מתווה ברור עדיין חוסך לנו את תחילת העבודה.</a:t>
            </a:r>
          </a:p>
          <a:p>
            <a:pPr algn="r" rtl="1"/>
            <a:r>
              <a:rPr lang="he-IL" sz="1400">
                <a:latin typeface="Segoe UI"/>
                <a:cs typeface="Segoe UI"/>
              </a:rPr>
              <a:t>פעולה על המסך</a:t>
            </a:r>
          </a:p>
          <a:p>
            <a:pPr algn="r" rtl="1"/>
            <a:r>
              <a:rPr lang="he-IL" sz="1400">
                <a:latin typeface="Segoe UI"/>
                <a:cs typeface="Segoe UI"/>
              </a:rPr>
              <a:t>פתח בריף-מצגת.docx ואת תבנית-התרגול.pptx. התבנית משתמשת במיתוג הקיים. אין צורך לייצר Brand Kit בזמן הסדנה.</a:t>
            </a:r>
          </a:p>
          <a:p>
            <a:pPr algn="r" rtl="1"/>
            <a:r>
              <a:rPr lang="he-IL" sz="1400">
                <a:latin typeface="Segoe UI"/>
                <a:cs typeface="Segoe UI"/>
              </a:rPr>
              <a:t>הנחיה לקהל ותוצר</a:t>
            </a:r>
          </a:p>
          <a:p>
            <a:pPr algn="r" rtl="1"/>
            <a:r>
              <a:rPr lang="he-IL" sz="1400">
                <a:latin typeface="Segoe UI"/>
                <a:cs typeface="Segoe UI"/>
              </a:rPr>
              <a:t>שאל: מי הקהל ומה אנחנו רוצים שידע או יעשה אחרי המצגת?</a:t>
            </a:r>
          </a:p>
          <a:p>
            <a:pPr algn="r" rtl="1"/>
            <a:r>
              <a:rPr lang="he-IL" sz="1400">
                <a:latin typeface="Segoe UI"/>
                <a:cs typeface="Segoe UI"/>
              </a:rPr>
              <a:t>בדיקה, גיבוי ומעבר</a:t>
            </a:r>
          </a:p>
          <a:p>
            <a:pPr algn="r" rtl="1"/>
            <a:r>
              <a:rPr lang="he-IL" sz="1400">
                <a:latin typeface="Segoe UI"/>
                <a:cs typeface="Segoe UI"/>
              </a:rPr>
              <a:t>עבור לבניית המתווה.</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14 מתוך 27 | פאוורפוינט הדגמה ותרגול</a:t>
            </a:r>
          </a:p>
          <a:p>
            <a:pPr algn="r" rtl="1"/>
            <a:r>
              <a:rPr lang="he-IL" sz="1400">
                <a:latin typeface="Segoe UI"/>
                <a:cs typeface="Segoe UI"/>
              </a:rPr>
              <a:t>תזמון למנחה בלבד: 00:42–00:50 | 8 דקות כולל תרגול</a:t>
            </a:r>
          </a:p>
          <a:p>
            <a:pPr algn="r" rtl="1"/>
            <a:r>
              <a:rPr lang="he-IL" sz="1400">
                <a:latin typeface="Segoe UI"/>
                <a:cs typeface="Segoe UI"/>
              </a:rPr>
              <a:t>להקראה</a:t>
            </a:r>
          </a:p>
          <a:p>
            <a:pPr algn="r" rtl="1"/>
            <a:r>
              <a:rPr lang="he-IL" sz="1400">
                <a:latin typeface="Segoe UI"/>
                <a:cs typeface="Segoe UI"/>
              </a:rPr>
              <a:t>הבריף אומר שהיעד הוא לקצר את זמן הטיפול בעשרים אחוז. הוא גם אומר שעוד לא מדדנו תוצאה. אם השקף יאמר כבר חסכנו עשרים אחוז, הוא יהיה שגוי. אני בודק עכשיו את הניסוח, את הסדר ואת העיצוב. תעשו את אותה בדיקה במתווה שלכם, לפני שאתם מבקשים עוד צבע או תמונה.</a:t>
            </a:r>
          </a:p>
          <a:p>
            <a:pPr algn="r" rtl="1"/>
            <a:r>
              <a:rPr lang="he-IL" sz="1400">
                <a:latin typeface="Segoe UI"/>
                <a:cs typeface="Segoe UI"/>
              </a:rPr>
              <a:t>פעולה על המסך</a:t>
            </a:r>
          </a:p>
          <a:p>
            <a:pPr algn="r" rtl="1"/>
            <a:r>
              <a:rPr lang="he-IL" sz="1400">
                <a:latin typeface="Segoe UI"/>
                <a:cs typeface="Segoe UI"/>
              </a:rPr>
              <a:t>שלוש דקות: שלח ppt, הראה מתווה ותבנית. ארבע דקות: הקהל מייצר מתווה ומתקן משפט אחד. דקה: הצגת תוצאה. אם הבנייה נמשכת, השתמש במתווה בלבד. אין להמתין להפקת חמש תמונות. בדוק חמישה שקפים, יעד 20% כתוב כיעד, עלות טרם אושרה.</a:t>
            </a:r>
          </a:p>
          <a:p>
            <a:pPr algn="r" rtl="1"/>
            <a:r>
              <a:rPr lang="he-IL" sz="1400">
                <a:latin typeface="Segoe UI"/>
                <a:cs typeface="Segoe UI"/>
              </a:rPr>
              <a:t>הנחיה לקהל ותוצר</a:t>
            </a:r>
          </a:p>
          <a:p>
            <a:pPr algn="r" rtl="1"/>
            <a:r>
              <a:rPr lang="he-IL" sz="1400">
                <a:latin typeface="Segoe UI"/>
                <a:cs typeface="Segoe UI"/>
              </a:rPr>
              <a:t>תוצר: חמישה כותרות ומסרים או חמישה שקפים, עם תיקון אחד שנבדק מול הבריף.</a:t>
            </a:r>
          </a:p>
          <a:p>
            <a:pPr algn="r" rtl="1"/>
            <a:r>
              <a:rPr lang="he-IL" sz="1400">
                <a:latin typeface="Segoe UI"/>
                <a:cs typeface="Segoe UI"/>
              </a:rPr>
              <a:t>בדיקה, גיבוי ומעבר</a:t>
            </a:r>
          </a:p>
          <a:p>
            <a:pPr algn="r" rtl="1"/>
            <a:r>
              <a:rPr lang="he-IL" sz="1400">
                <a:latin typeface="Segoe UI"/>
                <a:cs typeface="Segoe UI"/>
              </a:rPr>
              <a:t>הממשק והמותג תלויים במה שזמין בחשבון. תבנית PowerPoint קיימת היא חלופה. מסיימים בדקה 50.</a:t>
            </a:r>
          </a:p>
          <a:p>
            <a:pPr algn="r" rtl="1"/>
            <a:r>
              <a:rPr lang="he-IL" sz="1400">
                <a:latin typeface="Segoe UI"/>
                <a:cs typeface="Segoe UI"/>
              </a:rPr>
              <a:t>בקשה להעתקה</a:t>
            </a:r>
          </a:p>
          <a:p>
            <a:pPr algn="r" rtl="1"/>
            <a:r>
              <a:rPr lang="he-IL" sz="1400">
                <a:latin typeface="Segoe UI"/>
                <a:cs typeface="Segoe UI"/>
              </a:rPr>
              <a:t>על סמך בריף-מצגת.docx בלבד, הכן מתווה לחמישה שקפים לעדכון צוות על פיילוט פורטל שירות. לכל שקף תן כותרת ומסר מרכזי, עד שלוש נקודות. הבחן בין יעד לבין תוצאה שכבר נמדדה. אין להמציא נתונים או להציג יעד כהישג.</a:t>
            </a:r>
          </a:p>
          <a:p>
            <a:pPr algn="r" rtl="1"/>
            <a:r>
              <a:rPr lang="he-IL" sz="1400">
                <a:latin typeface="Segoe UI"/>
                <a:cs typeface="Segoe UI"/>
              </a:rPr>
              <a:t>בקשה להעתקה</a:t>
            </a:r>
          </a:p>
          <a:p>
            <a:pPr algn="r" rtl="1"/>
            <a:r>
              <a:rPr lang="he-IL" sz="1400">
                <a:latin typeface="Segoe UI"/>
                <a:cs typeface="Segoe UI"/>
              </a:rPr>
              <a:t>השתמש בתבנית הארגונית הפתוחה אם היכולת זמינה. קצר את השקפים ושמור את כל התנאים והסיכונים. אם אי אפשר ליצור שקפים כאן, הצג את המתווה כטבלה להעתקה.</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17 מתוך 27 | טימס יכולות ותנאים</a:t>
            </a:r>
          </a:p>
          <a:p>
            <a:pPr algn="r" rtl="1"/>
            <a:r>
              <a:rPr lang="he-IL" sz="1400">
                <a:latin typeface="Segoe UI"/>
                <a:cs typeface="Segoe UI"/>
              </a:rPr>
              <a:t>תזמון למנחה בלבד: 01:00–01:02 | 2 דקות כולל תרגול</a:t>
            </a:r>
          </a:p>
          <a:p>
            <a:pPr algn="r" rtl="1"/>
            <a:r>
              <a:rPr lang="he-IL" sz="1400">
                <a:latin typeface="Segoe UI"/>
                <a:cs typeface="Segoe UI"/>
              </a:rPr>
              <a:t>להקראה</a:t>
            </a:r>
          </a:p>
          <a:p>
            <a:pPr algn="r" rtl="1"/>
            <a:r>
              <a:rPr lang="he-IL" sz="1400">
                <a:latin typeface="Segoe UI"/>
                <a:cs typeface="Segoe UI"/>
              </a:rPr>
              <a:t>אחרי פגישה נרצה להבין מה הוחלט ומי צריך לעשות מה. ב־Teams היכולות תלויות ברישוי ובמדיניות הפגישה. בשביל לחזור אחר כך לדברים שנאמרו בקול צריך מקור שנשמר, בדרך כלל תמלול. יש גם שימוש בזמן פגישה בלי לשמור תמלול, אבל זה לא התרגיל שלנו היום.</a:t>
            </a:r>
          </a:p>
          <a:p>
            <a:pPr algn="r" rtl="1"/>
            <a:r>
              <a:rPr lang="he-IL" sz="1400">
                <a:latin typeface="Segoe UI"/>
                <a:cs typeface="Segoe UI"/>
              </a:rPr>
              <a:t>פעולה על המסך</a:t>
            </a:r>
          </a:p>
          <a:p>
            <a:pPr algn="r" rtl="1"/>
            <a:r>
              <a:rPr lang="he-IL" sz="1400">
                <a:latin typeface="Segoe UI"/>
                <a:cs typeface="Segoe UI"/>
              </a:rPr>
              <a:t>הראה צילום אמיתי מהמצגת. פתח פגישה מתומללת שהותר להשתמש בה, אם קיימת. אל תפתח את פגישת עינת מול לקוחות. חלופה מוכנה: פרוטוקול-פגישה.docx בצ׳אט.</a:t>
            </a:r>
          </a:p>
          <a:p>
            <a:pPr algn="r" rtl="1"/>
            <a:r>
              <a:rPr lang="he-IL" sz="1400">
                <a:latin typeface="Segoe UI"/>
                <a:cs typeface="Segoe UI"/>
              </a:rPr>
              <a:t>הנחיה לקהל ותוצר</a:t>
            </a:r>
          </a:p>
          <a:p>
            <a:pPr algn="r" rtl="1"/>
            <a:r>
              <a:rPr lang="he-IL" sz="1400">
                <a:latin typeface="Segoe UI"/>
                <a:cs typeface="Segoe UI"/>
              </a:rPr>
              <a:t>הבהר מראש מי מתרגל ב־Teams ומי על מסמך הדמה.</a:t>
            </a:r>
          </a:p>
          <a:p>
            <a:pPr algn="r" rtl="1"/>
            <a:r>
              <a:rPr lang="he-IL" sz="1400">
                <a:latin typeface="Segoe UI"/>
                <a:cs typeface="Segoe UI"/>
              </a:rPr>
              <a:t>בדיקה, גיבוי ומעבר</a:t>
            </a:r>
          </a:p>
          <a:p>
            <a:pPr algn="r" rtl="1"/>
            <a:r>
              <a:rPr lang="he-IL" sz="1400">
                <a:latin typeface="Segoe UI"/>
                <a:cs typeface="Segoe UI"/>
              </a:rPr>
              <a:t>הכפתור והתמלול אינם זמינים בהכרח לכל משתתף.</a:t>
            </a:r>
          </a:p>
          <a:p>
            <a:pPr algn="r" rtl="1"/>
            <a:r>
              <a:rPr lang="he-IL" sz="1400">
                <a:latin typeface="Segoe UI"/>
                <a:cs typeface="Segoe UI"/>
              </a:rPr>
              <a:t>מקור מקצועי שנבדק ב־5.9.2026</a:t>
            </a:r>
          </a:p>
          <a:p>
            <a:pPr algn="r" rtl="1"/>
            <a:r>
              <a:rPr lang="he-IL" sz="1400">
                <a:latin typeface="Segoe UI"/>
                <a:cs typeface="Segoe UI"/>
              </a:rPr>
              <a:t>https://support.microsoft.com/en-us/teams/copilot/use-copilot-without-transcribing-or-recording-a-teams-meeting-or-call</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18 מתוך 27 | טימס הדגמה ותרגול</a:t>
            </a:r>
          </a:p>
          <a:p>
            <a:pPr algn="r" rtl="1"/>
            <a:r>
              <a:rPr lang="he-IL" sz="1400">
                <a:latin typeface="Segoe UI"/>
                <a:cs typeface="Segoe UI"/>
              </a:rPr>
              <a:t>תזמון למנחה בלבד: 01:02–01:10 | 8 דקות כולל תרגול</a:t>
            </a:r>
          </a:p>
          <a:p>
            <a:pPr algn="r" rtl="1"/>
            <a:r>
              <a:rPr lang="he-IL" sz="1400">
                <a:latin typeface="Segoe UI"/>
                <a:cs typeface="Segoe UI"/>
              </a:rPr>
              <a:t>להקראה</a:t>
            </a:r>
          </a:p>
          <a:p>
            <a:pPr algn="r" rtl="1"/>
            <a:r>
              <a:rPr lang="he-IL" sz="1400">
                <a:latin typeface="Segoe UI"/>
                <a:cs typeface="Segoe UI"/>
              </a:rPr>
              <a:t>אבקש החלטות ומשימות עם ציטוט קצר. ציטוט עוזר לי לבדוק, אבל גם אותו צריך להשוות למקור. אם כולם דיברו על פעולה ואף אחד לא קיבל אחריות, אני רוצה שהסיכום יאמר זאת. תמצאו עכשיו משימה אחת ותראו שהאחראי והמועד באמת נאמרו.</a:t>
            </a:r>
          </a:p>
          <a:p>
            <a:pPr algn="r" rtl="1"/>
            <a:r>
              <a:rPr lang="he-IL" sz="1400">
                <a:latin typeface="Segoe UI"/>
                <a:cs typeface="Segoe UI"/>
              </a:rPr>
              <a:t>פעולה על המסך</a:t>
            </a:r>
          </a:p>
          <a:p>
            <a:pPr algn="r" rtl="1"/>
            <a:r>
              <a:rPr lang="he-IL" sz="1400">
                <a:latin typeface="Segoe UI"/>
                <a:cs typeface="Segoe UI"/>
              </a:rPr>
              <a:t>שלח teams על מקור מאושר. שלוש דקות הדגמה, שלוש דקות תרגול, שתי דקות שיתוף ובדיקה. בגיבוי השתמש בפרוטוקול שבערכה והסבר שזו אותה מיומנות על מקור כתוב, לא הדגמה של ממשק Teams.</a:t>
            </a:r>
          </a:p>
          <a:p>
            <a:pPr algn="r" rtl="1"/>
            <a:r>
              <a:rPr lang="he-IL" sz="1400">
                <a:latin typeface="Segoe UI"/>
                <a:cs typeface="Segoe UI"/>
              </a:rPr>
              <a:t>הנחיה לקהל ותוצר</a:t>
            </a:r>
          </a:p>
          <a:p>
            <a:pPr algn="r" rtl="1"/>
            <a:r>
              <a:rPr lang="he-IL" sz="1400">
                <a:latin typeface="Segoe UI"/>
                <a:cs typeface="Segoe UI"/>
              </a:rPr>
              <a:t>תוצר: החלטה אחת ומשימה אחת, שתיהן עם מקור. אין להוסיף אחריות לאדם שלא קיבל אותה.</a:t>
            </a:r>
          </a:p>
          <a:p>
            <a:pPr algn="r" rtl="1"/>
            <a:r>
              <a:rPr lang="he-IL" sz="1400">
                <a:latin typeface="Segoe UI"/>
                <a:cs typeface="Segoe UI"/>
              </a:rPr>
              <a:t>בדיקה, גיבוי ומעבר</a:t>
            </a:r>
          </a:p>
          <a:p>
            <a:pPr algn="r" rtl="1"/>
            <a:r>
              <a:rPr lang="he-IL" sz="1400">
                <a:latin typeface="Segoe UI"/>
                <a:cs typeface="Segoe UI"/>
              </a:rPr>
              <a:t>אם אין רישוי או תמלול מתאים: עוברים מיד לפרוטוקול. אין לפתוח דיון תשתיות. מסיימים בדקה 70.</a:t>
            </a:r>
          </a:p>
          <a:p>
            <a:pPr algn="r" rtl="1"/>
            <a:r>
              <a:rPr lang="he-IL" sz="1400">
                <a:latin typeface="Segoe UI"/>
                <a:cs typeface="Segoe UI"/>
              </a:rPr>
              <a:t>בקשה להעתקה</a:t>
            </a:r>
          </a:p>
          <a:p>
            <a:pPr algn="r" rtl="1"/>
            <a:r>
              <a:rPr lang="he-IL" sz="1400">
                <a:latin typeface="Segoe UI"/>
                <a:cs typeface="Segoe UI"/>
              </a:rPr>
              <a:t>על סמך תמלול הפגישה בלבד, סכם החלטות ומשימות. לכל משימה ציין אחראי, מועד וציטוט קצר מהמקור. הפרד הצעות מהחלטות. אם פרט לא נאמר, כתוב לא צוין.</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15 מתוך 27 | אאוטלוק יכולות ותנאים</a:t>
            </a:r>
          </a:p>
          <a:p>
            <a:pPr algn="r" rtl="1"/>
            <a:r>
              <a:rPr lang="he-IL" sz="1400">
                <a:latin typeface="Segoe UI"/>
                <a:cs typeface="Segoe UI"/>
              </a:rPr>
              <a:t>תזמון למנחה בלבד: 00:50–00:52 | 2 דקות כולל תרגול</a:t>
            </a:r>
          </a:p>
          <a:p>
            <a:pPr algn="r" rtl="1"/>
            <a:r>
              <a:rPr lang="he-IL" sz="1400">
                <a:latin typeface="Segoe UI"/>
                <a:cs typeface="Segoe UI"/>
              </a:rPr>
              <a:t>להקראה</a:t>
            </a:r>
          </a:p>
          <a:p>
            <a:pPr algn="r" rtl="1"/>
            <a:r>
              <a:rPr lang="he-IL" sz="1400">
                <a:latin typeface="Segoe UI"/>
                <a:cs typeface="Segoe UI"/>
              </a:rPr>
              <a:t>במייל נרצה להבין מה נדרש מאיתנו ולהכין תשובה. סיכום קצר יכול להחמיץ תנאי או התחייבות, לכן נחזור לשרשור לפני שליחה. בתרגיל הזה לא שולחים שום הודעה. מכינים טיוטה ובודקים שמחיר או מועד שלא אושרו לא נכנסו אליה.</a:t>
            </a:r>
          </a:p>
          <a:p>
            <a:pPr algn="r" rtl="1"/>
            <a:r>
              <a:rPr lang="he-IL" sz="1400">
                <a:latin typeface="Segoe UI"/>
                <a:cs typeface="Segoe UI"/>
              </a:rPr>
              <a:t>פעולה על המסך</a:t>
            </a:r>
          </a:p>
          <a:p>
            <a:pPr algn="r" rtl="1"/>
            <a:r>
              <a:rPr lang="he-IL" sz="1400">
                <a:latin typeface="Segoe UI"/>
                <a:cs typeface="Segoe UI"/>
              </a:rPr>
              <a:t>פתח שרשור-מייל-תרגול.docx. אם הכנת מראש את השרשור בתיבת ההדגמה, פתח אותו. אחרת תרגל בצ׳אט על מסמך השרשור. אין לשלוח מייל כדי ליצור דמו בזמן הסדנה.</a:t>
            </a:r>
          </a:p>
          <a:p>
            <a:pPr algn="r" rtl="1"/>
            <a:r>
              <a:rPr lang="he-IL" sz="1400">
                <a:latin typeface="Segoe UI"/>
                <a:cs typeface="Segoe UI"/>
              </a:rPr>
              <a:t>הנחיה לקהל ותוצר</a:t>
            </a:r>
          </a:p>
          <a:p>
            <a:pPr algn="r" rtl="1"/>
            <a:r>
              <a:rPr lang="he-IL" sz="1400">
                <a:latin typeface="Segoe UI"/>
                <a:cs typeface="Segoe UI"/>
              </a:rPr>
              <a:t>בקש מהקהל לזהות מה הלקוח מבקש ומה עדיין לא אושר.</a:t>
            </a:r>
          </a:p>
          <a:p>
            <a:pPr algn="r" rtl="1"/>
            <a:r>
              <a:rPr lang="he-IL" sz="1400">
                <a:latin typeface="Segoe UI"/>
                <a:cs typeface="Segoe UI"/>
              </a:rPr>
              <a:t>בדיקה, גיבוי ומעבר</a:t>
            </a:r>
          </a:p>
          <a:p>
            <a:pPr algn="r" rtl="1"/>
            <a:r>
              <a:rPr lang="he-IL" sz="1400">
                <a:latin typeface="Segoe UI"/>
                <a:cs typeface="Segoe UI"/>
              </a:rPr>
              <a:t>עבור לבקשת הסיכום והטיוטה.</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16 מתוך 27 | אאוטלוק הדגמה ותרגול</a:t>
            </a:r>
          </a:p>
          <a:p>
            <a:pPr algn="r" rtl="1"/>
            <a:r>
              <a:rPr lang="he-IL" sz="1400">
                <a:latin typeface="Segoe UI"/>
                <a:cs typeface="Segoe UI"/>
              </a:rPr>
              <a:t>תזמון למנחה בלבד: 00:52–01:00 | 8 דקות כולל תרגול</a:t>
            </a:r>
          </a:p>
          <a:p>
            <a:pPr algn="r" rtl="1"/>
            <a:r>
              <a:rPr lang="he-IL" sz="1400">
                <a:latin typeface="Segoe UI"/>
                <a:cs typeface="Segoe UI"/>
              </a:rPr>
              <a:t>להקראה</a:t>
            </a:r>
          </a:p>
          <a:p>
            <a:pPr algn="r" rtl="1"/>
            <a:r>
              <a:rPr lang="he-IL" sz="1400">
                <a:latin typeface="Segoe UI"/>
                <a:cs typeface="Segoe UI"/>
              </a:rPr>
              <a:t>קודם אבקש סיכום לנקודות פעולה. אחר כך טיוטה מקצועית. עכשיו אני בודק אם הטיוטה מתחייבת ליום שני. בשרשור נאמר שצריך קודם להשלים בדיקת אבטחה, ולכן אין אישור לתאריך. אפשר לכתוב שנחזור עם מועד לאחר הבדיקה. תערכו עכשיו את הטיוטה שלכם ותסירו כל התחייבות שאין לה מקור.</a:t>
            </a:r>
          </a:p>
          <a:p>
            <a:pPr algn="r" rtl="1"/>
            <a:r>
              <a:rPr lang="he-IL" sz="1400">
                <a:latin typeface="Segoe UI"/>
                <a:cs typeface="Segoe UI"/>
              </a:rPr>
              <a:t>פעולה על המסך</a:t>
            </a:r>
          </a:p>
          <a:p>
            <a:pPr algn="r" rtl="1"/>
            <a:r>
              <a:rPr lang="he-IL" sz="1400">
                <a:latin typeface="Segoe UI"/>
                <a:cs typeface="Segoe UI"/>
              </a:rPr>
              <a:t>שלח mail. שלוש דקות הדגמה, ארבע דקות ניסוח של המשתתפים, דקה לבדיקת התחייבויות. ייחוס: הלקוח ביקש להתחיל ב־14.9; עדיין אין אישור אבטחה, מועד או מחיר. דנה תברר אישור ותחזור לעדכון ב־10.9.</a:t>
            </a:r>
          </a:p>
          <a:p>
            <a:pPr algn="r" rtl="1"/>
            <a:r>
              <a:rPr lang="he-IL" sz="1400">
                <a:latin typeface="Segoe UI"/>
                <a:cs typeface="Segoe UI"/>
              </a:rPr>
              <a:t>הנחיה לקהל ותוצר</a:t>
            </a:r>
          </a:p>
          <a:p>
            <a:pPr algn="r" rtl="1"/>
            <a:r>
              <a:rPr lang="he-IL" sz="1400">
                <a:latin typeface="Segoe UI"/>
                <a:cs typeface="Segoe UI"/>
              </a:rPr>
              <a:t>תוצר: טיוטה עד 80 מילים, עם פעולה הבאה ובלי מחיר או מועד מומצא. לא ללחוץ על שליחה.</a:t>
            </a:r>
          </a:p>
          <a:p>
            <a:pPr algn="r" rtl="1"/>
            <a:r>
              <a:rPr lang="he-IL" sz="1400">
                <a:latin typeface="Segoe UI"/>
                <a:cs typeface="Segoe UI"/>
              </a:rPr>
              <a:t>בדיקה, גיבוי ומעבר</a:t>
            </a:r>
          </a:p>
          <a:p>
            <a:pPr algn="r" rtl="1"/>
            <a:r>
              <a:rPr lang="he-IL" sz="1400">
                <a:latin typeface="Segoe UI"/>
                <a:cs typeface="Segoe UI"/>
              </a:rPr>
              <a:t>אם Outlook אינו מציע Copilot: אותו שרשור בקובץ בצ׳אט. הכלל אדם מאשר ושולח הוא נוהל העבודה שלנו, לא טענה שכל מוצר לעולם אינו מסוגל לשלוח. מסיימים בדקה 60.</a:t>
            </a:r>
          </a:p>
          <a:p>
            <a:pPr algn="r" rtl="1"/>
            <a:r>
              <a:rPr lang="he-IL" sz="1400">
                <a:latin typeface="Segoe UI"/>
                <a:cs typeface="Segoe UI"/>
              </a:rPr>
              <a:t>בקשה להעתקה</a:t>
            </a:r>
          </a:p>
          <a:p>
            <a:pPr algn="r" rtl="1"/>
            <a:r>
              <a:rPr lang="he-IL" sz="1400">
                <a:latin typeface="Segoe UI"/>
                <a:cs typeface="Segoe UI"/>
              </a:rPr>
              <a:t>סכם את השרשור המצורף לנקודות פעולה. נסח טיוטת תשובה מקצועית עד 80 מילים. אשר רק מה שאושר בשרשור; אל תתחייב לתאריך חדש ואל תמציא מחיר. ציין מה עוד צריך לברר. אל תשלח את ההודעה.</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19 מתוך 27 | חיפוש במקורות הארגון</a:t>
            </a:r>
          </a:p>
          <a:p>
            <a:pPr algn="r" rtl="1"/>
            <a:r>
              <a:rPr lang="he-IL" sz="1400">
                <a:latin typeface="Segoe UI"/>
                <a:cs typeface="Segoe UI"/>
              </a:rPr>
              <a:t>תזמון למנחה בלבד: 01:10–01:15 | 5 דקות כולל תרגול</a:t>
            </a:r>
          </a:p>
          <a:p>
            <a:pPr algn="r" rtl="1"/>
            <a:r>
              <a:rPr lang="he-IL" sz="1400">
                <a:latin typeface="Segoe UI"/>
                <a:cs typeface="Segoe UI"/>
              </a:rPr>
              <a:t>להקראה</a:t>
            </a:r>
          </a:p>
          <a:p>
            <a:pPr algn="r" rtl="1"/>
            <a:r>
              <a:rPr lang="he-IL" sz="1400">
                <a:latin typeface="Segoe UI"/>
                <a:cs typeface="Segoe UI"/>
              </a:rPr>
              <a:t>עד עכשיו ידענו איזה קובץ לצרף. לפעמים אנחנו לא יודעים היכן התשובה נמצאת. בחשבון שבו חיפוש במידע הארגוני מופעל, אפשר לבקש למצוא אותה במקורות שיש לנו הרשאה אליהם. גם אז לא מובטח שכל קובץ יימצא. נפתח את המקור ונבדוק שזה המסמך הנכון והמעודכן.</a:t>
            </a:r>
          </a:p>
          <a:p>
            <a:pPr algn="r" rtl="1"/>
            <a:r>
              <a:rPr lang="he-IL" sz="1400">
                <a:latin typeface="Segoe UI"/>
                <a:cs typeface="Segoe UI"/>
              </a:rPr>
              <a:t>פעולה על המסך</a:t>
            </a:r>
          </a:p>
          <a:p>
            <a:pPr algn="r" rtl="1"/>
            <a:r>
              <a:rPr lang="he-IL" sz="1400">
                <a:latin typeface="Segoe UI"/>
                <a:cs typeface="Segoe UI"/>
              </a:rPr>
              <a:t>שתי דקות: הדגם search בחשבון שהיכולת בו זמינה, או הצג את הצילום האמיתי. שתי דקות: הקהל מחפש תשובה בבריף המצורף. דקה: אימות מקור. תרגיל: מה התנאי להתחלת הפיילוט? אישור אבטחה.</a:t>
            </a:r>
          </a:p>
          <a:p>
            <a:pPr algn="r" rtl="1"/>
            <a:r>
              <a:rPr lang="he-IL" sz="1400">
                <a:latin typeface="Segoe UI"/>
                <a:cs typeface="Segoe UI"/>
              </a:rPr>
              <a:t>הנחיה לקהל ותוצר</a:t>
            </a:r>
          </a:p>
          <a:p>
            <a:pPr algn="r" rtl="1"/>
            <a:r>
              <a:rPr lang="he-IL" sz="1400">
                <a:latin typeface="Segoe UI"/>
                <a:cs typeface="Segoe UI"/>
              </a:rPr>
              <a:t>משתתפים בלי חיפוש ארגוני מצרפים בריף אחד. אומרים במפורש שזה חיפוש בקובץ שסופק ולא חיפוש בכלל הארגון.</a:t>
            </a:r>
          </a:p>
          <a:p>
            <a:pPr algn="r" rtl="1"/>
            <a:r>
              <a:rPr lang="he-IL" sz="1400">
                <a:latin typeface="Segoe UI"/>
                <a:cs typeface="Segoe UI"/>
              </a:rPr>
              <a:t>בדיקה, גיבוי ומעבר</a:t>
            </a:r>
          </a:p>
          <a:p>
            <a:pPr algn="r" rtl="1"/>
            <a:r>
              <a:rPr lang="he-IL" sz="1400">
                <a:latin typeface="Segoe UI"/>
                <a:cs typeface="Segoe UI"/>
              </a:rPr>
              <a:t>אל תבטיח שפרימיום ימצא אוטומטית כל קובץ. זמן מצטבר 75 דקות.</a:t>
            </a:r>
          </a:p>
          <a:p>
            <a:pPr algn="r" rtl="1"/>
            <a:r>
              <a:rPr lang="he-IL" sz="1400">
                <a:latin typeface="Segoe UI"/>
                <a:cs typeface="Segoe UI"/>
              </a:rPr>
              <a:t>בקשה להעתקה</a:t>
            </a:r>
          </a:p>
          <a:p>
            <a:pPr algn="r" rtl="1"/>
            <a:r>
              <a:rPr lang="he-IL" sz="1400">
                <a:latin typeface="Segoe UI"/>
                <a:cs typeface="Segoe UI"/>
              </a:rPr>
              <a:t>מצא במסמכים שהגישה אליהם מותרת לי את תנאי אישור הפיילוט של פורטל השירות. לכל תנאי ציין שם מסמך ומקור. אם יש סתירה או שאין מקור, אמור זאת במפורש. אל תנחש.</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25 מתוך 27 | למידה ועדכונים</a:t>
            </a:r>
          </a:p>
          <a:p>
            <a:pPr algn="r" rtl="1"/>
            <a:r>
              <a:rPr lang="he-IL" sz="1400">
                <a:latin typeface="Segoe UI"/>
                <a:cs typeface="Segoe UI"/>
              </a:rPr>
              <a:t>תזמון למנחה בלבד: 01:35–01:37 | 2 דקות כולל תרגול</a:t>
            </a:r>
          </a:p>
          <a:p>
            <a:pPr algn="r" rtl="1"/>
            <a:r>
              <a:rPr lang="he-IL" sz="1400">
                <a:latin typeface="Segoe UI"/>
                <a:cs typeface="Segoe UI"/>
              </a:rPr>
              <a:t>להקראה</a:t>
            </a:r>
          </a:p>
          <a:p>
            <a:pPr algn="r" rtl="1"/>
            <a:r>
              <a:rPr lang="he-IL" sz="1400">
                <a:latin typeface="Segoe UI"/>
                <a:cs typeface="Segoe UI"/>
              </a:rPr>
              <a:t>הכלים והממשקים משתנים, ולכן הרגל העבודה חשוב יותר מהמיקום של הכפתור. נסו משימה קטנה, בדקו את התוצאה ושמרו את הבקשה שעבדה. אם משהו נראה אחרת ממה שראינו היום, בדקו את ההנחיות העדכניות ואת מה שפתוח בחשבון שלכם.</a:t>
            </a:r>
          </a:p>
          <a:p>
            <a:pPr algn="r" rtl="1"/>
            <a:r>
              <a:rPr lang="he-IL" sz="1400">
                <a:latin typeface="Segoe UI"/>
                <a:cs typeface="Segoe UI"/>
              </a:rPr>
              <a:t>פעולה על המסך</a:t>
            </a:r>
          </a:p>
          <a:p>
            <a:pPr algn="r" rtl="1"/>
            <a:r>
              <a:rPr lang="he-IL" sz="1400">
                <a:latin typeface="Segoe UI"/>
                <a:cs typeface="Segoe UI"/>
              </a:rPr>
              <a:t>הפנה לקישורי Microsoft בדף ההכנה ולגורם ה־IT הארגוני. לא לעבור למחירים, סוכנים או תוכנית הטמעה.</a:t>
            </a:r>
          </a:p>
          <a:p>
            <a:pPr algn="r" rtl="1"/>
            <a:r>
              <a:rPr lang="he-IL" sz="1400">
                <a:latin typeface="Segoe UI"/>
                <a:cs typeface="Segoe UI"/>
              </a:rPr>
              <a:t>הנחיה לקהל ותוצר</a:t>
            </a:r>
          </a:p>
          <a:p>
            <a:pPr algn="r" rtl="1"/>
            <a:r>
              <a:rPr lang="he-IL" sz="1400">
                <a:latin typeface="Segoe UI"/>
                <a:cs typeface="Segoe UI"/>
              </a:rPr>
              <a:t>שאל מי מוכן לשתף את הצוות בבקשה שעבדה לו.</a:t>
            </a:r>
          </a:p>
          <a:p>
            <a:pPr algn="r" rtl="1"/>
            <a:r>
              <a:rPr lang="he-IL" sz="1400">
                <a:latin typeface="Segoe UI"/>
                <a:cs typeface="Segoe UI"/>
              </a:rPr>
              <a:t>בדיקה, גיבוי ומעבר</a:t>
            </a:r>
          </a:p>
          <a:p>
            <a:pPr algn="r" rtl="1"/>
            <a:r>
              <a:rPr lang="he-IL" sz="1400">
                <a:latin typeface="Segoe UI"/>
                <a:cs typeface="Segoe UI"/>
              </a:rPr>
              <a:t>שתי דקות, ואז פרטי הקשר.</a:t>
            </a:r>
          </a:p>
          <a:p>
            <a:pPr algn="r" rtl="1"/>
            <a:r>
              <a:rPr lang="he-IL" sz="1400">
                <a:latin typeface="Segoe UI"/>
                <a:cs typeface="Segoe UI"/>
              </a:rPr>
              <a:t>מקור מקצועי שנבדק ב־5.9.2026</a:t>
            </a:r>
          </a:p>
          <a:p>
            <a:pPr algn="r" rtl="1"/>
            <a:r>
              <a:rPr lang="he-IL" sz="1400">
                <a:latin typeface="Segoe UI"/>
                <a:cs typeface="Segoe UI"/>
              </a:rPr>
              <a:t>https://learn.microsoft.com/en-us/microsoft-365/copilot/microsoft-365-copilot-overview</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24 מתוך 27 | ערכת התרגול</a:t>
            </a:r>
          </a:p>
          <a:p>
            <a:pPr algn="r" rtl="1"/>
            <a:r>
              <a:rPr lang="he-IL" sz="1400">
                <a:latin typeface="Segoe UI"/>
                <a:cs typeface="Segoe UI"/>
              </a:rPr>
              <a:t>תזמון למנחה בלבד: 01:30–01:35 | 5 דקות כולל תרגול</a:t>
            </a:r>
          </a:p>
          <a:p>
            <a:pPr algn="r" rtl="1"/>
            <a:r>
              <a:rPr lang="he-IL" sz="1400">
                <a:latin typeface="Segoe UI"/>
                <a:cs typeface="Segoe UI"/>
              </a:rPr>
              <a:t>להקראה</a:t>
            </a:r>
          </a:p>
          <a:p>
            <a:pPr algn="r" rtl="1"/>
            <a:r>
              <a:rPr lang="he-IL" sz="1400">
                <a:latin typeface="Segoe UI"/>
                <a:cs typeface="Segoe UI"/>
              </a:rPr>
              <a:t>כל הקבצים והבקשות שבהם השתמשנו נמצאים בערכה. שמרו את המקור ותרגלו על עותק משלכם. כדאי להתחיל מבקשה שעבדה ולשנות בה את התפקיד, המטרה והקובץ. יש גם דוגמאות מוקלטות להמשך צפייה, אבל הממשק שלהן יכול להיות שונה מהחשבון שלכם.</a:t>
            </a:r>
          </a:p>
          <a:p>
            <a:pPr algn="r" rtl="1"/>
            <a:r>
              <a:rPr lang="he-IL" sz="1400">
                <a:latin typeface="Segoe UI"/>
                <a:cs typeface="Segoe UI"/>
              </a:rPr>
              <a:t>פעולה על המסך</a:t>
            </a:r>
          </a:p>
          <a:p>
            <a:pPr algn="r" rtl="1"/>
            <a:r>
              <a:rPr lang="he-IL" sz="1400">
                <a:latin typeface="Segoe UI"/>
                <a:cs typeface="Segoe UI"/>
              </a:rPr>
              <a:t>פתח את תיקיית toolkit. הראה אקסל, פרוטוקול, בריף, שרשור, תבנית וספריית בקשות. שלוש דקות לאיתור ושמירה של בקשה, שתי דקות להדגמת השימוש בדף הבדיקות. סרטוני העבר הם חומר למנחה עד שנבדקה הרשאת הפצה ותוכן גלוי.</a:t>
            </a:r>
          </a:p>
          <a:p>
            <a:pPr algn="r" rtl="1"/>
            <a:r>
              <a:rPr lang="he-IL" sz="1400">
                <a:latin typeface="Segoe UI"/>
                <a:cs typeface="Segoe UI"/>
              </a:rPr>
              <a:t>הנחיה לקהל ותוצר</a:t>
            </a:r>
          </a:p>
          <a:p>
            <a:pPr algn="r" rtl="1"/>
            <a:r>
              <a:rPr lang="he-IL" sz="1400">
                <a:latin typeface="Segoe UI"/>
                <a:cs typeface="Segoe UI"/>
              </a:rPr>
              <a:t>כל משתתף שומר בקשה אחת ורושם איזה קובץ צריך לצרף לה בעבודה שלו.</a:t>
            </a:r>
          </a:p>
          <a:p>
            <a:pPr algn="r" rtl="1"/>
            <a:r>
              <a:rPr lang="he-IL" sz="1400">
                <a:latin typeface="Segoe UI"/>
                <a:cs typeface="Segoe UI"/>
              </a:rPr>
              <a:t>בדיקה, גיבוי ומעבר</a:t>
            </a:r>
          </a:p>
          <a:p>
            <a:pPr algn="r" rtl="1"/>
            <a:r>
              <a:rPr lang="he-IL" sz="1400">
                <a:latin typeface="Segoe UI"/>
                <a:cs typeface="Segoe UI"/>
              </a:rPr>
              <a:t>אל תבטיח שסרטון של חשבון אמיתי כבר אושר להפצה. זמן מצטבר 95 דקות.</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שקף 26 מתוך 27 | קשר והמשך</a:t>
            </a:r>
          </a:p>
          <a:p>
            <a:pPr algn="r" rtl="1"/>
            <a:r>
              <a:rPr lang="he-IL" sz="1400">
                <a:latin typeface="Segoe UI"/>
                <a:cs typeface="Segoe UI"/>
              </a:rPr>
              <a:t>תזמון למנחה בלבד: 01:37–01:40 | 3 דקות כולל תרגול</a:t>
            </a:r>
          </a:p>
          <a:p>
            <a:pPr algn="r" rtl="1"/>
            <a:r>
              <a:rPr lang="he-IL" sz="1400">
                <a:latin typeface="Segoe UI"/>
                <a:cs typeface="Segoe UI"/>
              </a:rPr>
              <a:t>להקראה</a:t>
            </a:r>
          </a:p>
          <a:p>
            <a:pPr algn="r" rtl="1"/>
            <a:r>
              <a:rPr lang="he-IL" sz="1400">
                <a:latin typeface="Segoe UI"/>
                <a:cs typeface="Segoe UI"/>
              </a:rPr>
              <a:t>אם תיתקלו בשאלה בהמשך, כתבו לי וציינו מה ניסיתם, באיזו אפליקציה ומה רציתם לקבל. עדיף דוגמה קצרה ללא מידע רגיש. עכשיו נעבור לחלק שבו אתם בוחרים משימה מהעבודה ומבצעים אותה, ואני כאן כדי לעזור.</a:t>
            </a:r>
          </a:p>
          <a:p>
            <a:pPr algn="r" rtl="1"/>
            <a:r>
              <a:rPr lang="he-IL" sz="1400">
                <a:latin typeface="Segoe UI"/>
                <a:cs typeface="Segoe UI"/>
              </a:rPr>
              <a:t>פעולה על המסך</a:t>
            </a:r>
          </a:p>
          <a:p>
            <a:pPr algn="r" rtl="1"/>
            <a:r>
              <a:rPr lang="he-IL" sz="1400">
                <a:latin typeface="Segoe UI"/>
                <a:cs typeface="Segoe UI"/>
              </a:rPr>
              <a:t>הצג את פרטי הקשר שמופיעים על השקף. אין להבטיח שירות או זמן תגובה שלא סוכמו. הכן טיימר ל־20 הדקות האחרונות.</a:t>
            </a:r>
          </a:p>
          <a:p>
            <a:pPr algn="r" rtl="1"/>
            <a:r>
              <a:rPr lang="he-IL" sz="1400">
                <a:latin typeface="Segoe UI"/>
                <a:cs typeface="Segoe UI"/>
              </a:rPr>
              <a:t>הנחיה לקהל ותוצר</a:t>
            </a:r>
          </a:p>
          <a:p>
            <a:pPr algn="r" rtl="1"/>
            <a:r>
              <a:rPr lang="he-IL" sz="1400">
                <a:latin typeface="Segoe UI"/>
                <a:cs typeface="Segoe UI"/>
              </a:rPr>
              <a:t>משתתפים בוחרים מקרה שהביאו מראש או משימה מתפריט הערכה.</a:t>
            </a:r>
          </a:p>
          <a:p>
            <a:pPr algn="r" rtl="1"/>
            <a:r>
              <a:rPr lang="he-IL" sz="1400">
                <a:latin typeface="Segoe UI"/>
                <a:cs typeface="Segoe UI"/>
              </a:rPr>
              <a:t>בדיקה, גיבוי ומעבר</a:t>
            </a:r>
          </a:p>
          <a:p>
            <a:pPr algn="r" rtl="1"/>
            <a:r>
              <a:rPr lang="he-IL" sz="1400">
                <a:latin typeface="Segoe UI"/>
                <a:cs typeface="Segoe UI"/>
              </a:rPr>
              <a:t>זמן מצטבר 100 דקות. עבור לשקף האחרון והשאר אותו בזמן התרגול.</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ph type="sldImg" idx="2"/>
          </p:nvPr>
        </p:nvSpPr>
        <p:spPr/>
      </p:sp>
      <p:sp>
        <p:nvSpPr>
          <p:cNvPr id="3" name="Presenter Script"/>
          <p:cNvSpPr/>
          <p:nvPr>
            <p:ph type="body" idx="3"/>
          </p:nvPr>
        </p:nvSpPr>
        <p:spPr/>
        <p:txBody>
          <a:bodyPr/>
          <a:lstStyle/>
          <a:p>
            <a:pPr algn="r" rtl="1"/>
            <a:r>
              <a:rPr lang="he-IL" sz="1400">
                <a:latin typeface="Segoe UI"/>
                <a:cs typeface="Segoe UI"/>
              </a:rPr>
              <a:t>נספח היסטורי מוסתר</a:t>
            </a:r>
          </a:p>
          <a:p>
            <a:pPr algn="r" rtl="1"/>
            <a:r>
              <a:rPr lang="he-IL" sz="1400">
                <a:latin typeface="Segoe UI"/>
                <a:cs typeface="Segoe UI"/>
              </a:rPr>
              <a:t>מחוץ למסלול הסדנה. אין להציג ללקוח או להשתמש כבסיס לרישוי, מחיר או הבטחת יכולת ללא אימות מחדש.</a:t>
            </a:r>
          </a:p>
          <a:p>
            <a:pPr algn="r" rtl="1"/>
            <a:r>
              <a:rPr lang="he-IL" sz="1400">
                <a:latin typeface="Segoe UI"/>
                <a:cs typeface="Segoe UI"/>
              </a:rPr>
              <a:t>בפגישת האישור השתמש במדריך המעודכן, לא בשקף ההחלטה הישן על 60 דקות.</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notesSlide" Target="../notesSlides/notesSlide16.xml"/><Relationship Id="rId6" Type="http://schemas.openxmlformats.org/officeDocument/2006/relationships/image" Target="../media/image25.jp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74.png"/><Relationship Id="rId11" Type="http://schemas.openxmlformats.org/officeDocument/2006/relationships/notesSlide" Target="../notesSlides/notesSlide10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75.png"/><Relationship Id="rId11" Type="http://schemas.openxmlformats.org/officeDocument/2006/relationships/notesSlide" Target="../notesSlides/notesSlide10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76.png"/><Relationship Id="rId11" Type="http://schemas.openxmlformats.org/officeDocument/2006/relationships/notesSlide" Target="../notesSlides/notesSlide10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47.png"/><Relationship Id="rId7" Type="http://schemas.openxmlformats.org/officeDocument/2006/relationships/image" Target="../media/image32.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41.png"/><Relationship Id="rId7" Type="http://schemas.openxmlformats.org/officeDocument/2006/relationships/image" Target="../media/image38.png"/><Relationship Id="rId8" Type="http://schemas.openxmlformats.org/officeDocument/2006/relationships/image" Target="../media/image35.png"/><Relationship Id="rId9" Type="http://schemas.openxmlformats.org/officeDocument/2006/relationships/image" Target="../media/image33.png"/><Relationship Id="rId10" Type="http://schemas.openxmlformats.org/officeDocument/2006/relationships/image" Target="../media/image77.png"/><Relationship Id="rId11" Type="http://schemas.openxmlformats.org/officeDocument/2006/relationships/notesSlide" Target="../notesSlides/notesSlide10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notesSlide" Target="../notesSlides/notesSlide17.xml"/><Relationship Id="rId7" Type="http://schemas.openxmlformats.org/officeDocument/2006/relationships/image" Target="../media/image57.png"/><Relationship Id="rId8" Type="http://schemas.openxmlformats.org/officeDocument/2006/relationships/image" Target="../media/image36.png"/><Relationship Id="rId9" Type="http://schemas.openxmlformats.org/officeDocument/2006/relationships/image" Target="../media/image38.png"/><Relationship Id="rId10" Type="http://schemas.openxmlformats.org/officeDocument/2006/relationships/image" Target="../media/image58.png"/><Relationship Id="rId11" Type="http://schemas.openxmlformats.org/officeDocument/2006/relationships/image" Target="../media/image33.png"/><Relationship Id="rId12" Type="http://schemas.openxmlformats.org/officeDocument/2006/relationships/image" Target="../media/image40.png"/><Relationship Id="rId13" Type="http://schemas.openxmlformats.org/officeDocument/2006/relationships/image" Target="../media/image7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notesSlide" Target="../notesSlides/notesSlide18.xml"/><Relationship Id="rId7" Type="http://schemas.openxmlformats.org/officeDocument/2006/relationships/image" Target="../media/image55.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7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80.png"/><Relationship Id="rId12" Type="http://schemas.openxmlformats.org/officeDocument/2006/relationships/notesSlide" Target="../notesSlides/notesSlide1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55.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81.png"/><Relationship Id="rId10" Type="http://schemas.openxmlformats.org/officeDocument/2006/relationships/notesSlide" Target="../notesSlides/notesSlide1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82.png"/><Relationship Id="rId12" Type="http://schemas.openxmlformats.org/officeDocument/2006/relationships/notesSlide" Target="../notesSlides/notesSlide1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55.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83.png"/><Relationship Id="rId10" Type="http://schemas.openxmlformats.org/officeDocument/2006/relationships/notesSlide" Target="../notesSlides/notesSlide113.xml"/></Relationships>
</file>

<file path=ppt/slides/_rels/slide14.xml.rels><?xml version='1.0' encoding='UTF-8' standalone='yes'?>
<Relationships xmlns="http://schemas.openxmlformats.org/package/2006/relationships"><Relationship Id="rIdIcon1" Type="http://schemas.openxmlformats.org/officeDocument/2006/relationships/image" Target="../media/image61.png"/><Relationship Id="rIdIcon2" Type="http://schemas.openxmlformats.org/officeDocument/2006/relationships/image" Target="../media/image62.png"/><Relationship Id="rIdIcon3" Type="http://schemas.openxmlformats.org/officeDocument/2006/relationships/image" Target="../media/image63.png"/><Relationship Id="rIdIcon4" Type="http://schemas.openxmlformats.org/officeDocument/2006/relationships/image" Target="../media/image64.png"/><Relationship Id="rIdIcon5" Type="http://schemas.openxmlformats.org/officeDocument/2006/relationships/image" Target="../media/image65.png"/><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8.png"/><Relationship Id="rId11" Type="http://schemas.openxmlformats.org/officeDocument/2006/relationships/image" Target="../media/image84.png"/><Relationship Id="rId12" Type="http://schemas.openxmlformats.org/officeDocument/2006/relationships/notesSlide" Target="../notesSlides/notesSlide1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200.png"/><Relationship Id="rId7" Type="http://schemas.openxmlformats.org/officeDocument/2006/relationships/image" Target="../media/image55.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notesSlide" Target="../notesSlides/notesSlide115.xml"/></Relationships>
</file>

<file path=ppt/slides/_rels/slide16.xml.rels><?xml version='1.0' encoding='UTF-8' standalone='yes'?>
<Relationships xmlns="http://schemas.openxmlformats.org/package/2006/relationships"><Relationship Id="rIdIcon1" Type="http://schemas.openxmlformats.org/officeDocument/2006/relationships/image" Target="../media/image61.png"/><Relationship Id="rIdIcon2" Type="http://schemas.openxmlformats.org/officeDocument/2006/relationships/image" Target="../media/image62.png"/><Relationship Id="rIdIcon3" Type="http://schemas.openxmlformats.org/officeDocument/2006/relationships/image" Target="../media/image63.png"/><Relationship Id="rIdIcon4" Type="http://schemas.openxmlformats.org/officeDocument/2006/relationships/image" Target="../media/image64.png"/><Relationship Id="rIdIcon5" Type="http://schemas.openxmlformats.org/officeDocument/2006/relationships/image" Target="../media/image65.png"/><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201.png"/><Relationship Id="rId10" Type="http://schemas.openxmlformats.org/officeDocument/2006/relationships/notesSlide" Target="../notesSlides/notesSlide1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202.png"/><Relationship Id="rId7" Type="http://schemas.openxmlformats.org/officeDocument/2006/relationships/image" Target="../media/image55.png"/><Relationship Id="rId8" Type="http://schemas.openxmlformats.org/officeDocument/2006/relationships/image" Target="../media/image60.png"/><Relationship Id="rId9" Type="http://schemas.openxmlformats.org/officeDocument/2006/relationships/notesSlide" Target="../notesSlides/notesSlide1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85.png"/><Relationship Id="rId12" Type="http://schemas.openxmlformats.org/officeDocument/2006/relationships/notesSlide" Target="../notesSlides/notesSlide1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35.png"/><Relationship Id="rId7" Type="http://schemas.openxmlformats.org/officeDocument/2006/relationships/image" Target="../media/image40.png"/><Relationship Id="rId8" Type="http://schemas.openxmlformats.org/officeDocument/2006/relationships/image" Target="../media/image66.png"/><Relationship Id="rId9" Type="http://schemas.openxmlformats.org/officeDocument/2006/relationships/image" Target="../media/image38.png"/><Relationship Id="rId10" Type="http://schemas.openxmlformats.org/officeDocument/2006/relationships/image" Target="../media/image67.png"/><Relationship Id="rId11" Type="http://schemas.openxmlformats.org/officeDocument/2006/relationships/image" Target="../media/image72.png"/><Relationship Id="rId12" Type="http://schemas.openxmlformats.org/officeDocument/2006/relationships/notesSlide" Target="../notesSlides/notesSlide1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notesSlide" Target="../notesSlides/notesSlide19.xml"/><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notesSlide" Target="../notesSlides/notesSlide1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notesSlide" Target="../notesSlides/notesSlide1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5.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notesSlide" Target="../notesSlides/notesSlide1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notesSlide" Target="../notesSlides/notesSlide1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0" name="Picture 9" descr="s01.png"/>
          <p:cNvPicPr>
            <a:picLocks noChangeAspect="1"/>
          </p:cNvPicPr>
          <p:nvPr/>
        </p:nvPicPr>
        <p:blipFill>
          <a:blip r:embed="rId5"/>
          <a:stretch>
            <a:fillRect/>
          </a:stretch>
        </p:blipFill>
        <p:spPr>
          <a:xfrm>
            <a:off x="822960" y="2304288"/>
            <a:ext cx="10543032" cy="4617720"/>
          </a:xfrm>
          <a:prstGeom prst="roundRect">
            <a:avLst>
              <a:gd name="adj" fmla="val 3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ס ד נ ת   י ס ו ד ו ת</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261872"/>
            <a:ext cx="10637215" cy="932688"/>
          </a:xfrm>
          <a:prstGeom prst="rect">
            <a:avLst/>
          </a:prstGeom>
          <a:noFill/>
        </p:spPr>
        <p:txBody>
          <a:bodyPr wrap="square" lIns="0" tIns="0" rIns="0" bIns="0" anchor="t">
            <a:spAutoFit/>
          </a:bodyPr>
          <a:lstStyle/>
          <a:p>
            <a:pPr algn="r" rtl="1"/>
            <a:r>
              <a:rPr lang="he-IL" sz="4000" b="1">
                <a:solidFill>
                  <a:srgbClr val="16181A"/>
                </a:solidFill>
                <a:latin typeface="Segoe UI"/>
              </a:rPr>
              <a:t>יסודות Copilot לעובדים</a:t>
            </a:r>
            <a:endParaRPr lang="en-US" sz="4000" b="1" err="1">
              <a:solidFill>
                <a:srgbClr val="16181A"/>
              </a:solidFill>
              <a:latin typeface="Segoe UI"/>
            </a:endParaRPr>
          </a:p>
        </p:txBody>
      </p:sp>
      <p:sp>
        <p:nvSpPr>
          <p:cNvPr id="8" name="TextBox 7"/>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1/27</a:t>
            </a:r>
            <a:endParaRPr lang="en-US" sz="900">
              <a:solidFill>
                <a:srgbClr val="565C62"/>
              </a:solidFill>
              <a:latin typeface="Segoe UI"/>
            </a:endParaRPr>
          </a:p>
        </p:txBody>
      </p:sp>
      <p:sp>
        <p:nvSpPr>
          <p:cNvPr id="9" name="TextBox 8"/>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2.png"/>
          <p:cNvPicPr>
            <a:picLocks noChangeAspect="1"/>
          </p:cNvPicPr>
          <p:nvPr/>
        </p:nvPicPr>
        <p:blipFill>
          <a:blip r:embed="rId6"/>
          <a:stretch>
            <a:fillRect/>
          </a:stretch>
        </p:blipFill>
        <p:spPr>
          <a:xfrm>
            <a:off x="868680" y="2029968"/>
            <a:ext cx="411480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מ ט ר ו ת</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800" b="1">
                <a:solidFill>
                  <a:srgbClr val="16181A"/>
                </a:solidFill>
                <a:latin typeface="Segoe UI"/>
              </a:rPr>
              <a:t>מה תדעו לעשות</a:t>
            </a:r>
            <a:endParaRPr lang="en-US" sz="2700" b="1">
              <a:solidFill>
                <a:srgbClr val="16181A"/>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6" name="CardIcon 1" descr="01-copilot.png"/>
          <p:cNvPicPr>
            <a:picLocks noChangeAspect="1"/>
          </p:cNvPicPr>
          <p:nvPr/>
        </p:nvPicPr>
        <p:blipFill>
          <a:blip r:embed="rId4"/>
          <a:stretch>
            <a:fillRect/>
          </a:stretch>
        </p:blipFill>
        <p:spPr>
          <a:xfrm>
            <a:off x="11064240" y="2231135"/>
            <a:ext cx="310896" cy="310896"/>
          </a:xfrm>
          <a:prstGeom prst="rect">
            <a:avLst/>
          </a:prstGeom>
        </p:spPr>
      </p:pic>
      <p:pic>
        <p:nvPicPr>
          <p:cNvPr id="19" name="CardIcon 2" descr="02-layers.png"/>
          <p:cNvPicPr>
            <a:picLocks noChangeAspect="1"/>
          </p:cNvPicPr>
          <p:nvPr/>
        </p:nvPicPr>
        <p:blipFill>
          <a:blip r:embed="rId7"/>
          <a:stretch>
            <a:fillRect/>
          </a:stretch>
        </p:blipFill>
        <p:spPr>
          <a:xfrm>
            <a:off x="11064240" y="2962655"/>
            <a:ext cx="310896" cy="310896"/>
          </a:xfrm>
          <a:prstGeom prst="rect">
            <a:avLst/>
          </a:prstGeom>
        </p:spPr>
      </p:pic>
      <p:pic>
        <p:nvPicPr>
          <p:cNvPr id="22" name="CardIcon 3" descr="03-apps.png"/>
          <p:cNvPicPr>
            <a:picLocks noChangeAspect="1"/>
          </p:cNvPicPr>
          <p:nvPr/>
        </p:nvPicPr>
        <p:blipFill>
          <a:blip r:embed="rId8"/>
          <a:stretch>
            <a:fillRect/>
          </a:stretch>
        </p:blipFill>
        <p:spPr>
          <a:xfrm>
            <a:off x="11064240" y="3694175"/>
            <a:ext cx="310896" cy="310896"/>
          </a:xfrm>
          <a:prstGeom prst="rect">
            <a:avLst/>
          </a:prstGeom>
        </p:spPr>
      </p:pic>
      <p:pic>
        <p:nvPicPr>
          <p:cNvPr id="25" name="CardIcon 4" descr="04-doccheck.png"/>
          <p:cNvPicPr>
            <a:picLocks noChangeAspect="1"/>
          </p:cNvPicPr>
          <p:nvPr/>
        </p:nvPicPr>
        <p:blipFill>
          <a:blip r:embed="rId9"/>
          <a:stretch>
            <a:fillRect/>
          </a:stretch>
        </p:blipFill>
        <p:spPr>
          <a:xfrm>
            <a:off x="11064240" y="4425695"/>
            <a:ext cx="310896" cy="310896"/>
          </a:xfrm>
          <a:prstGeom prst="rect">
            <a:avLst/>
          </a:prstGeom>
        </p:spPr>
      </p:pic>
      <p:pic>
        <p:nvPicPr>
          <p:cNvPr id="28" name="CardIcon 5" descr="05-steps.png"/>
          <p:cNvPicPr>
            <a:picLocks noChangeAspect="1"/>
          </p:cNvPicPr>
          <p:nvPr/>
        </p:nvPicPr>
        <p:blipFill>
          <a:blip r:embed="rId10"/>
          <a:stretch>
            <a:fillRect/>
          </a:stretch>
        </p:blipFill>
        <p:spPr>
          <a:xfrm>
            <a:off x="11064240" y="5157215"/>
            <a:ext cx="310896" cy="310896"/>
          </a:xfrm>
          <a:prstGeom prst="rect">
            <a:avLst/>
          </a:prstGeom>
        </p:spPr>
      </p:pic>
      <p:pic>
        <p:nvPicPr>
          <p:cNvPr id="31" name="CardIcon 6" descr="06-folder.png"/>
          <p:cNvPicPr>
            <a:picLocks noChangeAspect="1"/>
          </p:cNvPicPr>
          <p:nvPr/>
        </p:nvPicPr>
        <p:blipFill>
          <a:blip r:embed="rId11"/>
          <a:stretch>
            <a:fillRect/>
          </a:stretch>
        </p:blipFill>
        <p:spPr>
          <a:xfrm>
            <a:off x="11064240" y="5888735"/>
            <a:ext cx="310896" cy="310896"/>
          </a:xfrm>
          <a:prstGeom prst="rect">
            <a:avLst/>
          </a:prstGeom>
        </p:spPr>
      </p:pic>
      <p:sp>
        <p:nvSpPr>
          <p:cNvPr id="32" name="BulletText 1"/>
          <p:cNvSpPr txBox="1"/>
          <p:nvPr/>
        </p:nvSpPr>
        <p:spPr>
          <a:xfrm>
            <a:off x="5074920" y="208483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להכיר את קופיילוט ולזהות מה זמין בחשבון שלכם.</a:t>
            </a:r>
          </a:p>
        </p:txBody>
      </p:sp>
      <p:sp>
        <p:nvSpPr>
          <p:cNvPr id="33" name="BulletText 2"/>
          <p:cNvSpPr txBox="1"/>
          <p:nvPr/>
        </p:nvSpPr>
        <p:spPr>
          <a:xfrm>
            <a:off x="5074920" y="281635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לבחור משימה שמתאימה לכלי ולדעת מה צריך לבדוק.</a:t>
            </a:r>
          </a:p>
        </p:txBody>
      </p:sp>
      <p:sp>
        <p:nvSpPr>
          <p:cNvPr id="34" name="BulletText 3"/>
          <p:cNvSpPr txBox="1"/>
          <p:nvPr/>
        </p:nvSpPr>
        <p:spPr>
          <a:xfrm>
            <a:off x="5074920" y="354787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להפיק תוצאה מקובץ ולבדוק אותה מול המקור.</a:t>
            </a:r>
          </a:p>
        </p:txBody>
      </p:sp>
      <p:sp>
        <p:nvSpPr>
          <p:cNvPr id="35" name="BulletText 4"/>
          <p:cNvSpPr txBox="1"/>
          <p:nvPr/>
        </p:nvSpPr>
        <p:spPr>
          <a:xfrm>
            <a:off x="5074920" y="427939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לסכם מידע, לחלץ משימות ולהכין טיוטת תשובה.</a:t>
            </a:r>
          </a:p>
        </p:txBody>
      </p:sp>
      <p:sp>
        <p:nvSpPr>
          <p:cNvPr id="36" name="BulletText 5"/>
          <p:cNvSpPr txBox="1"/>
          <p:nvPr/>
        </p:nvSpPr>
        <p:spPr>
          <a:xfrm>
            <a:off x="5074920" y="501091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לנסח בקשה ברורה עם מטרה, מקור ומבנה.</a:t>
            </a:r>
          </a:p>
        </p:txBody>
      </p:sp>
      <p:sp>
        <p:nvSpPr>
          <p:cNvPr id="37" name="BulletText 6"/>
          <p:cNvSpPr txBox="1"/>
          <p:nvPr/>
        </p:nvSpPr>
        <p:spPr>
          <a:xfrm>
            <a:off x="5074920" y="5742431"/>
            <a:ext cx="5870448" cy="731520"/>
          </a:xfrm>
          <a:prstGeom prst="rect">
            <a:avLst/>
          </a:prstGeom>
          <a:noFill/>
        </p:spPr>
        <p:txBody>
          <a:bodyPr wrap="square" lIns="0" rIns="0" tIns="0" bIns="0"/>
          <a:lstStyle/>
          <a:p>
            <a:pPr algn="r" rtl="1"/>
            <a:r>
              <a:rPr sz="1700">
                <a:solidFill>
                  <a:srgbClr val="56616B"/>
                </a:solidFill>
                <a:latin typeface="Segoe UI"/>
                <a:cs typeface="Segoe UI"/>
                <a:ea typeface="Segoe UI"/>
              </a:rPr>
              <a:t>לצאת עם תוצר בדוק ועם משימה לביצוע מחר.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3.png"/>
          <p:cNvPicPr>
            <a:picLocks noChangeAspect="1"/>
          </p:cNvPicPr>
          <p:nvPr/>
        </p:nvPicPr>
        <p:blipFill>
          <a:blip r:embed="rId10"/>
          <a:stretch>
            <a:fillRect/>
          </a:stretch>
        </p:blipFill>
        <p:spPr>
          <a:xfrm>
            <a:off x="868680" y="2029968"/>
            <a:ext cx="438912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א ג׳ נ ד ה</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dirty="0">
                <a:solidFill>
                  <a:srgbClr val="16181A"/>
                </a:solidFill>
                <a:latin typeface="Segoe UI"/>
              </a:rPr>
              <a:t>מסלול ההדרכה</a:t>
            </a:r>
            <a:endParaRPr lang="en-US" sz="2700" b="1" dirty="0">
              <a:solidFill>
                <a:srgbClr val="16181A"/>
              </a:solidFill>
              <a:latin typeface="Segoe UI"/>
            </a:endParaRPr>
          </a:p>
        </p:txBody>
      </p:sp>
      <p:sp>
        <p:nvSpPr>
          <p:cNvPr id="8" name="TextBox 7"/>
          <p:cNvSpPr txBox="1"/>
          <p:nvPr/>
        </p:nvSpPr>
        <p:spPr>
          <a:xfrm>
            <a:off x="777240" y="2267712"/>
            <a:ext cx="10637215" cy="1982081"/>
          </a:xfrm>
          <a:prstGeom prst="rect">
            <a:avLst/>
          </a:prstGeom>
          <a:noFill/>
        </p:spPr>
        <p:txBody>
          <a:bodyPr wrap="square" lIns="0" tIns="0" rIns="0" bIns="0">
            <a:spAutoFit/>
          </a:bodyPr>
          <a:lstStyle/>
          <a:p>
            <a:pPr algn="r" rtl="1">
              <a:lnSpc>
                <a:spcPct val="130000"/>
              </a:lnSpc>
              <a:spcBef>
                <a:spcPts val="1000"/>
              </a:spcBef>
            </a:pPr>
            <a:endParaRPr lang="en-US" sz="1500" b="0" dirty="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01-copilot.png"/>
          <p:cNvPicPr>
            <a:picLocks noChangeAspect="1"/>
          </p:cNvPicPr>
          <p:nvPr/>
        </p:nvPicPr>
        <p:blipFill>
          <a:blip r:embed="rId5"/>
          <a:stretch>
            <a:fillRect/>
          </a:stretch>
        </p:blipFill>
        <p:spPr>
          <a:xfrm>
            <a:off x="11064240" y="2441448"/>
            <a:ext cx="310896" cy="310896"/>
          </a:xfrm>
          <a:prstGeom prst="rect">
            <a:avLst/>
          </a:prstGeom>
        </p:spPr>
      </p:pic>
      <p:sp>
        <p:nvSpPr>
          <p:cNvPr id="16" name="S3Bullet 1"/>
          <p:cNvSpPr txBox="1"/>
          <p:nvPr/>
        </p:nvSpPr>
        <p:spPr>
          <a:xfrm>
            <a:off x="5394960" y="2148840"/>
            <a:ext cx="5559552" cy="10515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היכרות עם הכלי ובדיקה מה זמין בחשבון שלכם</a:t>
            </a:r>
          </a:p>
        </p:txBody>
      </p:sp>
      <p:pic>
        <p:nvPicPr>
          <p:cNvPr id="19" name="Picture 18" descr="03-apps.png"/>
          <p:cNvPicPr>
            <a:picLocks noChangeAspect="1"/>
          </p:cNvPicPr>
          <p:nvPr/>
        </p:nvPicPr>
        <p:blipFill>
          <a:blip r:embed="rId7"/>
          <a:stretch>
            <a:fillRect/>
          </a:stretch>
        </p:blipFill>
        <p:spPr>
          <a:xfrm>
            <a:off x="11064240" y="3493008"/>
            <a:ext cx="310896" cy="310896"/>
          </a:xfrm>
          <a:prstGeom prst="rect">
            <a:avLst/>
          </a:prstGeom>
        </p:spPr>
      </p:pic>
      <p:sp>
        <p:nvSpPr>
          <p:cNvPr id="20" name="S3Bullet 3"/>
          <p:cNvSpPr txBox="1"/>
          <p:nvPr/>
        </p:nvSpPr>
        <p:spPr>
          <a:xfrm>
            <a:off x="5394960" y="3200400"/>
            <a:ext cx="5559552" cy="10515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בכל כלי: יכולות, דוגמה, ואז אתם מתרגלים</a:t>
            </a:r>
          </a:p>
        </p:txBody>
      </p:sp>
      <p:pic>
        <p:nvPicPr>
          <p:cNvPr id="21" name="Picture 20" descr="04-search.png"/>
          <p:cNvPicPr>
            <a:picLocks noChangeAspect="1"/>
          </p:cNvPicPr>
          <p:nvPr/>
        </p:nvPicPr>
        <p:blipFill>
          <a:blip r:embed="rId8"/>
          <a:stretch>
            <a:fillRect/>
          </a:stretch>
        </p:blipFill>
        <p:spPr>
          <a:xfrm>
            <a:off x="11064240" y="4544568"/>
            <a:ext cx="310896" cy="310896"/>
          </a:xfrm>
          <a:prstGeom prst="rect">
            <a:avLst/>
          </a:prstGeom>
        </p:spPr>
      </p:pic>
      <p:sp>
        <p:nvSpPr>
          <p:cNvPr id="22" name="S3Bullet 4"/>
          <p:cNvSpPr txBox="1"/>
          <p:nvPr/>
        </p:nvSpPr>
        <p:spPr>
          <a:xfrm>
            <a:off x="5394960" y="4251960"/>
            <a:ext cx="5559552" cy="10515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אחרי ההתנסות: מגבלות ובדיקת התוצאה</a:t>
            </a:r>
          </a:p>
        </p:txBody>
      </p:sp>
      <p:pic>
        <p:nvPicPr>
          <p:cNvPr id="23" name="Picture 22" descr="05-people.png"/>
          <p:cNvPicPr>
            <a:picLocks noChangeAspect="1"/>
          </p:cNvPicPr>
          <p:nvPr/>
        </p:nvPicPr>
        <p:blipFill>
          <a:blip r:embed="rId9"/>
          <a:stretch>
            <a:fillRect/>
          </a:stretch>
        </p:blipFill>
        <p:spPr>
          <a:xfrm>
            <a:off x="11064240" y="5596128"/>
            <a:ext cx="310896" cy="310896"/>
          </a:xfrm>
          <a:prstGeom prst="rect">
            <a:avLst/>
          </a:prstGeom>
        </p:spPr>
      </p:pic>
      <p:sp>
        <p:nvSpPr>
          <p:cNvPr id="24" name="S3Bullet 5"/>
          <p:cNvSpPr txBox="1"/>
          <p:nvPr/>
        </p:nvSpPr>
        <p:spPr>
          <a:xfrm>
            <a:off x="5394960" y="5303520"/>
            <a:ext cx="5559552" cy="10515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עד 10 דקות לכל כלי, ובסוף המקרים שלכם</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4.png"/>
          <p:cNvPicPr>
            <a:picLocks noChangeAspect="1"/>
          </p:cNvPicPr>
          <p:nvPr/>
        </p:nvPicPr>
        <p:blipFill>
          <a:blip r:embed="rId10"/>
          <a:stretch>
            <a:fillRect/>
          </a:stretch>
        </p:blipFill>
        <p:spPr>
          <a:xfrm>
            <a:off x="868680" y="2029968"/>
            <a:ext cx="411480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כ נ ו ת</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לפני שמתחילים — מה להכין</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4/27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01-pc.png"/>
          <p:cNvPicPr>
            <a:picLocks noChangeAspect="1"/>
          </p:cNvPicPr>
          <p:nvPr/>
        </p:nvPicPr>
        <p:blipFill>
          <a:blip r:embed="rId5"/>
          <a:stretch>
            <a:fillRect/>
          </a:stretch>
        </p:blipFill>
        <p:spPr>
          <a:xfrm>
            <a:off x="11064240" y="2304287"/>
            <a:ext cx="310896" cy="310896"/>
          </a:xfrm>
          <a:prstGeom prst="rect">
            <a:avLst/>
          </a:prstGeom>
        </p:spPr>
      </p:pic>
      <p:sp>
        <p:nvSpPr>
          <p:cNvPr id="16" name="S4Bullet 1"/>
          <p:cNvSpPr txBox="1"/>
          <p:nvPr/>
        </p:nvSpPr>
        <p:spPr>
          <a:xfrm>
            <a:off x="5074920" y="2084831"/>
            <a:ext cx="5870448"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מחשב מחובר לחשבון מיקרוסופט 365 של הארגון.</a:t>
            </a:r>
          </a:p>
        </p:txBody>
      </p:sp>
      <p:pic>
        <p:nvPicPr>
          <p:cNvPr id="17" name="Picture 16" descr="02-excel.png"/>
          <p:cNvPicPr>
            <a:picLocks noChangeAspect="1"/>
          </p:cNvPicPr>
          <p:nvPr/>
        </p:nvPicPr>
        <p:blipFill>
          <a:blip r:embed="rId6"/>
          <a:stretch>
            <a:fillRect/>
          </a:stretch>
        </p:blipFill>
        <p:spPr>
          <a:xfrm>
            <a:off x="11064240" y="3145535"/>
            <a:ext cx="310896" cy="310896"/>
          </a:xfrm>
          <a:prstGeom prst="rect">
            <a:avLst/>
          </a:prstGeom>
        </p:spPr>
      </p:pic>
      <p:sp>
        <p:nvSpPr>
          <p:cNvPr id="18" name="S4Bullet 2"/>
          <p:cNvSpPr txBox="1"/>
          <p:nvPr/>
        </p:nvSpPr>
        <p:spPr>
          <a:xfrm>
            <a:off x="5074920" y="2926079"/>
            <a:ext cx="5870448"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ערכת התרגול פתוחה: אקסל, מסמך, בריף ושרשור מייל.</a:t>
            </a:r>
          </a:p>
        </p:txBody>
      </p:sp>
      <p:pic>
        <p:nvPicPr>
          <p:cNvPr id="19" name="Picture 18" descr="03-mail.png"/>
          <p:cNvPicPr>
            <a:picLocks noChangeAspect="1"/>
          </p:cNvPicPr>
          <p:nvPr/>
        </p:nvPicPr>
        <p:blipFill>
          <a:blip r:embed="rId7"/>
          <a:stretch>
            <a:fillRect/>
          </a:stretch>
        </p:blipFill>
        <p:spPr>
          <a:xfrm>
            <a:off x="11064240" y="3986783"/>
            <a:ext cx="310896" cy="310896"/>
          </a:xfrm>
          <a:prstGeom prst="rect">
            <a:avLst/>
          </a:prstGeom>
        </p:spPr>
      </p:pic>
      <p:sp>
        <p:nvSpPr>
          <p:cNvPr id="20" name="S4Bullet 3"/>
          <p:cNvSpPr txBox="1"/>
          <p:nvPr/>
        </p:nvSpPr>
        <p:spPr>
          <a:xfrm>
            <a:off x="5074920" y="3767327"/>
            <a:ext cx="5870448"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עובדים על עותק אישי ושומרים את קובצי המקור.</a:t>
            </a:r>
          </a:p>
        </p:txBody>
      </p:sp>
      <p:pic>
        <p:nvPicPr>
          <p:cNvPr id="21" name="Picture 20" descr="04-cloud.png"/>
          <p:cNvPicPr>
            <a:picLocks noChangeAspect="1"/>
          </p:cNvPicPr>
          <p:nvPr/>
        </p:nvPicPr>
        <p:blipFill>
          <a:blip r:embed="rId8"/>
          <a:stretch>
            <a:fillRect/>
          </a:stretch>
        </p:blipFill>
        <p:spPr>
          <a:xfrm>
            <a:off x="11064240" y="4828031"/>
            <a:ext cx="310896" cy="310896"/>
          </a:xfrm>
          <a:prstGeom prst="rect">
            <a:avLst/>
          </a:prstGeom>
        </p:spPr>
      </p:pic>
      <p:sp>
        <p:nvSpPr>
          <p:cNvPr id="22" name="S4Bullet 4"/>
          <p:cNvSpPr txBox="1"/>
          <p:nvPr/>
        </p:nvSpPr>
        <p:spPr>
          <a:xfrm>
            <a:off x="5074920" y="4608575"/>
            <a:ext cx="5870448"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לעריכה בענן: שמרו עותק ב־וואן דרייב או ב־שיירפוינט.</a:t>
            </a:r>
          </a:p>
        </p:txBody>
      </p:sp>
      <p:pic>
        <p:nvPicPr>
          <p:cNvPr id="23" name="Picture 22" descr="05-send.png"/>
          <p:cNvPicPr>
            <a:picLocks noChangeAspect="1"/>
          </p:cNvPicPr>
          <p:nvPr/>
        </p:nvPicPr>
        <p:blipFill>
          <a:blip r:embed="rId9"/>
          <a:stretch>
            <a:fillRect/>
          </a:stretch>
        </p:blipFill>
        <p:spPr>
          <a:xfrm>
            <a:off x="11064240" y="5669279"/>
            <a:ext cx="310896" cy="310896"/>
          </a:xfrm>
          <a:prstGeom prst="rect">
            <a:avLst/>
          </a:prstGeom>
        </p:spPr>
      </p:pic>
      <p:sp>
        <p:nvSpPr>
          <p:cNvPr id="24" name="S4Bullet 5"/>
          <p:cNvSpPr txBox="1"/>
          <p:nvPr/>
        </p:nvSpPr>
        <p:spPr>
          <a:xfrm>
            <a:off x="5074920" y="5449823"/>
            <a:ext cx="5870448"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מקרה מהעבודה מביאים מראש, רק עם מידע שמותר לשתף.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5.png"/>
          <p:cNvPicPr>
            <a:picLocks noChangeAspect="1"/>
          </p:cNvPicPr>
          <p:nvPr/>
        </p:nvPicPr>
        <p:blipFill>
          <a:blip r:embed="rId10"/>
          <a:stretch>
            <a:fillRect/>
          </a:stretch>
        </p:blipFill>
        <p:spPr>
          <a:xfrm>
            <a:off x="868680" y="2029968"/>
            <a:ext cx="402336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מ ה ו   C o p i l o t</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מהו Copilot, בשפה פשוטה</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5/27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01-copilot.png"/>
          <p:cNvPicPr>
            <a:picLocks noChangeAspect="1"/>
          </p:cNvPicPr>
          <p:nvPr/>
        </p:nvPicPr>
        <p:blipFill>
          <a:blip r:embed="rId5"/>
          <a:stretch>
            <a:fillRect/>
          </a:stretch>
        </p:blipFill>
        <p:spPr>
          <a:xfrm>
            <a:off x="11064240" y="2304287"/>
            <a:ext cx="310896" cy="310896"/>
          </a:xfrm>
          <a:prstGeom prst="rect">
            <a:avLst/>
          </a:prstGeom>
        </p:spPr>
      </p:pic>
      <p:sp>
        <p:nvSpPr>
          <p:cNvPr id="16" name="S5Bullet 1"/>
          <p:cNvSpPr txBox="1"/>
          <p:nvPr/>
        </p:nvSpPr>
        <p:spPr>
          <a:xfrm>
            <a:off x="5029200" y="2084831"/>
            <a:ext cx="5925312"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עוזר מבוסס בינה מלאכותית לניסוח, סיכום וניתוח.</a:t>
            </a:r>
          </a:p>
        </p:txBody>
      </p:sp>
      <p:pic>
        <p:nvPicPr>
          <p:cNvPr id="17" name="Picture 16" descr="02-chat.png"/>
          <p:cNvPicPr>
            <a:picLocks noChangeAspect="1"/>
          </p:cNvPicPr>
          <p:nvPr/>
        </p:nvPicPr>
        <p:blipFill>
          <a:blip r:embed="rId6"/>
          <a:stretch>
            <a:fillRect/>
          </a:stretch>
        </p:blipFill>
        <p:spPr>
          <a:xfrm>
            <a:off x="11064240" y="3145535"/>
            <a:ext cx="310896" cy="310896"/>
          </a:xfrm>
          <a:prstGeom prst="rect">
            <a:avLst/>
          </a:prstGeom>
        </p:spPr>
      </p:pic>
      <p:sp>
        <p:nvSpPr>
          <p:cNvPr id="18" name="S5Bullet 2"/>
          <p:cNvSpPr txBox="1"/>
          <p:nvPr/>
        </p:nvSpPr>
        <p:spPr>
          <a:xfrm>
            <a:off x="5029200" y="2926079"/>
            <a:ext cx="5925312"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בצ׳אט שואלים שאלה או נותנים משימה בשפה רגילה.</a:t>
            </a:r>
          </a:p>
        </p:txBody>
      </p:sp>
      <p:pic>
        <p:nvPicPr>
          <p:cNvPr id="19" name="Picture 18" descr="03-file.png"/>
          <p:cNvPicPr>
            <a:picLocks noChangeAspect="1"/>
          </p:cNvPicPr>
          <p:nvPr/>
        </p:nvPicPr>
        <p:blipFill>
          <a:blip r:embed="rId7"/>
          <a:stretch>
            <a:fillRect/>
          </a:stretch>
        </p:blipFill>
        <p:spPr>
          <a:xfrm>
            <a:off x="11064240" y="3986783"/>
            <a:ext cx="310896" cy="310896"/>
          </a:xfrm>
          <a:prstGeom prst="rect">
            <a:avLst/>
          </a:prstGeom>
        </p:spPr>
      </p:pic>
      <p:sp>
        <p:nvSpPr>
          <p:cNvPr id="20" name="S5Bullet 3"/>
          <p:cNvSpPr txBox="1"/>
          <p:nvPr/>
        </p:nvSpPr>
        <p:spPr>
          <a:xfrm>
            <a:off x="5029200" y="3767327"/>
            <a:ext cx="5925312"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לעבודה על נתונים פנימיים מספקים קובץ או מקור נגיש.</a:t>
            </a:r>
          </a:p>
        </p:txBody>
      </p:sp>
      <p:pic>
        <p:nvPicPr>
          <p:cNvPr id="21" name="Picture 20" descr="04-nofile.png"/>
          <p:cNvPicPr>
            <a:picLocks noChangeAspect="1"/>
          </p:cNvPicPr>
          <p:nvPr/>
        </p:nvPicPr>
        <p:blipFill>
          <a:blip r:embed="rId8"/>
          <a:stretch>
            <a:fillRect/>
          </a:stretch>
        </p:blipFill>
        <p:spPr>
          <a:xfrm>
            <a:off x="11064240" y="4828031"/>
            <a:ext cx="310896" cy="310896"/>
          </a:xfrm>
          <a:prstGeom prst="rect">
            <a:avLst/>
          </a:prstGeom>
        </p:spPr>
      </p:pic>
      <p:sp>
        <p:nvSpPr>
          <p:cNvPr id="22" name="S5Bullet 4"/>
          <p:cNvSpPr txBox="1"/>
          <p:nvPr/>
        </p:nvSpPr>
        <p:spPr>
          <a:xfrm>
            <a:off x="5029200" y="4608575"/>
            <a:ext cx="5925312"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גם תשובה בטוחה עלולה לטעות. מבקשים מקור ובודקים.</a:t>
            </a:r>
          </a:p>
        </p:txBody>
      </p:sp>
      <p:pic>
        <p:nvPicPr>
          <p:cNvPr id="23" name="Picture 22" descr="05-layers.png"/>
          <p:cNvPicPr>
            <a:picLocks noChangeAspect="1"/>
          </p:cNvPicPr>
          <p:nvPr/>
        </p:nvPicPr>
        <p:blipFill>
          <a:blip r:embed="rId9"/>
          <a:stretch>
            <a:fillRect/>
          </a:stretch>
        </p:blipFill>
        <p:spPr>
          <a:xfrm>
            <a:off x="11064240" y="5669279"/>
            <a:ext cx="310896" cy="310896"/>
          </a:xfrm>
          <a:prstGeom prst="rect">
            <a:avLst/>
          </a:prstGeom>
        </p:spPr>
      </p:pic>
      <p:sp>
        <p:nvSpPr>
          <p:cNvPr id="24" name="S5Bullet 5"/>
          <p:cNvSpPr txBox="1"/>
          <p:nvPr/>
        </p:nvSpPr>
        <p:spPr>
          <a:xfrm>
            <a:off x="5029200" y="5449823"/>
            <a:ext cx="5925312" cy="84124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היכולות משתנות לפי החשבון והגדרות הארגון.</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6.png"/>
          <p:cNvPicPr>
            <a:picLocks noChangeAspect="1"/>
          </p:cNvPicPr>
          <p:nvPr/>
        </p:nvPicPr>
        <p:blipFill>
          <a:blip r:embed="rId5"/>
          <a:stretch>
            <a:fillRect/>
          </a:stretch>
        </p:blipFill>
        <p:spPr>
          <a:xfrm>
            <a:off x="868680" y="2011680"/>
            <a:ext cx="4617720" cy="132588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מ ה   כ ל ו ל</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כלול, ומה תלוי בארגון</a:t>
            </a:r>
            <a:endParaRPr lang="en-US" sz="2700" b="1">
              <a:solidFill>
                <a:srgbClr val="16181A"/>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6/27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Word" descr="word.png"/>
          <p:cNvPicPr>
            <a:picLocks noChangeAspect="1"/>
          </p:cNvPicPr>
          <p:nvPr/>
        </p:nvPicPr>
        <p:blipFill>
          <a:blip r:embed="rId13"/>
          <a:stretch>
            <a:fillRect/>
          </a:stretch>
        </p:blipFill>
        <p:spPr>
          <a:xfrm>
            <a:off x="868680" y="3447288"/>
            <a:ext cx="4617720" cy="1325880"/>
          </a:xfrm>
          <a:prstGeom prst="roundRect">
            <a:avLst>
              <a:gd name="adj" fmla="val 6000"/>
            </a:avLst>
          </a:prstGeom>
          <a:effectLst>
            <a:outerShdw blurRad="50800" dist="31750" dir="5400000" algn="tl" rotWithShape="0">
              <a:srgbClr val="141818">
                <a:alpha val="16000"/>
              </a:srgbClr>
            </a:outerShdw>
          </a:effectLst>
        </p:spPr>
      </p:pic>
      <p:pic>
        <p:nvPicPr>
          <p:cNvPr id="16" name="Picture PPT" descr="ppt.png"/>
          <p:cNvPicPr>
            <a:picLocks noChangeAspect="1"/>
          </p:cNvPicPr>
          <p:nvPr/>
        </p:nvPicPr>
        <p:blipFill>
          <a:blip r:embed="rId14"/>
          <a:stretch>
            <a:fillRect/>
          </a:stretch>
        </p:blipFill>
        <p:spPr>
          <a:xfrm>
            <a:off x="868680" y="4882896"/>
            <a:ext cx="4617720" cy="1325880"/>
          </a:xfrm>
          <a:prstGeom prst="roundRect">
            <a:avLst>
              <a:gd name="adj" fmla="val 6000"/>
            </a:avLst>
          </a:prstGeom>
          <a:effectLst>
            <a:outerShdw blurRad="50800" dist="31750" dir="5400000" algn="tl" rotWithShape="0">
              <a:srgbClr val="141818">
                <a:alpha val="16000"/>
              </a:srgbClr>
            </a:outerShdw>
          </a:effectLst>
        </p:spPr>
      </p:pic>
      <p:pic>
        <p:nvPicPr>
          <p:cNvPr id="17" name="Picture 16" descr="check.png"/>
          <p:cNvPicPr>
            <a:picLocks noChangeAspect="1"/>
          </p:cNvPicPr>
          <p:nvPr/>
        </p:nvPicPr>
        <p:blipFill>
          <a:blip r:embed="rId15"/>
          <a:stretch>
            <a:fillRect/>
          </a:stretch>
        </p:blipFill>
        <p:spPr>
          <a:xfrm>
            <a:off x="11064240" y="2066544"/>
            <a:ext cx="274320" cy="274320"/>
          </a:xfrm>
          <a:prstGeom prst="rect">
            <a:avLst/>
          </a:prstGeom>
        </p:spPr>
      </p:pic>
      <p:sp>
        <p:nvSpPr>
          <p:cNvPr id="18" name="S6Bullet 1"/>
          <p:cNvSpPr txBox="1"/>
          <p:nvPr/>
        </p:nvSpPr>
        <p:spPr>
          <a:xfrm>
            <a:off x="5669280" y="2029968"/>
            <a:ext cx="5276088" cy="65836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בחשבון העבודה חלות הגנות מידע ארגוניות.</a:t>
            </a:r>
          </a:p>
        </p:txBody>
      </p:sp>
      <p:pic>
        <p:nvPicPr>
          <p:cNvPr id="19" name="Picture 18" descr="check.png"/>
          <p:cNvPicPr>
            <a:picLocks noChangeAspect="1"/>
          </p:cNvPicPr>
          <p:nvPr/>
        </p:nvPicPr>
        <p:blipFill>
          <a:blip r:embed="rId15"/>
          <a:stretch>
            <a:fillRect/>
          </a:stretch>
        </p:blipFill>
        <p:spPr>
          <a:xfrm>
            <a:off x="11064240" y="2724912"/>
            <a:ext cx="274320" cy="274320"/>
          </a:xfrm>
          <a:prstGeom prst="rect">
            <a:avLst/>
          </a:prstGeom>
        </p:spPr>
      </p:pic>
      <p:sp>
        <p:nvSpPr>
          <p:cNvPr id="20" name="S6Bullet 2"/>
          <p:cNvSpPr txBox="1"/>
          <p:nvPr/>
        </p:nvSpPr>
        <p:spPr>
          <a:xfrm>
            <a:off x="5669280" y="2688336"/>
            <a:ext cx="5276088" cy="65836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עבודה ב־וורד, אקסל ופאוורפוינט לפי הזמינות אצלכם.</a:t>
            </a:r>
          </a:p>
        </p:txBody>
      </p:sp>
      <p:pic>
        <p:nvPicPr>
          <p:cNvPr id="21" name="Picture 20" descr="check.png"/>
          <p:cNvPicPr>
            <a:picLocks noChangeAspect="1"/>
          </p:cNvPicPr>
          <p:nvPr/>
        </p:nvPicPr>
        <p:blipFill>
          <a:blip r:embed="rId15"/>
          <a:stretch>
            <a:fillRect/>
          </a:stretch>
        </p:blipFill>
        <p:spPr>
          <a:xfrm>
            <a:off x="11064240" y="3383280"/>
            <a:ext cx="274320" cy="274320"/>
          </a:xfrm>
          <a:prstGeom prst="rect">
            <a:avLst/>
          </a:prstGeom>
        </p:spPr>
      </p:pic>
      <p:sp>
        <p:nvSpPr>
          <p:cNvPr id="22" name="S6Bullet 3"/>
          <p:cNvSpPr txBox="1"/>
          <p:nvPr/>
        </p:nvSpPr>
        <p:spPr>
          <a:xfrm>
            <a:off x="5669280" y="3346704"/>
            <a:ext cx="5276088" cy="65836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סיוע בחישובים, בסיכומים ובעריכת תוכן.</a:t>
            </a:r>
          </a:p>
        </p:txBody>
      </p:sp>
      <p:pic>
        <p:nvPicPr>
          <p:cNvPr id="23" name="Picture 22" descr="check.png"/>
          <p:cNvPicPr>
            <a:picLocks noChangeAspect="1"/>
          </p:cNvPicPr>
          <p:nvPr/>
        </p:nvPicPr>
        <p:blipFill>
          <a:blip r:embed="rId15"/>
          <a:stretch>
            <a:fillRect/>
          </a:stretch>
        </p:blipFill>
        <p:spPr>
          <a:xfrm>
            <a:off x="11064240" y="4041648"/>
            <a:ext cx="274320" cy="274320"/>
          </a:xfrm>
          <a:prstGeom prst="rect">
            <a:avLst/>
          </a:prstGeom>
        </p:spPr>
      </p:pic>
      <p:sp>
        <p:nvSpPr>
          <p:cNvPr id="24" name="S6Bullet 4"/>
          <p:cNvSpPr txBox="1"/>
          <p:nvPr/>
        </p:nvSpPr>
        <p:spPr>
          <a:xfrm>
            <a:off x="5669280" y="4005072"/>
            <a:ext cx="5276088" cy="65836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צירוף קובץ לצ׳אט, כשהאפשרות מאושרת בארגון.</a:t>
            </a:r>
          </a:p>
        </p:txBody>
      </p:sp>
      <p:pic>
        <p:nvPicPr>
          <p:cNvPr id="25" name="Picture 24" descr="asterisk.png"/>
          <p:cNvPicPr>
            <a:picLocks noChangeAspect="1"/>
          </p:cNvPicPr>
          <p:nvPr/>
        </p:nvPicPr>
        <p:blipFill>
          <a:blip r:embed="rId16"/>
          <a:stretch>
            <a:fillRect/>
          </a:stretch>
        </p:blipFill>
        <p:spPr>
          <a:xfrm>
            <a:off x="11064240" y="4700016"/>
            <a:ext cx="274320" cy="274320"/>
          </a:xfrm>
          <a:prstGeom prst="rect">
            <a:avLst/>
          </a:prstGeom>
        </p:spPr>
      </p:pic>
      <p:sp>
        <p:nvSpPr>
          <p:cNvPr id="26" name="S6Bullet 5"/>
          <p:cNvSpPr txBox="1"/>
          <p:nvPr/>
        </p:nvSpPr>
        <p:spPr>
          <a:xfrm>
            <a:off x="5669280" y="4663440"/>
            <a:ext cx="5276088" cy="65836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סיכום פגישות ב־טימס תלוי ברישוי ובהגדרות.</a:t>
            </a:r>
          </a:p>
        </p:txBody>
      </p:sp>
      <p:sp>
        <p:nvSpPr>
          <p:cNvPr id="27" name="S6Note"/>
          <p:cNvSpPr txBox="1"/>
          <p:nvPr/>
        </p:nvSpPr>
        <p:spPr>
          <a:xfrm>
            <a:off x="777240" y="6327648"/>
            <a:ext cx="10634472" cy="365760"/>
          </a:xfrm>
          <a:prstGeom prst="rect">
            <a:avLst/>
          </a:prstGeom>
          <a:noFill/>
        </p:spPr>
        <p:txBody>
          <a:bodyPr wrap="square">
            <a:spAutoFit/>
          </a:bodyPr>
          <a:lstStyle/>
          <a:p>
            <a:pPr algn="r" rtl="1"/>
            <a:r>
              <a:rPr sz="1300">
                <a:solidFill>
                  <a:srgbClr val="707878"/>
                </a:solidFill>
                <a:latin typeface="Segoe UI"/>
                <a:cs typeface="Segoe UI"/>
                <a:ea typeface="Segoe UI"/>
              </a:rPr>
              <a:t>* בודקים בפועל את החשבון ואת היכולת לפני ההדגמה.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07.png"/>
          <p:cNvPicPr>
            <a:picLocks noChangeAspect="1"/>
          </p:cNvPicPr>
          <p:nvPr/>
        </p:nvPicPr>
        <p:blipFill>
          <a:blip r:embed="rId10"/>
          <a:stretch>
            <a:fillRect/>
          </a:stretch>
        </p:blipFill>
        <p:spPr>
          <a:xfrm>
            <a:off x="868680" y="2029968"/>
            <a:ext cx="393192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ש י ט ה</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כיצד מבקשים מ-Copilot תוצאה שימושית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7/27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image.png"/>
          <p:cNvPicPr>
            <a:picLocks noChangeAspect="1"/>
          </p:cNvPicPr>
          <p:nvPr/>
        </p:nvPicPr>
        <p:blipFill>
          <a:blip r:embed="rId6"/>
          <a:stretch>
            <a:fillRect/>
          </a:stretch>
        </p:blipFill>
        <p:spPr>
          <a:xfrm>
            <a:off x="11064240" y="2157984"/>
            <a:ext cx="310896" cy="310896"/>
          </a:xfrm>
          <a:prstGeom prst="rect">
            <a:avLst/>
          </a:prstGeom>
        </p:spPr>
      </p:pic>
      <p:sp>
        <p:nvSpPr>
          <p:cNvPr id="16" name="S7Bullet 1"/>
          <p:cNvSpPr txBox="1"/>
          <p:nvPr/>
        </p:nvSpPr>
        <p:spPr>
          <a:xfrm>
            <a:off x="5120640" y="2084831"/>
            <a:ext cx="582472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מטרה ומבנה: מה רוצים להשיג ואיך תיראה התוצאה.</a:t>
            </a:r>
          </a:p>
        </p:txBody>
      </p:sp>
      <p:pic>
        <p:nvPicPr>
          <p:cNvPr id="17" name="Picture 16" descr="image.png"/>
          <p:cNvPicPr>
            <a:picLocks noChangeAspect="1"/>
          </p:cNvPicPr>
          <p:nvPr/>
        </p:nvPicPr>
        <p:blipFill>
          <a:blip r:embed="rId7"/>
          <a:stretch>
            <a:fillRect/>
          </a:stretch>
        </p:blipFill>
        <p:spPr>
          <a:xfrm>
            <a:off x="11064240" y="3072384"/>
            <a:ext cx="310896" cy="310896"/>
          </a:xfrm>
          <a:prstGeom prst="rect">
            <a:avLst/>
          </a:prstGeom>
        </p:spPr>
      </p:pic>
      <p:sp>
        <p:nvSpPr>
          <p:cNvPr id="18" name="S7Bullet 2"/>
          <p:cNvSpPr txBox="1"/>
          <p:nvPr/>
        </p:nvSpPr>
        <p:spPr>
          <a:xfrm>
            <a:off x="5120640" y="2999232"/>
            <a:ext cx="582472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הקשר: מצרפים מקור ומגדירים על מה להסתמך.</a:t>
            </a:r>
          </a:p>
        </p:txBody>
      </p:sp>
      <p:pic>
        <p:nvPicPr>
          <p:cNvPr id="19" name="Picture 18" descr="image.png"/>
          <p:cNvPicPr>
            <a:picLocks noChangeAspect="1"/>
          </p:cNvPicPr>
          <p:nvPr/>
        </p:nvPicPr>
        <p:blipFill>
          <a:blip r:embed="rId8"/>
          <a:stretch>
            <a:fillRect/>
          </a:stretch>
        </p:blipFill>
        <p:spPr>
          <a:xfrm>
            <a:off x="11064240" y="3986783"/>
            <a:ext cx="310896" cy="310896"/>
          </a:xfrm>
          <a:prstGeom prst="rect">
            <a:avLst/>
          </a:prstGeom>
        </p:spPr>
      </p:pic>
      <p:sp>
        <p:nvSpPr>
          <p:cNvPr id="20" name="S7Bullet 3"/>
          <p:cNvSpPr txBox="1"/>
          <p:nvPr/>
        </p:nvSpPr>
        <p:spPr>
          <a:xfrm>
            <a:off x="5120640" y="3913631"/>
            <a:ext cx="582472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משווים למקור ומתקנים לפני שמעבירים הלאה.</a:t>
            </a:r>
          </a:p>
        </p:txBody>
      </p:sp>
      <p:pic>
        <p:nvPicPr>
          <p:cNvPr id="21" name="Picture 20" descr="image.png"/>
          <p:cNvPicPr>
            <a:picLocks noChangeAspect="1"/>
          </p:cNvPicPr>
          <p:nvPr/>
        </p:nvPicPr>
        <p:blipFill>
          <a:blip r:embed="rId9"/>
          <a:stretch>
            <a:fillRect/>
          </a:stretch>
        </p:blipFill>
        <p:spPr>
          <a:xfrm>
            <a:off x="11064240" y="4901183"/>
            <a:ext cx="310896" cy="310896"/>
          </a:xfrm>
          <a:prstGeom prst="rect">
            <a:avLst/>
          </a:prstGeom>
        </p:spPr>
      </p:pic>
      <p:sp>
        <p:nvSpPr>
          <p:cNvPr id="22" name="S7Bullet 4"/>
          <p:cNvSpPr txBox="1"/>
          <p:nvPr/>
        </p:nvSpPr>
        <p:spPr>
          <a:xfrm>
            <a:off x="5120640" y="4828031"/>
            <a:ext cx="582472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למשל: מצא שתי חריגות בתקציב שעות והראה את החישוב.</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פ ר ו מ פ ט</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איך בונים פרומפט מותאם לעבודה שלכם</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dirty="0">
                <a:solidFill>
                  <a:srgbClr val="565C62"/>
                </a:solidFill>
                <a:latin typeface="Segoe UI"/>
              </a:rPr>
              <a:t>8/27</a:t>
            </a:r>
            <a:endParaRPr lang="en-US" sz="900" dirty="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01.png"/>
          <p:cNvPicPr>
            <a:picLocks noChangeAspect="1"/>
          </p:cNvPicPr>
          <p:nvPr/>
        </p:nvPicPr>
        <p:blipFill>
          <a:blip r:embed="rId7"/>
          <a:stretch>
            <a:fillRect/>
          </a:stretch>
        </p:blipFill>
        <p:spPr>
          <a:xfrm>
            <a:off x="11064240" y="2103120"/>
            <a:ext cx="274320" cy="274320"/>
          </a:xfrm>
          <a:prstGeom prst="rect">
            <a:avLst/>
          </a:prstGeom>
        </p:spPr>
      </p:pic>
      <p:sp>
        <p:nvSpPr>
          <p:cNvPr id="16" name="S8Bullet 1"/>
          <p:cNvSpPr txBox="1"/>
          <p:nvPr/>
        </p:nvSpPr>
        <p:spPr>
          <a:xfrm>
            <a:off x="4937760" y="2048256"/>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התחילו מהתהליך: מה אתם עושים ומה תרצו לשפר.</a:t>
            </a:r>
          </a:p>
        </p:txBody>
      </p:sp>
      <p:pic>
        <p:nvPicPr>
          <p:cNvPr id="17" name="Picture 16" descr="image.png"/>
          <p:cNvPicPr>
            <a:picLocks noChangeAspect="1"/>
          </p:cNvPicPr>
          <p:nvPr/>
        </p:nvPicPr>
        <p:blipFill>
          <a:blip r:embed="rId8"/>
          <a:stretch>
            <a:fillRect/>
          </a:stretch>
        </p:blipFill>
        <p:spPr>
          <a:xfrm>
            <a:off x="11064240" y="2852928"/>
            <a:ext cx="274320" cy="274320"/>
          </a:xfrm>
          <a:prstGeom prst="rect">
            <a:avLst/>
          </a:prstGeom>
        </p:spPr>
      </p:pic>
      <p:sp>
        <p:nvSpPr>
          <p:cNvPr id="18" name="S8Bullet 2"/>
          <p:cNvSpPr txBox="1"/>
          <p:nvPr/>
        </p:nvSpPr>
        <p:spPr>
          <a:xfrm>
            <a:off x="4937760" y="2798064"/>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ציינו תפקיד: למשל, אני מנהל פרויקטים.</a:t>
            </a:r>
          </a:p>
        </p:txBody>
      </p:sp>
      <p:pic>
        <p:nvPicPr>
          <p:cNvPr id="19" name="Picture 18" descr="image.png"/>
          <p:cNvPicPr>
            <a:picLocks noChangeAspect="1"/>
          </p:cNvPicPr>
          <p:nvPr/>
        </p:nvPicPr>
        <p:blipFill>
          <a:blip r:embed="rId9"/>
          <a:stretch>
            <a:fillRect/>
          </a:stretch>
        </p:blipFill>
        <p:spPr>
          <a:xfrm>
            <a:off x="11064240" y="3602736"/>
            <a:ext cx="274320" cy="274320"/>
          </a:xfrm>
          <a:prstGeom prst="rect">
            <a:avLst/>
          </a:prstGeom>
        </p:spPr>
      </p:pic>
      <p:sp>
        <p:nvSpPr>
          <p:cNvPr id="20" name="S8Bullet 3"/>
          <p:cNvSpPr txBox="1"/>
          <p:nvPr/>
        </p:nvSpPr>
        <p:spPr>
          <a:xfrm>
            <a:off x="4937760" y="3547872"/>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הגדירו מקור וכללים: עובדות מהקובץ בלבד.</a:t>
            </a:r>
          </a:p>
        </p:txBody>
      </p:sp>
      <p:pic>
        <p:nvPicPr>
          <p:cNvPr id="21" name="Picture 20" descr="04.png"/>
          <p:cNvPicPr>
            <a:picLocks noChangeAspect="1"/>
          </p:cNvPicPr>
          <p:nvPr/>
        </p:nvPicPr>
        <p:blipFill>
          <a:blip r:embed="rId10"/>
          <a:stretch>
            <a:fillRect/>
          </a:stretch>
        </p:blipFill>
        <p:spPr>
          <a:xfrm>
            <a:off x="11064240" y="4352544"/>
            <a:ext cx="274320" cy="274320"/>
          </a:xfrm>
          <a:prstGeom prst="rect">
            <a:avLst/>
          </a:prstGeom>
        </p:spPr>
      </p:pic>
      <p:sp>
        <p:nvSpPr>
          <p:cNvPr id="22" name="S8Bullet 4"/>
          <p:cNvSpPr txBox="1"/>
          <p:nvPr/>
        </p:nvSpPr>
        <p:spPr>
          <a:xfrm>
            <a:off x="4937760" y="4297680"/>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סמנו גבולות: אל תניח מה גרם לחריגה.</a:t>
            </a:r>
          </a:p>
        </p:txBody>
      </p:sp>
      <p:pic>
        <p:nvPicPr>
          <p:cNvPr id="23" name="Picture 22" descr="image.png"/>
          <p:cNvPicPr>
            <a:picLocks noChangeAspect="1"/>
          </p:cNvPicPr>
          <p:nvPr/>
        </p:nvPicPr>
        <p:blipFill>
          <a:blip r:embed="rId11"/>
          <a:stretch>
            <a:fillRect/>
          </a:stretch>
        </p:blipFill>
        <p:spPr>
          <a:xfrm>
            <a:off x="11064240" y="5102351"/>
            <a:ext cx="274320" cy="274320"/>
          </a:xfrm>
          <a:prstGeom prst="rect">
            <a:avLst/>
          </a:prstGeom>
        </p:spPr>
      </p:pic>
      <p:sp>
        <p:nvSpPr>
          <p:cNvPr id="24" name="S8Bullet 5"/>
          <p:cNvSpPr txBox="1"/>
          <p:nvPr/>
        </p:nvSpPr>
        <p:spPr>
          <a:xfrm>
            <a:off x="4937760" y="5047488"/>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אפשר לכתוב את ההתאמה בתחילת השיחה.</a:t>
            </a:r>
          </a:p>
        </p:txBody>
      </p:sp>
      <p:pic>
        <p:nvPicPr>
          <p:cNvPr id="25" name="Picture 24" descr="image.png"/>
          <p:cNvPicPr>
            <a:picLocks noChangeAspect="1"/>
          </p:cNvPicPr>
          <p:nvPr/>
        </p:nvPicPr>
        <p:blipFill>
          <a:blip r:embed="rId12"/>
          <a:stretch>
            <a:fillRect/>
          </a:stretch>
        </p:blipFill>
        <p:spPr>
          <a:xfrm>
            <a:off x="11064240" y="5852159"/>
            <a:ext cx="274320" cy="274320"/>
          </a:xfrm>
          <a:prstGeom prst="rect">
            <a:avLst/>
          </a:prstGeom>
        </p:spPr>
      </p:pic>
      <p:sp>
        <p:nvSpPr>
          <p:cNvPr id="26" name="S8Bullet 6"/>
          <p:cNvSpPr txBox="1"/>
          <p:nvPr/>
        </p:nvSpPr>
        <p:spPr>
          <a:xfrm>
            <a:off x="4937760" y="5797296"/>
            <a:ext cx="6007608" cy="749808"/>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התאימו את הדוגמה לתפקיד שלכם ושמרו אותה.</a:t>
            </a:r>
          </a:p>
        </p:txBody>
      </p:sp>
      <p:sp>
        <p:nvSpPr>
          <p:cNvPr id="28001" name="Workshop card background"/>
          <p:cNvSpPr txBox="1"/>
          <p:nvPr/>
        </p:nvSpPr>
        <p:spPr>
          <a:xfrm>
            <a:off x="868680" y="2029968"/>
            <a:ext cx="4480560" cy="4617720"/>
          </a:xfrm>
          <a:prstGeom prst="roundRect">
            <a:avLst>
              <a:gd name="adj" fmla="val 4000"/>
            </a:avLst>
          </a:prstGeom>
          <a:solidFill>
            <a:srgbClr val="FFFFFF"/>
          </a:solidFill>
          <a:ln>
            <a:noFill/>
          </a:ln>
        </p:spPr>
        <p:txBody>
          <a:bodyPr wrap="square" lIns="0" rIns="0" tIns="0" bIns="0" anchor="ctr"/>
          <a:lstStyle/>
          <a:p>
            <a:pPr algn="r" rtl="1"/>
            <a:r>
              <a:rPr lang="he-IL" sz="1700" b="0">
                <a:solidFill>
                  <a:srgbClr val="141818"/>
                </a:solidFill>
                <a:latin typeface="Segoe UI"/>
                <a:cs typeface="Segoe UI"/>
                <a:ea typeface="Segoe UI"/>
              </a:rPr>
              <a:t/>
            </a:r>
          </a:p>
        </p:txBody>
      </p:sp>
      <p:sp>
        <p:nvSpPr>
          <p:cNvPr id="28002" name="Workshop card title"/>
          <p:cNvSpPr txBox="1"/>
          <p:nvPr/>
        </p:nvSpPr>
        <p:spPr>
          <a:xfrm>
            <a:off x="1143000" y="2267712"/>
            <a:ext cx="3931920" cy="457200"/>
          </a:xfrm>
          <a:prstGeom prst="rect">
            <a:avLst/>
          </a:prstGeom>
          <a:noFill/>
          <a:ln>
            <a:noFill/>
          </a:ln>
        </p:spPr>
        <p:txBody>
          <a:bodyPr wrap="square" lIns="0" rIns="0" tIns="0" bIns="0" anchor="ctr"/>
          <a:lstStyle/>
          <a:p>
            <a:pPr algn="r" rtl="1"/>
            <a:r>
              <a:rPr lang="he-IL" sz="1900" b="1">
                <a:solidFill>
                  <a:srgbClr val="141818"/>
                </a:solidFill>
                <a:latin typeface="Segoe UI"/>
                <a:cs typeface="Segoe UI"/>
                <a:ea typeface="Segoe UI"/>
              </a:rPr>
              <a:t>פרומפט לדוגמה</a:t>
            </a:r>
          </a:p>
        </p:txBody>
      </p:sp>
      <p:sp>
        <p:nvSpPr>
          <p:cNvPr id="28010" name="Workshop label 0"/>
          <p:cNvSpPr txBox="1"/>
          <p:nvPr/>
        </p:nvSpPr>
        <p:spPr>
          <a:xfrm>
            <a:off x="1143000" y="2926080"/>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התפקיד שלי</a:t>
            </a:r>
          </a:p>
        </p:txBody>
      </p:sp>
      <p:sp>
        <p:nvSpPr>
          <p:cNvPr id="28011" name="Workshop detail 0"/>
          <p:cNvSpPr txBox="1"/>
          <p:nvPr/>
        </p:nvSpPr>
        <p:spPr>
          <a:xfrm>
            <a:off x="1143000" y="3273552"/>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אני מנהל פרויקטים</a:t>
            </a:r>
          </a:p>
        </p:txBody>
      </p:sp>
      <p:sp>
        <p:nvSpPr>
          <p:cNvPr id="28013" name="Workshop label 1"/>
          <p:cNvSpPr txBox="1"/>
          <p:nvPr/>
        </p:nvSpPr>
        <p:spPr>
          <a:xfrm>
            <a:off x="1143000" y="3730752"/>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המשימה והמקור</a:t>
            </a:r>
          </a:p>
        </p:txBody>
      </p:sp>
      <p:sp>
        <p:nvSpPr>
          <p:cNvPr id="28014" name="Workshop detail 1"/>
          <p:cNvSpPr txBox="1"/>
          <p:nvPr/>
        </p:nvSpPr>
        <p:spPr>
          <a:xfrm>
            <a:off x="1143000" y="4078224"/>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מצא חריגות בקובץ מעקב השעות</a:t>
            </a:r>
          </a:p>
        </p:txBody>
      </p:sp>
      <p:sp>
        <p:nvSpPr>
          <p:cNvPr id="28016" name="Workshop label 2"/>
          <p:cNvSpPr txBox="1"/>
          <p:nvPr/>
        </p:nvSpPr>
        <p:spPr>
          <a:xfrm>
            <a:off x="1143000" y="4535424"/>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מבנה התשובה</a:t>
            </a:r>
          </a:p>
        </p:txBody>
      </p:sp>
      <p:sp>
        <p:nvSpPr>
          <p:cNvPr id="28017" name="Workshop detail 2"/>
          <p:cNvSpPr txBox="1"/>
          <p:nvPr/>
        </p:nvSpPr>
        <p:spPr>
          <a:xfrm>
            <a:off x="1143000" y="4882896"/>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הצג טבלה וחישוב לכל חריגה</a:t>
            </a:r>
          </a:p>
        </p:txBody>
      </p:sp>
      <p:sp>
        <p:nvSpPr>
          <p:cNvPr id="28019" name="Workshop label 3"/>
          <p:cNvSpPr txBox="1"/>
          <p:nvPr/>
        </p:nvSpPr>
        <p:spPr>
          <a:xfrm>
            <a:off x="1143000" y="5340096"/>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גבולות ובדיקה</a:t>
            </a:r>
          </a:p>
        </p:txBody>
      </p:sp>
      <p:sp>
        <p:nvSpPr>
          <p:cNvPr id="28020" name="Workshop detail 3"/>
          <p:cNvSpPr txBox="1"/>
          <p:nvPr/>
        </p:nvSpPr>
        <p:spPr>
          <a:xfrm>
            <a:off x="1143000" y="5687568"/>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אל תנחש סיבות. סמן מידע חסר.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1.png"/>
          <p:cNvPicPr>
            <a:picLocks noChangeAspect="1"/>
          </p:cNvPicPr>
          <p:nvPr/>
        </p:nvPicPr>
        <p:blipFill>
          <a:blip r:embed="rId10"/>
          <a:stretch>
            <a:fillRect/>
          </a:stretch>
        </p:blipFill>
        <p:spPr>
          <a:xfrm>
            <a:off x="868680" y="2029968"/>
            <a:ext cx="379476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א ק ס ל</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אקסל: מה אפשר ומה צריך לדעת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dirty="0">
                <a:solidFill>
                  <a:srgbClr val="565C62"/>
                </a:solidFill>
                <a:latin typeface="Segoe UI"/>
              </a:rPr>
              <a:t>9/27</a:t>
            </a:r>
            <a:endParaRPr lang="en-US" sz="900" dirty="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2173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X</a:t>
            </a:r>
          </a:p>
        </p:txBody>
      </p:sp>
      <p:pic>
        <p:nvPicPr>
          <p:cNvPr id="16" name="Picture 15" descr="image.png"/>
          <p:cNvPicPr>
            <a:picLocks noChangeAspect="1"/>
          </p:cNvPicPr>
          <p:nvPr/>
        </p:nvPicPr>
        <p:blipFill>
          <a:blip r:embed="rId7"/>
          <a:stretch>
            <a:fillRect/>
          </a:stretch>
        </p:blipFill>
        <p:spPr>
          <a:xfrm>
            <a:off x="11064240" y="2121408"/>
            <a:ext cx="292608" cy="292608"/>
          </a:xfrm>
          <a:prstGeom prst="rect">
            <a:avLst/>
          </a:prstGeom>
        </p:spPr>
      </p:pic>
      <p:sp>
        <p:nvSpPr>
          <p:cNvPr id="17" name="S9Bullet 1"/>
          <p:cNvSpPr txBox="1"/>
          <p:nvPr/>
        </p:nvSpPr>
        <p:spPr>
          <a:xfrm>
            <a:off x="5029200" y="2066543"/>
            <a:ext cx="59161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חישוב הפרש וניתוח נתונים מתוך טבלה.</a:t>
            </a:r>
          </a:p>
        </p:txBody>
      </p:sp>
      <p:pic>
        <p:nvPicPr>
          <p:cNvPr id="18" name="Picture 17" descr="image.png"/>
          <p:cNvPicPr>
            <a:picLocks noChangeAspect="1"/>
          </p:cNvPicPr>
          <p:nvPr/>
        </p:nvPicPr>
        <p:blipFill>
          <a:blip r:embed="rId7"/>
          <a:stretch>
            <a:fillRect/>
          </a:stretch>
        </p:blipFill>
        <p:spPr>
          <a:xfrm>
            <a:off x="11064240" y="2944368"/>
            <a:ext cx="292608" cy="292608"/>
          </a:xfrm>
          <a:prstGeom prst="rect">
            <a:avLst/>
          </a:prstGeom>
        </p:spPr>
      </p:pic>
      <p:sp>
        <p:nvSpPr>
          <p:cNvPr id="19" name="S9Bullet 2"/>
          <p:cNvSpPr txBox="1"/>
          <p:nvPr/>
        </p:nvSpPr>
        <p:spPr>
          <a:xfrm>
            <a:off x="5029200" y="2889503"/>
            <a:ext cx="59161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זיהוי חריגה ותיקון התוצאה בבקשת המשך.</a:t>
            </a:r>
          </a:p>
        </p:txBody>
      </p:sp>
      <p:pic>
        <p:nvPicPr>
          <p:cNvPr id="20" name="Picture 19" descr="info.png"/>
          <p:cNvPicPr>
            <a:picLocks noChangeAspect="1"/>
          </p:cNvPicPr>
          <p:nvPr/>
        </p:nvPicPr>
        <p:blipFill>
          <a:blip r:embed="rId8"/>
          <a:stretch>
            <a:fillRect/>
          </a:stretch>
        </p:blipFill>
        <p:spPr>
          <a:xfrm>
            <a:off x="11064240" y="3767327"/>
            <a:ext cx="292608" cy="292608"/>
          </a:xfrm>
          <a:prstGeom prst="rect">
            <a:avLst/>
          </a:prstGeom>
        </p:spPr>
      </p:pic>
      <p:sp>
        <p:nvSpPr>
          <p:cNvPr id="21" name="S9Bullet 3"/>
          <p:cNvSpPr txBox="1"/>
          <p:nvPr/>
        </p:nvSpPr>
        <p:spPr>
          <a:xfrm>
            <a:off x="5029200" y="3712463"/>
            <a:ext cx="59161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לפני שמתחילים: פותחים או מצרפים את קובץ התרגול.</a:t>
            </a:r>
          </a:p>
        </p:txBody>
      </p:sp>
      <p:pic>
        <p:nvPicPr>
          <p:cNvPr id="22" name="Picture 21" descr="limit.png"/>
          <p:cNvPicPr>
            <a:picLocks noChangeAspect="1"/>
          </p:cNvPicPr>
          <p:nvPr/>
        </p:nvPicPr>
        <p:blipFill>
          <a:blip r:embed="rId9"/>
          <a:stretch>
            <a:fillRect/>
          </a:stretch>
        </p:blipFill>
        <p:spPr>
          <a:xfrm>
            <a:off x="11064240" y="4590288"/>
            <a:ext cx="292608" cy="292608"/>
          </a:xfrm>
          <a:prstGeom prst="rect">
            <a:avLst/>
          </a:prstGeom>
        </p:spPr>
      </p:pic>
      <p:sp>
        <p:nvSpPr>
          <p:cNvPr id="23" name="S9Bullet 4"/>
          <p:cNvSpPr txBox="1"/>
          <p:nvPr/>
        </p:nvSpPr>
        <p:spPr>
          <a:xfrm>
            <a:off x="5029200" y="4535424"/>
            <a:ext cx="59161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לעריכה בתוך אקסל נדרשת יכולת זמינה בחשבון.</a:t>
            </a:r>
          </a:p>
        </p:txBody>
      </p:sp>
      <p:pic>
        <p:nvPicPr>
          <p:cNvPr id="24" name="Picture 23" descr="limit.png"/>
          <p:cNvPicPr>
            <a:picLocks noChangeAspect="1"/>
          </p:cNvPicPr>
          <p:nvPr/>
        </p:nvPicPr>
        <p:blipFill>
          <a:blip r:embed="rId9"/>
          <a:stretch>
            <a:fillRect/>
          </a:stretch>
        </p:blipFill>
        <p:spPr>
          <a:xfrm>
            <a:off x="11064240" y="5413247"/>
            <a:ext cx="292608" cy="292608"/>
          </a:xfrm>
          <a:prstGeom prst="rect">
            <a:avLst/>
          </a:prstGeom>
        </p:spPr>
      </p:pic>
      <p:sp>
        <p:nvSpPr>
          <p:cNvPr id="25" name="S9Bullet 5"/>
          <p:cNvSpPr txBox="1"/>
          <p:nvPr/>
        </p:nvSpPr>
        <p:spPr>
          <a:xfrm>
            <a:off x="5029200" y="5358383"/>
            <a:ext cx="59161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משווים חישוב אחד לפחות לנתוני המקור.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2.png"/>
          <p:cNvPicPr>
            <a:picLocks noChangeAspect="1"/>
          </p:cNvPicPr>
          <p:nvPr/>
        </p:nvPicPr>
        <p:blipFill>
          <a:blip r:embed="rId11"/>
          <a:stretch>
            <a:fillRect/>
          </a:stretch>
        </p:blipFill>
        <p:spPr>
          <a:xfrm>
            <a:off x="868680" y="2029968"/>
            <a:ext cx="438912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א ק ס ל</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מה נעשה עכשיו באקסל</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10/27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2173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X</a:t>
            </a:r>
          </a:p>
        </p:txBody>
      </p:sp>
      <p:pic>
        <p:nvPicPr>
          <p:cNvPr id="16" name="Picture 15" descr="1.png"/>
          <p:cNvPicPr>
            <a:picLocks noChangeAspect="1"/>
          </p:cNvPicPr>
          <p:nvPr/>
        </p:nvPicPr>
        <p:blipFill>
          <a:blip r:embed="rId6"/>
          <a:stretch>
            <a:fillRect/>
          </a:stretch>
        </p:blipFill>
        <p:spPr>
          <a:xfrm>
            <a:off x="11064240" y="2121408"/>
            <a:ext cx="292608" cy="292608"/>
          </a:xfrm>
          <a:prstGeom prst="rect">
            <a:avLst/>
          </a:prstGeom>
        </p:spPr>
      </p:pic>
      <p:sp>
        <p:nvSpPr>
          <p:cNvPr id="17" name="S10Bullet 1"/>
          <p:cNvSpPr txBox="1"/>
          <p:nvPr/>
        </p:nvSpPr>
        <p:spPr>
          <a:xfrm>
            <a:off x="5349240" y="206654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נפתח את מעקב השעות ונכיר את שתי עמודות הנתונים.</a:t>
            </a:r>
          </a:p>
        </p:txBody>
      </p:sp>
      <p:pic>
        <p:nvPicPr>
          <p:cNvPr id="18" name="Picture 17" descr="2.png"/>
          <p:cNvPicPr>
            <a:picLocks noChangeAspect="1"/>
          </p:cNvPicPr>
          <p:nvPr/>
        </p:nvPicPr>
        <p:blipFill>
          <a:blip r:embed="rId7"/>
          <a:stretch>
            <a:fillRect/>
          </a:stretch>
        </p:blipFill>
        <p:spPr>
          <a:xfrm>
            <a:off x="11064240" y="2944368"/>
            <a:ext cx="292608" cy="292608"/>
          </a:xfrm>
          <a:prstGeom prst="rect">
            <a:avLst/>
          </a:prstGeom>
        </p:spPr>
      </p:pic>
      <p:sp>
        <p:nvSpPr>
          <p:cNvPr id="19" name="S10Bullet 2"/>
          <p:cNvSpPr txBox="1"/>
          <p:nvPr/>
        </p:nvSpPr>
        <p:spPr>
          <a:xfrm>
            <a:off x="5349240" y="288950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נבקש הפרש: שעות בפועל פחות תקציב שעות.</a:t>
            </a:r>
          </a:p>
        </p:txBody>
      </p:sp>
      <p:pic>
        <p:nvPicPr>
          <p:cNvPr id="20" name="Picture 19" descr="3.png"/>
          <p:cNvPicPr>
            <a:picLocks noChangeAspect="1"/>
          </p:cNvPicPr>
          <p:nvPr/>
        </p:nvPicPr>
        <p:blipFill>
          <a:blip r:embed="rId8"/>
          <a:stretch>
            <a:fillRect/>
          </a:stretch>
        </p:blipFill>
        <p:spPr>
          <a:xfrm>
            <a:off x="11064240" y="3767327"/>
            <a:ext cx="292608" cy="292608"/>
          </a:xfrm>
          <a:prstGeom prst="rect">
            <a:avLst/>
          </a:prstGeom>
        </p:spPr>
      </p:pic>
      <p:sp>
        <p:nvSpPr>
          <p:cNvPr id="21" name="S10Bullet 3"/>
          <p:cNvSpPr txBox="1"/>
          <p:nvPr/>
        </p:nvSpPr>
        <p:spPr>
          <a:xfrm>
            <a:off x="5349240" y="371246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נזהה את שתי החריגות הגדולות בשעות.</a:t>
            </a:r>
          </a:p>
        </p:txBody>
      </p:sp>
      <p:pic>
        <p:nvPicPr>
          <p:cNvPr id="22" name="Picture 21" descr="4.png"/>
          <p:cNvPicPr>
            <a:picLocks noChangeAspect="1"/>
          </p:cNvPicPr>
          <p:nvPr/>
        </p:nvPicPr>
        <p:blipFill>
          <a:blip r:embed="rId9"/>
          <a:stretch>
            <a:fillRect/>
          </a:stretch>
        </p:blipFill>
        <p:spPr>
          <a:xfrm>
            <a:off x="11064240" y="4590288"/>
            <a:ext cx="292608" cy="292608"/>
          </a:xfrm>
          <a:prstGeom prst="rect">
            <a:avLst/>
          </a:prstGeom>
        </p:spPr>
      </p:pic>
      <p:sp>
        <p:nvSpPr>
          <p:cNvPr id="23" name="S10Bullet 4"/>
          <p:cNvSpPr txBox="1"/>
          <p:nvPr/>
        </p:nvSpPr>
        <p:spPr>
          <a:xfrm>
            <a:off x="5349240" y="4535424"/>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נבדוק חישוב מול המקור ונבקש תיקון אם צריך.</a:t>
            </a:r>
          </a:p>
        </p:txBody>
      </p:sp>
      <p:pic>
        <p:nvPicPr>
          <p:cNvPr id="24" name="Picture 23" descr="go.png"/>
          <p:cNvPicPr>
            <a:picLocks noChangeAspect="1"/>
          </p:cNvPicPr>
          <p:nvPr/>
        </p:nvPicPr>
        <p:blipFill>
          <a:blip r:embed="rId10"/>
          <a:stretch>
            <a:fillRect/>
          </a:stretch>
        </p:blipFill>
        <p:spPr>
          <a:xfrm>
            <a:off x="11064240" y="5413247"/>
            <a:ext cx="292608" cy="292608"/>
          </a:xfrm>
          <a:prstGeom prst="rect">
            <a:avLst/>
          </a:prstGeom>
        </p:spPr>
      </p:pic>
      <p:sp>
        <p:nvSpPr>
          <p:cNvPr id="25" name="S10Bullet 5"/>
          <p:cNvSpPr txBox="1"/>
          <p:nvPr/>
        </p:nvSpPr>
        <p:spPr>
          <a:xfrm>
            <a:off x="5349240" y="535838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תורכם: בצעו ושמרו תוצאה שבדקתם.</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3.png"/>
          <p:cNvPicPr>
            <a:picLocks noChangeAspect="1"/>
          </p:cNvPicPr>
          <p:nvPr/>
        </p:nvPicPr>
        <p:blipFill>
          <a:blip r:embed="rId9"/>
          <a:stretch>
            <a:fillRect/>
          </a:stretch>
        </p:blipFill>
        <p:spPr>
          <a:xfrm>
            <a:off x="868680" y="2029968"/>
            <a:ext cx="393192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ו ו ר ד</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וורד: מה אפשר ומה צריך לדעת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11/27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2B57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W</a:t>
            </a:r>
          </a:p>
        </p:txBody>
      </p:sp>
      <p:pic>
        <p:nvPicPr>
          <p:cNvPr id="16" name="Picture 15" descr="image.png"/>
          <p:cNvPicPr>
            <a:picLocks noChangeAspect="1"/>
          </p:cNvPicPr>
          <p:nvPr/>
        </p:nvPicPr>
        <p:blipFill>
          <a:blip r:embed="rId6"/>
          <a:stretch>
            <a:fillRect/>
          </a:stretch>
        </p:blipFill>
        <p:spPr>
          <a:xfrm>
            <a:off x="11064240" y="2121408"/>
            <a:ext cx="292608" cy="292608"/>
          </a:xfrm>
          <a:prstGeom prst="rect">
            <a:avLst/>
          </a:prstGeom>
        </p:spPr>
      </p:pic>
      <p:sp>
        <p:nvSpPr>
          <p:cNvPr id="17" name="S11Bullet 1"/>
          <p:cNvSpPr txBox="1"/>
          <p:nvPr/>
        </p:nvSpPr>
        <p:spPr>
          <a:xfrm>
            <a:off x="4892040" y="2066543"/>
            <a:ext cx="60533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סיכום מסמך וחילוץ החלטות ומשימות.</a:t>
            </a:r>
          </a:p>
        </p:txBody>
      </p:sp>
      <p:pic>
        <p:nvPicPr>
          <p:cNvPr id="18" name="Picture 17" descr="image.png"/>
          <p:cNvPicPr>
            <a:picLocks noChangeAspect="1"/>
          </p:cNvPicPr>
          <p:nvPr/>
        </p:nvPicPr>
        <p:blipFill>
          <a:blip r:embed="rId6"/>
          <a:stretch>
            <a:fillRect/>
          </a:stretch>
        </p:blipFill>
        <p:spPr>
          <a:xfrm>
            <a:off x="11064240" y="2944368"/>
            <a:ext cx="292608" cy="292608"/>
          </a:xfrm>
          <a:prstGeom prst="rect">
            <a:avLst/>
          </a:prstGeom>
        </p:spPr>
      </p:pic>
      <p:sp>
        <p:nvSpPr>
          <p:cNvPr id="19" name="S11Bullet 2"/>
          <p:cNvSpPr txBox="1"/>
          <p:nvPr/>
        </p:nvSpPr>
        <p:spPr>
          <a:xfrm>
            <a:off x="4892040" y="2889503"/>
            <a:ext cx="60533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טבלת משימות עם אחראי ומועד.</a:t>
            </a:r>
          </a:p>
        </p:txBody>
      </p:sp>
      <p:pic>
        <p:nvPicPr>
          <p:cNvPr id="20" name="Picture 19" descr="image.png"/>
          <p:cNvPicPr>
            <a:picLocks noChangeAspect="1"/>
          </p:cNvPicPr>
          <p:nvPr/>
        </p:nvPicPr>
        <p:blipFill>
          <a:blip r:embed="rId6"/>
          <a:stretch>
            <a:fillRect/>
          </a:stretch>
        </p:blipFill>
        <p:spPr>
          <a:xfrm>
            <a:off x="11064240" y="3767327"/>
            <a:ext cx="292608" cy="292608"/>
          </a:xfrm>
          <a:prstGeom prst="rect">
            <a:avLst/>
          </a:prstGeom>
        </p:spPr>
      </p:pic>
      <p:sp>
        <p:nvSpPr>
          <p:cNvPr id="21" name="S11Bullet 3"/>
          <p:cNvSpPr txBox="1"/>
          <p:nvPr/>
        </p:nvSpPr>
        <p:spPr>
          <a:xfrm>
            <a:off x="4892040" y="3712463"/>
            <a:ext cx="60533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ניסוח קצר שמתאים לקהל היעד.</a:t>
            </a:r>
          </a:p>
        </p:txBody>
      </p:sp>
      <p:pic>
        <p:nvPicPr>
          <p:cNvPr id="22" name="Picture 21" descr="image.png"/>
          <p:cNvPicPr>
            <a:picLocks noChangeAspect="1"/>
          </p:cNvPicPr>
          <p:nvPr/>
        </p:nvPicPr>
        <p:blipFill>
          <a:blip r:embed="rId7"/>
          <a:stretch>
            <a:fillRect/>
          </a:stretch>
        </p:blipFill>
        <p:spPr>
          <a:xfrm>
            <a:off x="11064240" y="4590288"/>
            <a:ext cx="292608" cy="292608"/>
          </a:xfrm>
          <a:prstGeom prst="rect">
            <a:avLst/>
          </a:prstGeom>
        </p:spPr>
      </p:pic>
      <p:sp>
        <p:nvSpPr>
          <p:cNvPr id="23" name="S11Bullet 4"/>
          <p:cNvSpPr txBox="1"/>
          <p:nvPr/>
        </p:nvSpPr>
        <p:spPr>
          <a:xfrm>
            <a:off x="4892040" y="4535424"/>
            <a:ext cx="60533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לפני שמתחילים: פותחים או מצרפים את המסמך.</a:t>
            </a:r>
          </a:p>
        </p:txBody>
      </p:sp>
      <p:pic>
        <p:nvPicPr>
          <p:cNvPr id="24" name="Picture 23" descr="image.png"/>
          <p:cNvPicPr>
            <a:picLocks noChangeAspect="1"/>
          </p:cNvPicPr>
          <p:nvPr/>
        </p:nvPicPr>
        <p:blipFill>
          <a:blip r:embed="rId8"/>
          <a:stretch>
            <a:fillRect/>
          </a:stretch>
        </p:blipFill>
        <p:spPr>
          <a:xfrm>
            <a:off x="11064240" y="5413247"/>
            <a:ext cx="292608" cy="292608"/>
          </a:xfrm>
          <a:prstGeom prst="rect">
            <a:avLst/>
          </a:prstGeom>
        </p:spPr>
      </p:pic>
      <p:sp>
        <p:nvSpPr>
          <p:cNvPr id="25" name="S11Bullet 5"/>
          <p:cNvSpPr txBox="1"/>
          <p:nvPr/>
        </p:nvSpPr>
        <p:spPr>
          <a:xfrm>
            <a:off x="4892040" y="5358383"/>
            <a:ext cx="60533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מידע שלא צוין נשאר חסר, ללא השלמות.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ו ו ר ד</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מה נעשה עכשיו בוורד</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12/27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2B57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W</a:t>
            </a:r>
          </a:p>
        </p:txBody>
      </p:sp>
      <p:pic>
        <p:nvPicPr>
          <p:cNvPr id="16" name="Picture 15" descr="image.png"/>
          <p:cNvPicPr>
            <a:picLocks noChangeAspect="1"/>
          </p:cNvPicPr>
          <p:nvPr/>
        </p:nvPicPr>
        <p:blipFill>
          <a:blip r:embed="rId6"/>
          <a:stretch>
            <a:fillRect/>
          </a:stretch>
        </p:blipFill>
        <p:spPr>
          <a:xfrm>
            <a:off x="11064240" y="2121408"/>
            <a:ext cx="292608" cy="292608"/>
          </a:xfrm>
          <a:prstGeom prst="rect">
            <a:avLst/>
          </a:prstGeom>
        </p:spPr>
      </p:pic>
      <p:sp>
        <p:nvSpPr>
          <p:cNvPr id="17" name="S12Bullet 1"/>
          <p:cNvSpPr txBox="1"/>
          <p:nvPr/>
        </p:nvSpPr>
        <p:spPr>
          <a:xfrm>
            <a:off x="5257800" y="2066543"/>
            <a:ext cx="56875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נפתח את פרוטוקול הפגישה ונבקש סיכום קצר.</a:t>
            </a:r>
          </a:p>
        </p:txBody>
      </p:sp>
      <p:pic>
        <p:nvPicPr>
          <p:cNvPr id="18" name="Picture 17" descr="image.png"/>
          <p:cNvPicPr>
            <a:picLocks noChangeAspect="1"/>
          </p:cNvPicPr>
          <p:nvPr/>
        </p:nvPicPr>
        <p:blipFill>
          <a:blip r:embed="rId7"/>
          <a:stretch>
            <a:fillRect/>
          </a:stretch>
        </p:blipFill>
        <p:spPr>
          <a:xfrm>
            <a:off x="11064240" y="2944368"/>
            <a:ext cx="292608" cy="292608"/>
          </a:xfrm>
          <a:prstGeom prst="rect">
            <a:avLst/>
          </a:prstGeom>
        </p:spPr>
      </p:pic>
      <p:sp>
        <p:nvSpPr>
          <p:cNvPr id="19" name="S12Bullet 2"/>
          <p:cNvSpPr txBox="1"/>
          <p:nvPr/>
        </p:nvSpPr>
        <p:spPr>
          <a:xfrm>
            <a:off x="5257800" y="2889503"/>
            <a:ext cx="56875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נחלץ משימות לטבלה עם אחראי ומועד.</a:t>
            </a:r>
          </a:p>
        </p:txBody>
      </p:sp>
      <p:pic>
        <p:nvPicPr>
          <p:cNvPr id="20" name="Picture 19" descr="image.png"/>
          <p:cNvPicPr>
            <a:picLocks noChangeAspect="1"/>
          </p:cNvPicPr>
          <p:nvPr/>
        </p:nvPicPr>
        <p:blipFill>
          <a:blip r:embed="rId8"/>
          <a:stretch>
            <a:fillRect/>
          </a:stretch>
        </p:blipFill>
        <p:spPr>
          <a:xfrm>
            <a:off x="11064240" y="3767327"/>
            <a:ext cx="292608" cy="292608"/>
          </a:xfrm>
          <a:prstGeom prst="rect">
            <a:avLst/>
          </a:prstGeom>
        </p:spPr>
      </p:pic>
      <p:sp>
        <p:nvSpPr>
          <p:cNvPr id="21" name="S12Bullet 3"/>
          <p:cNvSpPr txBox="1"/>
          <p:nvPr/>
        </p:nvSpPr>
        <p:spPr>
          <a:xfrm>
            <a:off x="5257800" y="3712463"/>
            <a:ext cx="56875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ננסח סיכום תמציתי להנהלה.</a:t>
            </a:r>
          </a:p>
        </p:txBody>
      </p:sp>
      <p:pic>
        <p:nvPicPr>
          <p:cNvPr id="22" name="Picture 21" descr="image.png"/>
          <p:cNvPicPr>
            <a:picLocks noChangeAspect="1"/>
          </p:cNvPicPr>
          <p:nvPr/>
        </p:nvPicPr>
        <p:blipFill>
          <a:blip r:embed="rId9"/>
          <a:stretch>
            <a:fillRect/>
          </a:stretch>
        </p:blipFill>
        <p:spPr>
          <a:xfrm>
            <a:off x="11064240" y="4590288"/>
            <a:ext cx="292608" cy="292608"/>
          </a:xfrm>
          <a:prstGeom prst="rect">
            <a:avLst/>
          </a:prstGeom>
        </p:spPr>
      </p:pic>
      <p:sp>
        <p:nvSpPr>
          <p:cNvPr id="23" name="S12Bullet 4"/>
          <p:cNvSpPr txBox="1"/>
          <p:nvPr/>
        </p:nvSpPr>
        <p:spPr>
          <a:xfrm>
            <a:off x="5257800" y="4535424"/>
            <a:ext cx="56875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נוודא שהצעה לא הפכה בטעות להחלטה.</a:t>
            </a:r>
          </a:p>
        </p:txBody>
      </p:sp>
      <p:pic>
        <p:nvPicPr>
          <p:cNvPr id="24" name="Picture 23" descr="image.png"/>
          <p:cNvPicPr>
            <a:picLocks noChangeAspect="1"/>
          </p:cNvPicPr>
          <p:nvPr/>
        </p:nvPicPr>
        <p:blipFill>
          <a:blip r:embed="rId10"/>
          <a:stretch>
            <a:fillRect/>
          </a:stretch>
        </p:blipFill>
        <p:spPr>
          <a:xfrm>
            <a:off x="11064240" y="5413247"/>
            <a:ext cx="292608" cy="292608"/>
          </a:xfrm>
          <a:prstGeom prst="rect">
            <a:avLst/>
          </a:prstGeom>
        </p:spPr>
      </p:pic>
      <p:sp>
        <p:nvSpPr>
          <p:cNvPr id="25" name="S12Bullet 5"/>
          <p:cNvSpPr txBox="1"/>
          <p:nvPr/>
        </p:nvSpPr>
        <p:spPr>
          <a:xfrm>
            <a:off x="5257800" y="5358383"/>
            <a:ext cx="56875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תורכם: מצאו משימה שחסר בה פרט.</a:t>
            </a:r>
          </a:p>
        </p:txBody>
      </p:sp>
      <p:sp>
        <p:nvSpPr>
          <p:cNvPr id="12200" name="Card Slot"/>
          <p:cNvSpPr/>
          <p:nvPr/>
        </p:nvSpPr>
        <p:spPr>
          <a:xfrm>
            <a:off x="868680" y="2029968"/>
            <a:ext cx="4297680" cy="4617720"/>
          </a:xfrm>
          <a:prstGeom prst="roundRect">
            <a:avLst>
              <a:gd name="adj" fmla="val 3000"/>
            </a:avLst>
          </a:prstGeom>
          <a:solidFill>
            <a:srgbClr val="EAF1FA"/>
          </a:solidFill>
          <a:ln>
            <a:noFill/>
          </a:ln>
        </p:spPr>
        <p:txBody>
          <a:bodyPr/>
          <a:lstStyle/>
          <a:p>
            <a:pPr algn="ctr" rtl="1"/>
            <a:endParaRPr lang="he-IL"/>
          </a:p>
        </p:txBody>
      </p:sp>
      <p:sp>
        <p:nvSpPr>
          <p:cNvPr id="12201" name="Card BG"/>
          <p:cNvSpPr/>
          <p:nvPr/>
        </p:nvSpPr>
        <p:spPr>
          <a:xfrm>
            <a:off x="960120" y="2121408"/>
            <a:ext cx="4114800" cy="4434840"/>
          </a:xfrm>
          <a:prstGeom prst="roundRect">
            <a:avLst>
              <a:gd name="adj" fmla="val 3500"/>
            </a:avLst>
          </a:prstGeom>
          <a:solidFill>
            <a:srgbClr val="FFFFFF"/>
          </a:solidFill>
          <a:ln w="9525">
            <a:solidFill>
              <a:srgbClr val="E3EAF2"/>
            </a:solidFill>
          </a:ln>
          <a:effectLst>
            <a:outerShdw blurRad="50800" dist="25400" dir="5400000" algn="tl" rotWithShape="0">
              <a:srgbClr val="141818">
                <a:alpha val="12000"/>
              </a:srgbClr>
            </a:outerShdw>
          </a:effectLst>
        </p:spPr>
        <p:txBody>
          <a:bodyPr/>
          <a:lstStyle/>
          <a:p>
            <a:pPr algn="ctr" rtl="1"/>
            <a:endParaRPr lang="he-IL"/>
          </a:p>
        </p:txBody>
      </p:sp>
      <p:sp>
        <p:nvSpPr>
          <p:cNvPr id="12202" name="Card Title"/>
          <p:cNvSpPr txBox="1"/>
          <p:nvPr/>
        </p:nvSpPr>
        <p:spPr>
          <a:xfrm>
            <a:off x="1216152" y="2340864"/>
            <a:ext cx="3602736" cy="347472"/>
          </a:xfrm>
          <a:prstGeom prst="rect">
            <a:avLst/>
          </a:prstGeom>
          <a:noFill/>
        </p:spPr>
        <p:txBody>
          <a:bodyPr wrap="square" lIns="0" tIns="0" rIns="0" bIns="0">
            <a:spAutoFit/>
          </a:bodyPr>
          <a:lstStyle/>
          <a:p>
            <a:pPr algn="r" rtl="1">
              <a:lnSpc>
                <a:spcPct val="112000"/>
              </a:lnSpc>
            </a:pPr>
            <a:r>
              <a:rPr lang="he-IL" sz="1800" b="1" dirty="0">
                <a:solidFill>
                  <a:srgbClr val="0F2B46"/>
                </a:solidFill>
                <a:latin typeface="Segoe UI"/>
                <a:cs typeface="Segoe UI"/>
              </a:rPr>
              <a:t>מה נבקש עכשיו</a:t>
            </a:r>
          </a:p>
        </p:txBody>
      </p:sp>
      <p:sp>
        <p:nvSpPr>
          <p:cNvPr id="12203" name="Card Chip"/>
          <p:cNvSpPr/>
          <p:nvPr/>
        </p:nvSpPr>
        <p:spPr>
          <a:xfrm>
            <a:off x="2423160" y="2798064"/>
            <a:ext cx="2395728" cy="292608"/>
          </a:xfrm>
          <a:prstGeom prst="roundRect">
            <a:avLst>
              <a:gd name="adj" fmla="val 22000"/>
            </a:avLst>
          </a:prstGeom>
          <a:solidFill>
            <a:srgbClr val="E8F0FA"/>
          </a:solidFill>
          <a:ln>
            <a:noFill/>
          </a:ln>
        </p:spPr>
        <p:txBody>
          <a:bodyPr/>
          <a:lstStyle/>
          <a:p>
            <a:pPr algn="ctr" rtl="1"/>
            <a:endParaRPr lang="he-IL"/>
          </a:p>
        </p:txBody>
      </p:sp>
      <p:sp>
        <p:nvSpPr>
          <p:cNvPr id="12204" name="Chip Icon"/>
          <p:cNvSpPr/>
          <p:nvPr/>
        </p:nvSpPr>
        <p:spPr>
          <a:xfrm>
            <a:off x="2505456" y="2852928"/>
            <a:ext cx="182880" cy="182880"/>
          </a:xfrm>
          <a:prstGeom prst="roundRect">
            <a:avLst>
              <a:gd name="adj" fmla="val 16000"/>
            </a:avLst>
          </a:prstGeom>
          <a:solidFill>
            <a:srgbClr val="2B579A"/>
          </a:solidFill>
          <a:ln>
            <a:noFill/>
          </a:ln>
        </p:spPr>
        <p:txBody>
          <a:bodyPr/>
          <a:lstStyle/>
          <a:p>
            <a:pPr algn="ctr" rtl="1"/>
            <a:endParaRPr lang="he-IL"/>
          </a:p>
        </p:txBody>
      </p:sp>
      <p:sp>
        <p:nvSpPr>
          <p:cNvPr id="12205" name="Chip Icon Letter"/>
          <p:cNvSpPr txBox="1"/>
          <p:nvPr/>
        </p:nvSpPr>
        <p:spPr>
          <a:xfrm>
            <a:off x="2505456" y="2875788"/>
            <a:ext cx="182880" cy="146304"/>
          </a:xfrm>
          <a:prstGeom prst="rect">
            <a:avLst/>
          </a:prstGeom>
          <a:noFill/>
        </p:spPr>
        <p:txBody>
          <a:bodyPr wrap="square" lIns="0" tIns="0" rIns="0" bIns="0">
            <a:spAutoFit/>
          </a:bodyPr>
          <a:lstStyle/>
          <a:p>
            <a:pPr algn="ctr" rtl="1">
              <a:lnSpc>
                <a:spcPct val="112000"/>
              </a:lnSpc>
            </a:pPr>
            <a:r>
              <a:rPr lang="he-IL" sz="900" b="1" dirty="0">
                <a:solidFill>
                  <a:srgbClr val="FFFFFF"/>
                </a:solidFill>
                <a:latin typeface="Segoe UI"/>
                <a:cs typeface="Segoe UI"/>
              </a:rPr>
              <a:t>W</a:t>
            </a:r>
          </a:p>
        </p:txBody>
      </p:sp>
      <p:sp>
        <p:nvSpPr>
          <p:cNvPr id="12206" name="Chip Text"/>
          <p:cNvSpPr txBox="1"/>
          <p:nvPr/>
        </p:nvSpPr>
        <p:spPr>
          <a:xfrm>
            <a:off x="2734056" y="2866644"/>
            <a:ext cx="1975104" cy="182880"/>
          </a:xfrm>
          <a:prstGeom prst="rect">
            <a:avLst/>
          </a:prstGeom>
          <a:noFill/>
        </p:spPr>
        <p:txBody>
          <a:bodyPr wrap="square" lIns="0" tIns="0" rIns="0" bIns="0">
            <a:spAutoFit/>
          </a:bodyPr>
          <a:lstStyle/>
          <a:p>
            <a:pPr algn="r" rtl="1">
              <a:lnSpc>
                <a:spcPct val="112000"/>
              </a:lnSpc>
            </a:pPr>
            <a:r>
              <a:rPr lang="he-IL" sz="1000" b="0" dirty="0">
                <a:solidFill>
                  <a:srgbClr val="2868A8"/>
                </a:solidFill>
                <a:latin typeface="Segoe UI"/>
                <a:cs typeface="Segoe UI"/>
              </a:rPr>
              <a:t>פרוטוקול-פגישה.docx</a:t>
            </a:r>
          </a:p>
        </p:txBody>
      </p:sp>
      <p:sp>
        <p:nvSpPr>
          <p:cNvPr id="12207" name="Card Rule"/>
          <p:cNvSpPr/>
          <p:nvPr/>
        </p:nvSpPr>
        <p:spPr>
          <a:xfrm>
            <a:off x="1216152" y="3273552"/>
            <a:ext cx="3602736" cy="9525"/>
          </a:xfrm>
          <a:prstGeom prst="rect">
            <a:avLst/>
          </a:prstGeom>
          <a:solidFill>
            <a:srgbClr val="E3EAF2"/>
          </a:solidFill>
          <a:ln>
            <a:noFill/>
          </a:ln>
        </p:spPr>
        <p:txBody>
          <a:bodyPr/>
          <a:lstStyle/>
          <a:p>
            <a:pPr algn="ctr" rtl="1"/>
            <a:endParaRPr lang="he-IL"/>
          </a:p>
        </p:txBody>
      </p:sp>
      <p:sp>
        <p:nvSpPr>
          <p:cNvPr id="12210" name="Row Dot 1"/>
          <p:cNvSpPr/>
          <p:nvPr/>
        </p:nvSpPr>
        <p:spPr>
          <a:xfrm>
            <a:off x="4741164" y="3529584"/>
            <a:ext cx="77724" cy="77724"/>
          </a:xfrm>
          <a:prstGeom prst="ellipse">
            <a:avLst/>
          </a:prstGeom>
          <a:solidFill>
            <a:srgbClr val="2868A8"/>
          </a:solidFill>
          <a:ln>
            <a:noFill/>
          </a:ln>
        </p:spPr>
        <p:txBody>
          <a:bodyPr/>
          <a:lstStyle/>
          <a:p>
            <a:pPr algn="ctr" rtl="1"/>
            <a:endParaRPr lang="he-IL"/>
          </a:p>
        </p:txBody>
      </p:sp>
      <p:sp>
        <p:nvSpPr>
          <p:cNvPr id="12211" name="Row Text 1"/>
          <p:cNvSpPr txBox="1"/>
          <p:nvPr/>
        </p:nvSpPr>
        <p:spPr>
          <a:xfrm>
            <a:off x="1216152" y="3703320"/>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סכם את פרוטוקול הפגישה בפסקה אחת.</a:t>
            </a:r>
          </a:p>
        </p:txBody>
      </p:sp>
      <p:sp>
        <p:nvSpPr>
          <p:cNvPr id="12212" name="Row Dot 2"/>
          <p:cNvSpPr/>
          <p:nvPr/>
        </p:nvSpPr>
        <p:spPr>
          <a:xfrm>
            <a:off x="4741164" y="4096512"/>
            <a:ext cx="77724" cy="77724"/>
          </a:xfrm>
          <a:prstGeom prst="ellipse">
            <a:avLst/>
          </a:prstGeom>
          <a:solidFill>
            <a:srgbClr val="2868A8"/>
          </a:solidFill>
          <a:ln>
            <a:noFill/>
          </a:ln>
        </p:spPr>
        <p:txBody>
          <a:bodyPr/>
          <a:lstStyle/>
          <a:p>
            <a:pPr algn="ctr" rtl="1"/>
            <a:endParaRPr lang="he-IL"/>
          </a:p>
        </p:txBody>
      </p:sp>
      <p:sp>
        <p:nvSpPr>
          <p:cNvPr id="12213" name="Row Text 2"/>
          <p:cNvSpPr txBox="1"/>
          <p:nvPr/>
        </p:nvSpPr>
        <p:spPr>
          <a:xfrm>
            <a:off x="1216152" y="4270248"/>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חלץ משימות לטבלה: משימה, אחראי, מועד.</a:t>
            </a:r>
          </a:p>
        </p:txBody>
      </p:sp>
      <p:sp>
        <p:nvSpPr>
          <p:cNvPr id="12214" name="Row Dot 3"/>
          <p:cNvSpPr/>
          <p:nvPr/>
        </p:nvSpPr>
        <p:spPr>
          <a:xfrm>
            <a:off x="4741164" y="4663440"/>
            <a:ext cx="77724" cy="77724"/>
          </a:xfrm>
          <a:prstGeom prst="ellipse">
            <a:avLst/>
          </a:prstGeom>
          <a:solidFill>
            <a:srgbClr val="2868A8"/>
          </a:solidFill>
          <a:ln>
            <a:noFill/>
          </a:ln>
        </p:spPr>
        <p:txBody>
          <a:bodyPr/>
          <a:lstStyle/>
          <a:p>
            <a:pPr algn="ctr" rtl="1"/>
            <a:endParaRPr lang="he-IL"/>
          </a:p>
        </p:txBody>
      </p:sp>
      <p:sp>
        <p:nvSpPr>
          <p:cNvPr id="12215" name="Row Text 3"/>
          <p:cNvSpPr txBox="1"/>
          <p:nvPr/>
        </p:nvSpPr>
        <p:spPr>
          <a:xfrm>
            <a:off x="1216152" y="4837176"/>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נסח מחדש להנהלה — תמציתי, בלי לאבד החלטות.</a:t>
            </a:r>
          </a:p>
        </p:txBody>
      </p:sp>
      <p:sp>
        <p:nvSpPr>
          <p:cNvPr id="12216" name="Row Dot 4"/>
          <p:cNvSpPr/>
          <p:nvPr/>
        </p:nvSpPr>
        <p:spPr>
          <a:xfrm>
            <a:off x="4741164" y="5230368"/>
            <a:ext cx="77724" cy="77724"/>
          </a:xfrm>
          <a:prstGeom prst="ellipse">
            <a:avLst/>
          </a:prstGeom>
          <a:solidFill>
            <a:srgbClr val="2868A8"/>
          </a:solidFill>
          <a:ln>
            <a:noFill/>
          </a:ln>
        </p:spPr>
        <p:txBody>
          <a:bodyPr/>
          <a:lstStyle/>
          <a:p>
            <a:pPr algn="ctr" rtl="1"/>
            <a:endParaRPr lang="he-IL"/>
          </a:p>
        </p:txBody>
      </p:sp>
      <p:sp>
        <p:nvSpPr>
          <p:cNvPr id="12217" name="Row Text 4"/>
          <p:cNvSpPr txBox="1"/>
          <p:nvPr/>
        </p:nvSpPr>
        <p:spPr>
          <a:xfrm>
            <a:off x="1216152" y="5404104"/>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אם אחראי או מועד חסרים, כתוב לא צוין.</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5.png"/>
          <p:cNvPicPr>
            <a:picLocks noChangeAspect="1"/>
          </p:cNvPicPr>
          <p:nvPr/>
        </p:nvPicPr>
        <p:blipFill>
          <a:blip r:embed="rId9"/>
          <a:stretch>
            <a:fillRect/>
          </a:stretch>
        </p:blipFill>
        <p:spPr>
          <a:xfrm>
            <a:off x="868680" y="2029968"/>
            <a:ext cx="429768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פ א ו ו ר פ ו י נ ט</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פאוורפוינט: מה אפשר ומה צריך לדעת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13/27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C43E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P</a:t>
            </a:r>
          </a:p>
        </p:txBody>
      </p:sp>
      <p:pic>
        <p:nvPicPr>
          <p:cNvPr id="16" name="Picture 15" descr="image.png"/>
          <p:cNvPicPr>
            <a:picLocks noChangeAspect="1"/>
          </p:cNvPicPr>
          <p:nvPr/>
        </p:nvPicPr>
        <p:blipFill>
          <a:blip r:embed="rId6"/>
          <a:stretch>
            <a:fillRect/>
          </a:stretch>
        </p:blipFill>
        <p:spPr>
          <a:xfrm>
            <a:off x="11064240" y="2139696"/>
            <a:ext cx="292608" cy="292608"/>
          </a:xfrm>
          <a:prstGeom prst="rect">
            <a:avLst/>
          </a:prstGeom>
        </p:spPr>
      </p:pic>
      <p:sp>
        <p:nvSpPr>
          <p:cNvPr id="17" name="S13Bullet 1"/>
          <p:cNvSpPr txBox="1"/>
          <p:nvPr/>
        </p:nvSpPr>
        <p:spPr>
          <a:xfrm>
            <a:off x="5257800" y="2066543"/>
            <a:ext cx="568756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בניית מתווה והפקת שקפים, כשהאפשרות זמינה.</a:t>
            </a:r>
          </a:p>
        </p:txBody>
      </p:sp>
      <p:pic>
        <p:nvPicPr>
          <p:cNvPr id="18" name="Picture 17" descr="image.png"/>
          <p:cNvPicPr>
            <a:picLocks noChangeAspect="1"/>
          </p:cNvPicPr>
          <p:nvPr/>
        </p:nvPicPr>
        <p:blipFill>
          <a:blip r:embed="rId6"/>
          <a:stretch>
            <a:fillRect/>
          </a:stretch>
        </p:blipFill>
        <p:spPr>
          <a:xfrm>
            <a:off x="11064240" y="3099815"/>
            <a:ext cx="292608" cy="292608"/>
          </a:xfrm>
          <a:prstGeom prst="rect">
            <a:avLst/>
          </a:prstGeom>
        </p:spPr>
      </p:pic>
      <p:sp>
        <p:nvSpPr>
          <p:cNvPr id="19" name="S13Bullet 2"/>
          <p:cNvSpPr txBox="1"/>
          <p:nvPr/>
        </p:nvSpPr>
        <p:spPr>
          <a:xfrm>
            <a:off x="5257800" y="3026663"/>
            <a:ext cx="568756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שיפור מבנה וניסוח לפי תבנית ארגונית.</a:t>
            </a:r>
          </a:p>
        </p:txBody>
      </p:sp>
      <p:pic>
        <p:nvPicPr>
          <p:cNvPr id="20" name="Picture 19" descr="image.png"/>
          <p:cNvPicPr>
            <a:picLocks noChangeAspect="1"/>
          </p:cNvPicPr>
          <p:nvPr/>
        </p:nvPicPr>
        <p:blipFill>
          <a:blip r:embed="rId7"/>
          <a:stretch>
            <a:fillRect/>
          </a:stretch>
        </p:blipFill>
        <p:spPr>
          <a:xfrm>
            <a:off x="11064240" y="4059935"/>
            <a:ext cx="292608" cy="292608"/>
          </a:xfrm>
          <a:prstGeom prst="rect">
            <a:avLst/>
          </a:prstGeom>
        </p:spPr>
      </p:pic>
      <p:sp>
        <p:nvSpPr>
          <p:cNvPr id="21" name="S13Bullet 3"/>
          <p:cNvSpPr txBox="1"/>
          <p:nvPr/>
        </p:nvSpPr>
        <p:spPr>
          <a:xfrm>
            <a:off x="5257800" y="3986783"/>
            <a:ext cx="568756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לפני שמתחילים: מגדירים קהל, מטרה ומקור.</a:t>
            </a:r>
          </a:p>
        </p:txBody>
      </p:sp>
      <p:pic>
        <p:nvPicPr>
          <p:cNvPr id="22" name="Picture 21" descr="image.png"/>
          <p:cNvPicPr>
            <a:picLocks noChangeAspect="1"/>
          </p:cNvPicPr>
          <p:nvPr/>
        </p:nvPicPr>
        <p:blipFill>
          <a:blip r:embed="rId8"/>
          <a:stretch>
            <a:fillRect/>
          </a:stretch>
        </p:blipFill>
        <p:spPr>
          <a:xfrm>
            <a:off x="11064240" y="5020056"/>
            <a:ext cx="292608" cy="292608"/>
          </a:xfrm>
          <a:prstGeom prst="rect">
            <a:avLst/>
          </a:prstGeom>
        </p:spPr>
      </p:pic>
      <p:sp>
        <p:nvSpPr>
          <p:cNvPr id="23" name="S13Bullet 4"/>
          <p:cNvSpPr txBox="1"/>
          <p:nvPr/>
        </p:nvSpPr>
        <p:spPr>
          <a:xfrm>
            <a:off x="5257800" y="4946904"/>
            <a:ext cx="568756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יעד אינו הישג שכבר נמדד.</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פ א ו ו ר פ ו י נ ט</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מה נעשה עכשיו בפאוורפוינט</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14/27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C43E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P</a:t>
            </a:r>
          </a:p>
        </p:txBody>
      </p:sp>
      <p:pic>
        <p:nvPicPr>
          <p:cNvPr id="500" name="Picture 500" descr="1.png"/>
          <p:cNvPicPr>
            <a:picLocks noChangeAspect="1"/>
          </p:cNvPicPr>
          <p:nvPr/>
        </p:nvPicPr>
        <p:blipFill>
          <a:blip r:embed="rIdIcon1"/>
          <a:stretch>
            <a:fillRect/>
          </a:stretch>
        </p:blipFill>
        <p:spPr>
          <a:xfrm>
            <a:off x="11064240" y="2121408"/>
            <a:ext cx="292608" cy="292608"/>
          </a:xfrm>
          <a:prstGeom prst="rect">
            <a:avLst/>
          </a:prstGeom>
        </p:spPr>
      </p:pic>
      <p:sp>
        <p:nvSpPr>
          <p:cNvPr id="501" name="S14Bullet 1"/>
          <p:cNvSpPr txBox="1"/>
          <p:nvPr/>
        </p:nvSpPr>
        <p:spPr>
          <a:xfrm>
            <a:off x="5349240" y="206654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נפתח את הבריף ואת תבנית המצגת.</a:t>
            </a:r>
          </a:p>
        </p:txBody>
      </p:sp>
      <p:pic>
        <p:nvPicPr>
          <p:cNvPr id="502" name="Picture 502" descr="2.png"/>
          <p:cNvPicPr>
            <a:picLocks noChangeAspect="1"/>
          </p:cNvPicPr>
          <p:nvPr/>
        </p:nvPicPr>
        <p:blipFill>
          <a:blip r:embed="rIdIcon2"/>
          <a:stretch>
            <a:fillRect/>
          </a:stretch>
        </p:blipFill>
        <p:spPr>
          <a:xfrm>
            <a:off x="11064240" y="2944368"/>
            <a:ext cx="292608" cy="292608"/>
          </a:xfrm>
          <a:prstGeom prst="rect">
            <a:avLst/>
          </a:prstGeom>
        </p:spPr>
      </p:pic>
      <p:sp>
        <p:nvSpPr>
          <p:cNvPr id="503" name="S14Bullet 2"/>
          <p:cNvSpPr txBox="1"/>
          <p:nvPr/>
        </p:nvSpPr>
        <p:spPr>
          <a:xfrm>
            <a:off x="5349240" y="288950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נבקש מתווה לחמישה שקפים, עם מסר לכל שקף.</a:t>
            </a:r>
          </a:p>
        </p:txBody>
      </p:sp>
      <p:pic>
        <p:nvPicPr>
          <p:cNvPr id="504" name="Picture 504" descr="3.png"/>
          <p:cNvPicPr>
            <a:picLocks noChangeAspect="1"/>
          </p:cNvPicPr>
          <p:nvPr/>
        </p:nvPicPr>
        <p:blipFill>
          <a:blip r:embed="rIdIcon3"/>
          <a:stretch>
            <a:fillRect/>
          </a:stretch>
        </p:blipFill>
        <p:spPr>
          <a:xfrm>
            <a:off x="11064240" y="3767327"/>
            <a:ext cx="292608" cy="292608"/>
          </a:xfrm>
          <a:prstGeom prst="rect">
            <a:avLst/>
          </a:prstGeom>
        </p:spPr>
      </p:pic>
      <p:sp>
        <p:nvSpPr>
          <p:cNvPr id="505" name="S14Bullet 3"/>
          <p:cNvSpPr txBox="1"/>
          <p:nvPr/>
        </p:nvSpPr>
        <p:spPr>
          <a:xfrm>
            <a:off x="5349240" y="371246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נשתמש בתבנית הארגונית כשהיכולת זמינה.</a:t>
            </a:r>
          </a:p>
        </p:txBody>
      </p:sp>
      <p:pic>
        <p:nvPicPr>
          <p:cNvPr id="506" name="Picture 506" descr="4.png"/>
          <p:cNvPicPr>
            <a:picLocks noChangeAspect="1"/>
          </p:cNvPicPr>
          <p:nvPr/>
        </p:nvPicPr>
        <p:blipFill>
          <a:blip r:embed="rIdIcon4"/>
          <a:stretch>
            <a:fillRect/>
          </a:stretch>
        </p:blipFill>
        <p:spPr>
          <a:xfrm>
            <a:off x="11064240" y="4590288"/>
            <a:ext cx="292608" cy="292608"/>
          </a:xfrm>
          <a:prstGeom prst="rect">
            <a:avLst/>
          </a:prstGeom>
        </p:spPr>
      </p:pic>
      <p:sp>
        <p:nvSpPr>
          <p:cNvPr id="507" name="S14Bullet 4"/>
          <p:cNvSpPr txBox="1"/>
          <p:nvPr/>
        </p:nvSpPr>
        <p:spPr>
          <a:xfrm>
            <a:off x="5349240" y="4535424"/>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נבדוק עובדות ונקצר ניסוחים עמוסים.</a:t>
            </a:r>
          </a:p>
        </p:txBody>
      </p:sp>
      <p:pic>
        <p:nvPicPr>
          <p:cNvPr id="508" name="Picture 508" descr="go.png"/>
          <p:cNvPicPr>
            <a:picLocks noChangeAspect="1"/>
          </p:cNvPicPr>
          <p:nvPr/>
        </p:nvPicPr>
        <p:blipFill>
          <a:blip r:embed="rIdIcon5"/>
          <a:stretch>
            <a:fillRect/>
          </a:stretch>
        </p:blipFill>
        <p:spPr>
          <a:xfrm>
            <a:off x="11064240" y="5413247"/>
            <a:ext cx="292608" cy="292608"/>
          </a:xfrm>
          <a:prstGeom prst="rect">
            <a:avLst/>
          </a:prstGeom>
        </p:spPr>
      </p:pic>
      <p:sp>
        <p:nvSpPr>
          <p:cNvPr id="509" name="S14Bullet 5"/>
          <p:cNvSpPr txBox="1"/>
          <p:nvPr/>
        </p:nvSpPr>
        <p:spPr>
          <a:xfrm>
            <a:off x="5349240" y="535838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תורכם: בנו מתווה ותקנו מסר אחד.</a:t>
            </a:r>
          </a:p>
        </p:txBody>
      </p:sp>
      <p:sp>
        <p:nvSpPr>
          <p:cNvPr id="14200" name="Card Slot"/>
          <p:cNvSpPr/>
          <p:nvPr/>
        </p:nvSpPr>
        <p:spPr>
          <a:xfrm>
            <a:off x="868680" y="2029968"/>
            <a:ext cx="4297680" cy="4617720"/>
          </a:xfrm>
          <a:prstGeom prst="roundRect">
            <a:avLst>
              <a:gd name="adj" fmla="val 3000"/>
            </a:avLst>
          </a:prstGeom>
          <a:solidFill>
            <a:srgbClr val="EAF1FA"/>
          </a:solidFill>
          <a:ln>
            <a:noFill/>
          </a:ln>
        </p:spPr>
        <p:txBody>
          <a:bodyPr/>
          <a:lstStyle/>
          <a:p>
            <a:pPr algn="ctr" rtl="1"/>
            <a:endParaRPr lang="he-IL"/>
          </a:p>
        </p:txBody>
      </p:sp>
      <p:sp>
        <p:nvSpPr>
          <p:cNvPr id="14201" name="Card BG"/>
          <p:cNvSpPr/>
          <p:nvPr/>
        </p:nvSpPr>
        <p:spPr>
          <a:xfrm>
            <a:off x="960120" y="2121408"/>
            <a:ext cx="4114800" cy="4434840"/>
          </a:xfrm>
          <a:prstGeom prst="roundRect">
            <a:avLst>
              <a:gd name="adj" fmla="val 3500"/>
            </a:avLst>
          </a:prstGeom>
          <a:solidFill>
            <a:srgbClr val="FFFFFF"/>
          </a:solidFill>
          <a:ln w="9525">
            <a:solidFill>
              <a:srgbClr val="E3EAF2"/>
            </a:solidFill>
          </a:ln>
          <a:effectLst>
            <a:outerShdw blurRad="50800" dist="25400" dir="5400000" algn="tl" rotWithShape="0">
              <a:srgbClr val="141818">
                <a:alpha val="12000"/>
              </a:srgbClr>
            </a:outerShdw>
          </a:effectLst>
        </p:spPr>
        <p:txBody>
          <a:bodyPr/>
          <a:lstStyle/>
          <a:p>
            <a:pPr algn="ctr" rtl="1"/>
            <a:endParaRPr lang="he-IL"/>
          </a:p>
        </p:txBody>
      </p:sp>
      <p:sp>
        <p:nvSpPr>
          <p:cNvPr id="14202" name="Card Title"/>
          <p:cNvSpPr txBox="1"/>
          <p:nvPr/>
        </p:nvSpPr>
        <p:spPr>
          <a:xfrm>
            <a:off x="1216152" y="2340864"/>
            <a:ext cx="3602736" cy="347472"/>
          </a:xfrm>
          <a:prstGeom prst="rect">
            <a:avLst/>
          </a:prstGeom>
          <a:noFill/>
        </p:spPr>
        <p:txBody>
          <a:bodyPr wrap="square" lIns="0" tIns="0" rIns="0" bIns="0">
            <a:spAutoFit/>
          </a:bodyPr>
          <a:lstStyle/>
          <a:p>
            <a:pPr algn="r" rtl="1">
              <a:lnSpc>
                <a:spcPct val="112000"/>
              </a:lnSpc>
            </a:pPr>
            <a:r>
              <a:rPr lang="he-IL" sz="1800" b="1" dirty="0">
                <a:solidFill>
                  <a:srgbClr val="0F2B46"/>
                </a:solidFill>
                <a:latin typeface="Segoe UI"/>
                <a:cs typeface="Segoe UI"/>
              </a:rPr>
              <a:t>מה נבקש עכשיו</a:t>
            </a:r>
          </a:p>
        </p:txBody>
      </p:sp>
      <p:sp>
        <p:nvSpPr>
          <p:cNvPr id="14203" name="Card Chip"/>
          <p:cNvSpPr/>
          <p:nvPr/>
        </p:nvSpPr>
        <p:spPr>
          <a:xfrm>
            <a:off x="2423160" y="2798064"/>
            <a:ext cx="2395728" cy="292608"/>
          </a:xfrm>
          <a:prstGeom prst="roundRect">
            <a:avLst>
              <a:gd name="adj" fmla="val 22000"/>
            </a:avLst>
          </a:prstGeom>
          <a:solidFill>
            <a:srgbClr val="E8F0FA"/>
          </a:solidFill>
          <a:ln>
            <a:noFill/>
          </a:ln>
        </p:spPr>
        <p:txBody>
          <a:bodyPr/>
          <a:lstStyle/>
          <a:p>
            <a:pPr algn="ctr" rtl="1"/>
            <a:endParaRPr lang="he-IL"/>
          </a:p>
        </p:txBody>
      </p:sp>
      <p:sp>
        <p:nvSpPr>
          <p:cNvPr id="14204" name="Chip Icon"/>
          <p:cNvSpPr/>
          <p:nvPr/>
        </p:nvSpPr>
        <p:spPr>
          <a:xfrm>
            <a:off x="2505456" y="2852928"/>
            <a:ext cx="182880" cy="182880"/>
          </a:xfrm>
          <a:prstGeom prst="roundRect">
            <a:avLst>
              <a:gd name="adj" fmla="val 16000"/>
            </a:avLst>
          </a:prstGeom>
          <a:solidFill>
            <a:srgbClr val="C43E1C"/>
          </a:solidFill>
          <a:ln>
            <a:noFill/>
          </a:ln>
        </p:spPr>
        <p:txBody>
          <a:bodyPr/>
          <a:lstStyle/>
          <a:p>
            <a:pPr algn="ctr" rtl="1"/>
            <a:endParaRPr lang="he-IL"/>
          </a:p>
        </p:txBody>
      </p:sp>
      <p:sp>
        <p:nvSpPr>
          <p:cNvPr id="14205" name="Chip Icon Letter"/>
          <p:cNvSpPr txBox="1"/>
          <p:nvPr/>
        </p:nvSpPr>
        <p:spPr>
          <a:xfrm>
            <a:off x="2505456" y="2875788"/>
            <a:ext cx="182880" cy="146304"/>
          </a:xfrm>
          <a:prstGeom prst="rect">
            <a:avLst/>
          </a:prstGeom>
          <a:noFill/>
        </p:spPr>
        <p:txBody>
          <a:bodyPr wrap="square" lIns="0" tIns="0" rIns="0" bIns="0">
            <a:spAutoFit/>
          </a:bodyPr>
          <a:lstStyle/>
          <a:p>
            <a:pPr algn="ctr" rtl="1">
              <a:lnSpc>
                <a:spcPct val="112000"/>
              </a:lnSpc>
            </a:pPr>
            <a:r>
              <a:rPr lang="he-IL" sz="900" b="1" dirty="0">
                <a:solidFill>
                  <a:srgbClr val="FFFFFF"/>
                </a:solidFill>
                <a:latin typeface="Segoe UI"/>
                <a:cs typeface="Segoe UI"/>
              </a:rPr>
              <a:t>P</a:t>
            </a:r>
          </a:p>
        </p:txBody>
      </p:sp>
      <p:sp>
        <p:nvSpPr>
          <p:cNvPr id="14206" name="Chip Text"/>
          <p:cNvSpPr txBox="1"/>
          <p:nvPr/>
        </p:nvSpPr>
        <p:spPr>
          <a:xfrm>
            <a:off x="2734056" y="2866644"/>
            <a:ext cx="1975104" cy="182880"/>
          </a:xfrm>
          <a:prstGeom prst="rect">
            <a:avLst/>
          </a:prstGeom>
          <a:noFill/>
        </p:spPr>
        <p:txBody>
          <a:bodyPr wrap="square" lIns="0" tIns="0" rIns="0" bIns="0">
            <a:spAutoFit/>
          </a:bodyPr>
          <a:lstStyle/>
          <a:p>
            <a:pPr algn="r" rtl="1">
              <a:lnSpc>
                <a:spcPct val="112000"/>
              </a:lnSpc>
            </a:pPr>
            <a:r>
              <a:rPr lang="he-IL" sz="1000" b="0" dirty="0">
                <a:solidFill>
                  <a:srgbClr val="2868A8"/>
                </a:solidFill>
                <a:latin typeface="Segoe UI"/>
                <a:cs typeface="Segoe UI"/>
              </a:rPr>
              <a:t>בריף-מצגת.docx</a:t>
            </a:r>
          </a:p>
        </p:txBody>
      </p:sp>
      <p:sp>
        <p:nvSpPr>
          <p:cNvPr id="14207" name="Card Rule"/>
          <p:cNvSpPr/>
          <p:nvPr/>
        </p:nvSpPr>
        <p:spPr>
          <a:xfrm>
            <a:off x="1216152" y="3273552"/>
            <a:ext cx="3602736" cy="9525"/>
          </a:xfrm>
          <a:prstGeom prst="rect">
            <a:avLst/>
          </a:prstGeom>
          <a:solidFill>
            <a:srgbClr val="E3EAF2"/>
          </a:solidFill>
          <a:ln>
            <a:noFill/>
          </a:ln>
        </p:spPr>
        <p:txBody>
          <a:bodyPr/>
          <a:lstStyle/>
          <a:p>
            <a:pPr algn="ctr" rtl="1"/>
            <a:endParaRPr lang="he-IL"/>
          </a:p>
        </p:txBody>
      </p:sp>
      <p:sp>
        <p:nvSpPr>
          <p:cNvPr id="14210" name="Row Dot 1"/>
          <p:cNvSpPr/>
          <p:nvPr/>
        </p:nvSpPr>
        <p:spPr>
          <a:xfrm>
            <a:off x="4741164" y="3529584"/>
            <a:ext cx="77724" cy="77724"/>
          </a:xfrm>
          <a:prstGeom prst="ellipse">
            <a:avLst/>
          </a:prstGeom>
          <a:solidFill>
            <a:srgbClr val="2868A8"/>
          </a:solidFill>
          <a:ln>
            <a:noFill/>
          </a:ln>
        </p:spPr>
        <p:txBody>
          <a:bodyPr/>
          <a:lstStyle/>
          <a:p>
            <a:pPr algn="ctr" rtl="1"/>
            <a:endParaRPr lang="he-IL"/>
          </a:p>
        </p:txBody>
      </p:sp>
      <p:sp>
        <p:nvSpPr>
          <p:cNvPr id="14211" name="Row Text 1"/>
          <p:cNvSpPr txBox="1"/>
          <p:nvPr/>
        </p:nvSpPr>
        <p:spPr>
          <a:xfrm>
            <a:off x="1216152" y="3703320"/>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בנה מתווה לחמישה שקפים, מסר לכל שקף.</a:t>
            </a:r>
          </a:p>
        </p:txBody>
      </p:sp>
      <p:sp>
        <p:nvSpPr>
          <p:cNvPr id="14212" name="Row Dot 2"/>
          <p:cNvSpPr/>
          <p:nvPr/>
        </p:nvSpPr>
        <p:spPr>
          <a:xfrm>
            <a:off x="4741164" y="4096512"/>
            <a:ext cx="77724" cy="77724"/>
          </a:xfrm>
          <a:prstGeom prst="ellipse">
            <a:avLst/>
          </a:prstGeom>
          <a:solidFill>
            <a:srgbClr val="2868A8"/>
          </a:solidFill>
          <a:ln>
            <a:noFill/>
          </a:ln>
        </p:spPr>
        <p:txBody>
          <a:bodyPr/>
          <a:lstStyle/>
          <a:p>
            <a:pPr algn="ctr" rtl="1"/>
            <a:endParaRPr lang="he-IL"/>
          </a:p>
        </p:txBody>
      </p:sp>
      <p:sp>
        <p:nvSpPr>
          <p:cNvPr id="14213" name="Row Text 2"/>
          <p:cNvSpPr txBox="1"/>
          <p:nvPr/>
        </p:nvSpPr>
        <p:spPr>
          <a:xfrm>
            <a:off x="1216152" y="4270248"/>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שמור על ההבחנה בין יעד לבין תוצאה.</a:t>
            </a:r>
          </a:p>
        </p:txBody>
      </p:sp>
      <p:sp>
        <p:nvSpPr>
          <p:cNvPr id="14214" name="Row Dot 3"/>
          <p:cNvSpPr/>
          <p:nvPr/>
        </p:nvSpPr>
        <p:spPr>
          <a:xfrm>
            <a:off x="4741164" y="4663440"/>
            <a:ext cx="77724" cy="77724"/>
          </a:xfrm>
          <a:prstGeom prst="ellipse">
            <a:avLst/>
          </a:prstGeom>
          <a:solidFill>
            <a:srgbClr val="2868A8"/>
          </a:solidFill>
          <a:ln>
            <a:noFill/>
          </a:ln>
        </p:spPr>
        <p:txBody>
          <a:bodyPr/>
          <a:lstStyle/>
          <a:p>
            <a:pPr algn="ctr" rtl="1"/>
            <a:endParaRPr lang="he-IL"/>
          </a:p>
        </p:txBody>
      </p:sp>
      <p:sp>
        <p:nvSpPr>
          <p:cNvPr id="14215" name="Row Text 3"/>
          <p:cNvSpPr txBox="1"/>
          <p:nvPr/>
        </p:nvSpPr>
        <p:spPr>
          <a:xfrm>
            <a:off x="1216152" y="4837176"/>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קצר כל שקף לשלוש נקודות.</a:t>
            </a:r>
          </a:p>
        </p:txBody>
      </p:sp>
      <p:sp>
        <p:nvSpPr>
          <p:cNvPr id="14216" name="Row Dot 4"/>
          <p:cNvSpPr/>
          <p:nvPr/>
        </p:nvSpPr>
        <p:spPr>
          <a:xfrm>
            <a:off x="4741164" y="5230368"/>
            <a:ext cx="77724" cy="77724"/>
          </a:xfrm>
          <a:prstGeom prst="ellipse">
            <a:avLst/>
          </a:prstGeom>
          <a:solidFill>
            <a:srgbClr val="2868A8"/>
          </a:solidFill>
          <a:ln>
            <a:noFill/>
          </a:ln>
        </p:spPr>
        <p:txBody>
          <a:bodyPr/>
          <a:lstStyle/>
          <a:p>
            <a:pPr algn="ctr" rtl="1"/>
            <a:endParaRPr lang="he-IL"/>
          </a:p>
        </p:txBody>
      </p:sp>
      <p:sp>
        <p:nvSpPr>
          <p:cNvPr id="14217" name="Row Text 4"/>
          <p:cNvSpPr txBox="1"/>
          <p:nvPr/>
        </p:nvSpPr>
        <p:spPr>
          <a:xfrm>
            <a:off x="1216152" y="5404104"/>
            <a:ext cx="360273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השתמש בתבנית הארגונית כשאפשר.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7.png"/>
          <p:cNvPicPr>
            <a:picLocks noChangeAspect="1"/>
          </p:cNvPicPr>
          <p:nvPr/>
        </p:nvPicPr>
        <p:blipFill>
          <a:blip r:embed="rId6"/>
          <a:stretch>
            <a:fillRect/>
          </a:stretch>
        </p:blipFill>
        <p:spPr>
          <a:xfrm>
            <a:off x="868680" y="2029968"/>
            <a:ext cx="384048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ט י מ ס</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טימס: מה אפשר ומה צריך לדעת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17/27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6264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T</a:t>
            </a:r>
          </a:p>
        </p:txBody>
      </p:sp>
      <p:pic>
        <p:nvPicPr>
          <p:cNvPr id="16" name="Picture 15" descr="image.png"/>
          <p:cNvPicPr>
            <a:picLocks noChangeAspect="1"/>
          </p:cNvPicPr>
          <p:nvPr/>
        </p:nvPicPr>
        <p:blipFill>
          <a:blip r:embed="rId7"/>
          <a:stretch>
            <a:fillRect/>
          </a:stretch>
        </p:blipFill>
        <p:spPr>
          <a:xfrm>
            <a:off x="11064240" y="2157984"/>
            <a:ext cx="292608" cy="292608"/>
          </a:xfrm>
          <a:prstGeom prst="rect">
            <a:avLst/>
          </a:prstGeom>
        </p:spPr>
      </p:pic>
      <p:sp>
        <p:nvSpPr>
          <p:cNvPr id="17" name="S15Bullet 1"/>
          <p:cNvSpPr txBox="1"/>
          <p:nvPr/>
        </p:nvSpPr>
        <p:spPr>
          <a:xfrm>
            <a:off x="4892040" y="2066543"/>
            <a:ext cx="605332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סיכום דיון וחילוץ החלטות ומשימות.</a:t>
            </a:r>
          </a:p>
        </p:txBody>
      </p:sp>
      <p:pic>
        <p:nvPicPr>
          <p:cNvPr id="18" name="Picture 17" descr="image.png"/>
          <p:cNvPicPr>
            <a:picLocks noChangeAspect="1"/>
          </p:cNvPicPr>
          <p:nvPr/>
        </p:nvPicPr>
        <p:blipFill>
          <a:blip r:embed="rId7"/>
          <a:stretch>
            <a:fillRect/>
          </a:stretch>
        </p:blipFill>
        <p:spPr>
          <a:xfrm>
            <a:off x="11064240" y="3118103"/>
            <a:ext cx="292608" cy="292608"/>
          </a:xfrm>
          <a:prstGeom prst="rect">
            <a:avLst/>
          </a:prstGeom>
        </p:spPr>
      </p:pic>
      <p:sp>
        <p:nvSpPr>
          <p:cNvPr id="19" name="S15Bullet 2"/>
          <p:cNvSpPr txBox="1"/>
          <p:nvPr/>
        </p:nvSpPr>
        <p:spPr>
          <a:xfrm>
            <a:off x="4892040" y="3026663"/>
            <a:ext cx="605332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חזרה למקור ובדיקה מה הוחלט.</a:t>
            </a:r>
          </a:p>
        </p:txBody>
      </p:sp>
      <p:pic>
        <p:nvPicPr>
          <p:cNvPr id="20" name="Picture 19" descr="image.png"/>
          <p:cNvPicPr>
            <a:picLocks noChangeAspect="1"/>
          </p:cNvPicPr>
          <p:nvPr/>
        </p:nvPicPr>
        <p:blipFill>
          <a:blip r:embed="rId8"/>
          <a:stretch>
            <a:fillRect/>
          </a:stretch>
        </p:blipFill>
        <p:spPr>
          <a:xfrm>
            <a:off x="11064240" y="4078223"/>
            <a:ext cx="292608" cy="292608"/>
          </a:xfrm>
          <a:prstGeom prst="rect">
            <a:avLst/>
          </a:prstGeom>
        </p:spPr>
      </p:pic>
      <p:sp>
        <p:nvSpPr>
          <p:cNvPr id="21" name="S15Bullet 3"/>
          <p:cNvSpPr txBox="1"/>
          <p:nvPr/>
        </p:nvSpPr>
        <p:spPr>
          <a:xfrm>
            <a:off x="4892040" y="3986783"/>
            <a:ext cx="605332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לפני שמתחילים: בודקים רישוי ומקור מתאים.</a:t>
            </a:r>
          </a:p>
        </p:txBody>
      </p:sp>
      <p:pic>
        <p:nvPicPr>
          <p:cNvPr id="22" name="Picture 21" descr="image.png"/>
          <p:cNvPicPr>
            <a:picLocks noChangeAspect="1"/>
          </p:cNvPicPr>
          <p:nvPr/>
        </p:nvPicPr>
        <p:blipFill>
          <a:blip r:embed="rId9"/>
          <a:stretch>
            <a:fillRect/>
          </a:stretch>
        </p:blipFill>
        <p:spPr>
          <a:xfrm>
            <a:off x="11064240" y="5038344"/>
            <a:ext cx="292608" cy="292608"/>
          </a:xfrm>
          <a:prstGeom prst="rect">
            <a:avLst/>
          </a:prstGeom>
        </p:spPr>
      </p:pic>
      <p:sp>
        <p:nvSpPr>
          <p:cNvPr id="23" name="S15Bullet 4"/>
          <p:cNvSpPr txBox="1"/>
          <p:nvPr/>
        </p:nvSpPr>
        <p:spPr>
          <a:xfrm>
            <a:off x="4892040" y="4946904"/>
            <a:ext cx="605332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לסיכום הדברים שנאמרו אחרי הפגישה נדרש מקור שמור.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ט י מ ס</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מה נעשה עכשיו בטימס</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18/27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6264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T</a:t>
            </a:r>
          </a:p>
        </p:txBody>
      </p:sp>
      <p:pic>
        <p:nvPicPr>
          <p:cNvPr id="600" name="Picture 600" descr="1.png"/>
          <p:cNvPicPr>
            <a:picLocks noChangeAspect="1"/>
          </p:cNvPicPr>
          <p:nvPr/>
        </p:nvPicPr>
        <p:blipFill>
          <a:blip r:embed="rIdIcon1"/>
          <a:stretch>
            <a:fillRect/>
          </a:stretch>
        </p:blipFill>
        <p:spPr>
          <a:xfrm>
            <a:off x="11064240" y="2121408"/>
            <a:ext cx="292608" cy="292608"/>
          </a:xfrm>
          <a:prstGeom prst="rect">
            <a:avLst/>
          </a:prstGeom>
        </p:spPr>
      </p:pic>
      <p:sp>
        <p:nvSpPr>
          <p:cNvPr id="601" name="S14Bullet 1"/>
          <p:cNvSpPr txBox="1"/>
          <p:nvPr/>
        </p:nvSpPr>
        <p:spPr>
          <a:xfrm>
            <a:off x="5349240" y="206654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נפתח פגישה עם תמלול, או את פרוטוקול התרגול.</a:t>
            </a:r>
          </a:p>
        </p:txBody>
      </p:sp>
      <p:pic>
        <p:nvPicPr>
          <p:cNvPr id="602" name="Picture 602" descr="2.png"/>
          <p:cNvPicPr>
            <a:picLocks noChangeAspect="1"/>
          </p:cNvPicPr>
          <p:nvPr/>
        </p:nvPicPr>
        <p:blipFill>
          <a:blip r:embed="rIdIcon2"/>
          <a:stretch>
            <a:fillRect/>
          </a:stretch>
        </p:blipFill>
        <p:spPr>
          <a:xfrm>
            <a:off x="11064240" y="2944368"/>
            <a:ext cx="292608" cy="292608"/>
          </a:xfrm>
          <a:prstGeom prst="rect">
            <a:avLst/>
          </a:prstGeom>
        </p:spPr>
      </p:pic>
      <p:sp>
        <p:nvSpPr>
          <p:cNvPr id="603" name="S14Bullet 2"/>
          <p:cNvSpPr txBox="1"/>
          <p:nvPr/>
        </p:nvSpPr>
        <p:spPr>
          <a:xfrm>
            <a:off x="5349240" y="288950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נבקש החלטות עם ציטוט קצר מהמקור.</a:t>
            </a:r>
          </a:p>
        </p:txBody>
      </p:sp>
      <p:pic>
        <p:nvPicPr>
          <p:cNvPr id="604" name="Picture 604" descr="3.png"/>
          <p:cNvPicPr>
            <a:picLocks noChangeAspect="1"/>
          </p:cNvPicPr>
          <p:nvPr/>
        </p:nvPicPr>
        <p:blipFill>
          <a:blip r:embed="rIdIcon3"/>
          <a:stretch>
            <a:fillRect/>
          </a:stretch>
        </p:blipFill>
        <p:spPr>
          <a:xfrm>
            <a:off x="11064240" y="3767327"/>
            <a:ext cx="292608" cy="292608"/>
          </a:xfrm>
          <a:prstGeom prst="rect">
            <a:avLst/>
          </a:prstGeom>
        </p:spPr>
      </p:pic>
      <p:sp>
        <p:nvSpPr>
          <p:cNvPr id="605" name="S14Bullet 3"/>
          <p:cNvSpPr txBox="1"/>
          <p:nvPr/>
        </p:nvSpPr>
        <p:spPr>
          <a:xfrm>
            <a:off x="5349240" y="371246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נבקש משימות: מי אחראי, על מה ועד מתי.</a:t>
            </a:r>
          </a:p>
        </p:txBody>
      </p:sp>
      <p:pic>
        <p:nvPicPr>
          <p:cNvPr id="606" name="Picture 606" descr="4.png"/>
          <p:cNvPicPr>
            <a:picLocks noChangeAspect="1"/>
          </p:cNvPicPr>
          <p:nvPr/>
        </p:nvPicPr>
        <p:blipFill>
          <a:blip r:embed="rIdIcon4"/>
          <a:stretch>
            <a:fillRect/>
          </a:stretch>
        </p:blipFill>
        <p:spPr>
          <a:xfrm>
            <a:off x="11064240" y="4590288"/>
            <a:ext cx="292608" cy="292608"/>
          </a:xfrm>
          <a:prstGeom prst="rect">
            <a:avLst/>
          </a:prstGeom>
        </p:spPr>
      </p:pic>
      <p:sp>
        <p:nvSpPr>
          <p:cNvPr id="607" name="S14Bullet 4"/>
          <p:cNvSpPr txBox="1"/>
          <p:nvPr/>
        </p:nvSpPr>
        <p:spPr>
          <a:xfrm>
            <a:off x="5349240" y="4535424"/>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נוודא שהסיכום לא הוסיף דבר שלא נאמר.</a:t>
            </a:r>
          </a:p>
        </p:txBody>
      </p:sp>
      <p:pic>
        <p:nvPicPr>
          <p:cNvPr id="608" name="Picture 608" descr="go.png"/>
          <p:cNvPicPr>
            <a:picLocks noChangeAspect="1"/>
          </p:cNvPicPr>
          <p:nvPr/>
        </p:nvPicPr>
        <p:blipFill>
          <a:blip r:embed="rIdIcon5"/>
          <a:stretch>
            <a:fillRect/>
          </a:stretch>
        </p:blipFill>
        <p:spPr>
          <a:xfrm>
            <a:off x="11064240" y="5413247"/>
            <a:ext cx="292608" cy="292608"/>
          </a:xfrm>
          <a:prstGeom prst="rect">
            <a:avLst/>
          </a:prstGeom>
        </p:spPr>
      </p:pic>
      <p:sp>
        <p:nvSpPr>
          <p:cNvPr id="609" name="S14Bullet 5"/>
          <p:cNvSpPr txBox="1"/>
          <p:nvPr/>
        </p:nvSpPr>
        <p:spPr>
          <a:xfrm>
            <a:off x="5349240" y="535838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תורכם: בדקו החלטה ומשימה מול המקור.</a:t>
            </a:r>
          </a:p>
        </p:txBody>
      </p:sp>
      <p:sp>
        <p:nvSpPr>
          <p:cNvPr id="16200" name="Card Slot"/>
          <p:cNvSpPr/>
          <p:nvPr/>
        </p:nvSpPr>
        <p:spPr>
          <a:xfrm>
            <a:off x="868680" y="2029968"/>
            <a:ext cx="4389120" cy="4617720"/>
          </a:xfrm>
          <a:prstGeom prst="roundRect">
            <a:avLst>
              <a:gd name="adj" fmla="val 3000"/>
            </a:avLst>
          </a:prstGeom>
          <a:solidFill>
            <a:srgbClr val="EAF1FA"/>
          </a:solidFill>
          <a:ln>
            <a:noFill/>
          </a:ln>
        </p:spPr>
        <p:txBody>
          <a:bodyPr/>
          <a:lstStyle/>
          <a:p>
            <a:pPr algn="ctr" rtl="1"/>
            <a:endParaRPr lang="he-IL"/>
          </a:p>
        </p:txBody>
      </p:sp>
      <p:sp>
        <p:nvSpPr>
          <p:cNvPr id="16201" name="Card BG"/>
          <p:cNvSpPr/>
          <p:nvPr/>
        </p:nvSpPr>
        <p:spPr>
          <a:xfrm>
            <a:off x="960120" y="2121408"/>
            <a:ext cx="4206240" cy="4434840"/>
          </a:xfrm>
          <a:prstGeom prst="roundRect">
            <a:avLst>
              <a:gd name="adj" fmla="val 3500"/>
            </a:avLst>
          </a:prstGeom>
          <a:solidFill>
            <a:srgbClr val="FFFFFF"/>
          </a:solidFill>
          <a:ln w="9525">
            <a:solidFill>
              <a:srgbClr val="E3EAF2"/>
            </a:solidFill>
          </a:ln>
          <a:effectLst>
            <a:outerShdw blurRad="50800" dist="25400" dir="5400000" algn="tl" rotWithShape="0">
              <a:srgbClr val="141818">
                <a:alpha val="12000"/>
              </a:srgbClr>
            </a:outerShdw>
          </a:effectLst>
        </p:spPr>
        <p:txBody>
          <a:bodyPr/>
          <a:lstStyle/>
          <a:p>
            <a:pPr algn="ctr" rtl="1"/>
            <a:endParaRPr lang="he-IL"/>
          </a:p>
        </p:txBody>
      </p:sp>
      <p:sp>
        <p:nvSpPr>
          <p:cNvPr id="16202" name="Card Title"/>
          <p:cNvSpPr txBox="1"/>
          <p:nvPr/>
        </p:nvSpPr>
        <p:spPr>
          <a:xfrm>
            <a:off x="1216152" y="2340864"/>
            <a:ext cx="3694176" cy="347472"/>
          </a:xfrm>
          <a:prstGeom prst="rect">
            <a:avLst/>
          </a:prstGeom>
          <a:noFill/>
        </p:spPr>
        <p:txBody>
          <a:bodyPr wrap="square" lIns="0" tIns="0" rIns="0" bIns="0">
            <a:spAutoFit/>
          </a:bodyPr>
          <a:lstStyle/>
          <a:p>
            <a:pPr algn="r" rtl="1">
              <a:lnSpc>
                <a:spcPct val="112000"/>
              </a:lnSpc>
            </a:pPr>
            <a:r>
              <a:rPr lang="he-IL" sz="1800" b="1" dirty="0">
                <a:solidFill>
                  <a:srgbClr val="0F2B46"/>
                </a:solidFill>
                <a:latin typeface="Segoe UI"/>
                <a:cs typeface="Segoe UI"/>
              </a:rPr>
              <a:t>מה נבקש עכשיו</a:t>
            </a:r>
          </a:p>
        </p:txBody>
      </p:sp>
      <p:sp>
        <p:nvSpPr>
          <p:cNvPr id="16203" name="Card Chip"/>
          <p:cNvSpPr/>
          <p:nvPr/>
        </p:nvSpPr>
        <p:spPr>
          <a:xfrm>
            <a:off x="2514600" y="2798064"/>
            <a:ext cx="2395728" cy="292608"/>
          </a:xfrm>
          <a:prstGeom prst="roundRect">
            <a:avLst>
              <a:gd name="adj" fmla="val 22000"/>
            </a:avLst>
          </a:prstGeom>
          <a:solidFill>
            <a:srgbClr val="E8F0FA"/>
          </a:solidFill>
          <a:ln>
            <a:noFill/>
          </a:ln>
        </p:spPr>
        <p:txBody>
          <a:bodyPr/>
          <a:lstStyle/>
          <a:p>
            <a:pPr algn="ctr" rtl="1"/>
            <a:endParaRPr lang="he-IL"/>
          </a:p>
        </p:txBody>
      </p:sp>
      <p:sp>
        <p:nvSpPr>
          <p:cNvPr id="16204" name="Chip Icon"/>
          <p:cNvSpPr/>
          <p:nvPr/>
        </p:nvSpPr>
        <p:spPr>
          <a:xfrm>
            <a:off x="2596896" y="2852928"/>
            <a:ext cx="182880" cy="182880"/>
          </a:xfrm>
          <a:prstGeom prst="roundRect">
            <a:avLst>
              <a:gd name="adj" fmla="val 16000"/>
            </a:avLst>
          </a:prstGeom>
          <a:solidFill>
            <a:srgbClr val="5059C9"/>
          </a:solidFill>
          <a:ln>
            <a:noFill/>
          </a:ln>
        </p:spPr>
        <p:txBody>
          <a:bodyPr/>
          <a:lstStyle/>
          <a:p>
            <a:pPr algn="ctr" rtl="1"/>
            <a:endParaRPr lang="he-IL"/>
          </a:p>
        </p:txBody>
      </p:sp>
      <p:sp>
        <p:nvSpPr>
          <p:cNvPr id="16205" name="Chip Icon Letter"/>
          <p:cNvSpPr txBox="1"/>
          <p:nvPr/>
        </p:nvSpPr>
        <p:spPr>
          <a:xfrm>
            <a:off x="2596896" y="2875788"/>
            <a:ext cx="182880" cy="146304"/>
          </a:xfrm>
          <a:prstGeom prst="rect">
            <a:avLst/>
          </a:prstGeom>
          <a:noFill/>
        </p:spPr>
        <p:txBody>
          <a:bodyPr wrap="square" lIns="0" tIns="0" rIns="0" bIns="0">
            <a:spAutoFit/>
          </a:bodyPr>
          <a:lstStyle/>
          <a:p>
            <a:pPr algn="ctr" rtl="1">
              <a:lnSpc>
                <a:spcPct val="112000"/>
              </a:lnSpc>
            </a:pPr>
            <a:r>
              <a:rPr lang="he-IL" sz="900" b="1" dirty="0">
                <a:solidFill>
                  <a:srgbClr val="FFFFFF"/>
                </a:solidFill>
                <a:latin typeface="Segoe UI"/>
                <a:cs typeface="Segoe UI"/>
              </a:rPr>
              <a:t>T</a:t>
            </a:r>
          </a:p>
        </p:txBody>
      </p:sp>
      <p:sp>
        <p:nvSpPr>
          <p:cNvPr id="16206" name="Chip Text"/>
          <p:cNvSpPr txBox="1"/>
          <p:nvPr/>
        </p:nvSpPr>
        <p:spPr>
          <a:xfrm>
            <a:off x="2825496" y="2866644"/>
            <a:ext cx="1975104" cy="182880"/>
          </a:xfrm>
          <a:prstGeom prst="rect">
            <a:avLst/>
          </a:prstGeom>
          <a:noFill/>
        </p:spPr>
        <p:txBody>
          <a:bodyPr wrap="square" lIns="0" tIns="0" rIns="0" bIns="0">
            <a:spAutoFit/>
          </a:bodyPr>
          <a:lstStyle/>
          <a:p>
            <a:pPr algn="r" rtl="1">
              <a:lnSpc>
                <a:spcPct val="112000"/>
              </a:lnSpc>
            </a:pPr>
            <a:r>
              <a:rPr lang="he-IL" sz="1000" b="0" dirty="0">
                <a:solidFill>
                  <a:srgbClr val="2868A8"/>
                </a:solidFill>
                <a:latin typeface="Segoe UI"/>
                <a:cs typeface="Segoe UI"/>
              </a:rPr>
              <a:t>תמלול או פרוטוקול תרגול</a:t>
            </a:r>
          </a:p>
        </p:txBody>
      </p:sp>
      <p:sp>
        <p:nvSpPr>
          <p:cNvPr id="16207" name="Card Rule"/>
          <p:cNvSpPr/>
          <p:nvPr/>
        </p:nvSpPr>
        <p:spPr>
          <a:xfrm>
            <a:off x="1216152" y="3273552"/>
            <a:ext cx="3694176" cy="9525"/>
          </a:xfrm>
          <a:prstGeom prst="rect">
            <a:avLst/>
          </a:prstGeom>
          <a:solidFill>
            <a:srgbClr val="E3EAF2"/>
          </a:solidFill>
          <a:ln>
            <a:noFill/>
          </a:ln>
        </p:spPr>
        <p:txBody>
          <a:bodyPr/>
          <a:lstStyle/>
          <a:p>
            <a:pPr algn="ctr" rtl="1"/>
            <a:endParaRPr lang="he-IL"/>
          </a:p>
        </p:txBody>
      </p:sp>
      <p:sp>
        <p:nvSpPr>
          <p:cNvPr id="16210" name="Row Dot 1"/>
          <p:cNvSpPr/>
          <p:nvPr/>
        </p:nvSpPr>
        <p:spPr>
          <a:xfrm>
            <a:off x="4832604" y="3529584"/>
            <a:ext cx="77724" cy="77724"/>
          </a:xfrm>
          <a:prstGeom prst="ellipse">
            <a:avLst/>
          </a:prstGeom>
          <a:solidFill>
            <a:srgbClr val="2868A8"/>
          </a:solidFill>
          <a:ln>
            <a:noFill/>
          </a:ln>
        </p:spPr>
        <p:txBody>
          <a:bodyPr/>
          <a:lstStyle/>
          <a:p>
            <a:pPr algn="ctr" rtl="1"/>
            <a:endParaRPr lang="he-IL"/>
          </a:p>
        </p:txBody>
      </p:sp>
      <p:sp>
        <p:nvSpPr>
          <p:cNvPr id="16211" name="Row Text 1"/>
          <p:cNvSpPr txBox="1"/>
          <p:nvPr/>
        </p:nvSpPr>
        <p:spPr>
          <a:xfrm>
            <a:off x="1216152" y="3703320"/>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סכם את עיקרי הדברים, עם ציטוט לכל נקודה.</a:t>
            </a:r>
          </a:p>
        </p:txBody>
      </p:sp>
      <p:sp>
        <p:nvSpPr>
          <p:cNvPr id="16212" name="Row Dot 2"/>
          <p:cNvSpPr/>
          <p:nvPr/>
        </p:nvSpPr>
        <p:spPr>
          <a:xfrm>
            <a:off x="4832604" y="4096512"/>
            <a:ext cx="77724" cy="77724"/>
          </a:xfrm>
          <a:prstGeom prst="ellipse">
            <a:avLst/>
          </a:prstGeom>
          <a:solidFill>
            <a:srgbClr val="2868A8"/>
          </a:solidFill>
          <a:ln>
            <a:noFill/>
          </a:ln>
        </p:spPr>
        <p:txBody>
          <a:bodyPr/>
          <a:lstStyle/>
          <a:p>
            <a:pPr algn="ctr" rtl="1"/>
            <a:endParaRPr lang="he-IL"/>
          </a:p>
        </p:txBody>
      </p:sp>
      <p:sp>
        <p:nvSpPr>
          <p:cNvPr id="16213" name="Row Text 2"/>
          <p:cNvSpPr txBox="1"/>
          <p:nvPr/>
        </p:nvSpPr>
        <p:spPr>
          <a:xfrm>
            <a:off x="1216152" y="4270248"/>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בנה טבלת משימות: מי אחראי, על מה, עד מתי.</a:t>
            </a:r>
          </a:p>
        </p:txBody>
      </p:sp>
      <p:sp>
        <p:nvSpPr>
          <p:cNvPr id="16214" name="Row Dot 3"/>
          <p:cNvSpPr/>
          <p:nvPr/>
        </p:nvSpPr>
        <p:spPr>
          <a:xfrm>
            <a:off x="4832604" y="4663440"/>
            <a:ext cx="77724" cy="77724"/>
          </a:xfrm>
          <a:prstGeom prst="ellipse">
            <a:avLst/>
          </a:prstGeom>
          <a:solidFill>
            <a:srgbClr val="2868A8"/>
          </a:solidFill>
          <a:ln>
            <a:noFill/>
          </a:ln>
        </p:spPr>
        <p:txBody>
          <a:bodyPr/>
          <a:lstStyle/>
          <a:p>
            <a:pPr algn="ctr" rtl="1"/>
            <a:endParaRPr lang="he-IL"/>
          </a:p>
        </p:txBody>
      </p:sp>
      <p:sp>
        <p:nvSpPr>
          <p:cNvPr id="16215" name="Row Text 3"/>
          <p:cNvSpPr txBox="1"/>
          <p:nvPr/>
        </p:nvSpPr>
        <p:spPr>
          <a:xfrm>
            <a:off x="1216152" y="4837176"/>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מה הוחלט ומה נשאר פתוח?</a:t>
            </a:r>
          </a:p>
        </p:txBody>
      </p:sp>
      <p:sp>
        <p:nvSpPr>
          <p:cNvPr id="16216" name="Row Dot 4"/>
          <p:cNvSpPr/>
          <p:nvPr/>
        </p:nvSpPr>
        <p:spPr>
          <a:xfrm>
            <a:off x="4832604" y="5230368"/>
            <a:ext cx="77724" cy="77724"/>
          </a:xfrm>
          <a:prstGeom prst="ellipse">
            <a:avLst/>
          </a:prstGeom>
          <a:solidFill>
            <a:srgbClr val="2868A8"/>
          </a:solidFill>
          <a:ln>
            <a:noFill/>
          </a:ln>
        </p:spPr>
        <p:txBody>
          <a:bodyPr/>
          <a:lstStyle/>
          <a:p>
            <a:pPr algn="ctr" rtl="1"/>
            <a:endParaRPr lang="he-IL"/>
          </a:p>
        </p:txBody>
      </p:sp>
      <p:sp>
        <p:nvSpPr>
          <p:cNvPr id="16217" name="Row Text 4"/>
          <p:cNvSpPr txBox="1"/>
          <p:nvPr/>
        </p:nvSpPr>
        <p:spPr>
          <a:xfrm>
            <a:off x="1216152" y="5404104"/>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וודא מול התמלול שלא נוסף דבר שלא נאמר.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9.png"/>
          <p:cNvPicPr>
            <a:picLocks noChangeAspect="1"/>
          </p:cNvPicPr>
          <p:nvPr/>
        </p:nvPicPr>
        <p:blipFill>
          <a:blip r:embed="rId6"/>
          <a:stretch>
            <a:fillRect/>
          </a:stretch>
        </p:blipFill>
        <p:spPr>
          <a:xfrm>
            <a:off x="868680" y="2029968"/>
            <a:ext cx="4206240" cy="23532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א א ו ט ל ו ק</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אאוטלוק: מה אפשר ומה צריך לדעת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15/27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O</a:t>
            </a:r>
          </a:p>
        </p:txBody>
      </p:sp>
      <p:pic>
        <p:nvPicPr>
          <p:cNvPr id="16" name="Picture 15" descr="image.png"/>
          <p:cNvPicPr>
            <a:picLocks noChangeAspect="1"/>
          </p:cNvPicPr>
          <p:nvPr/>
        </p:nvPicPr>
        <p:blipFill>
          <a:blip r:embed="rId7"/>
          <a:stretch>
            <a:fillRect/>
          </a:stretch>
        </p:blipFill>
        <p:spPr>
          <a:xfrm>
            <a:off x="11064240" y="2157984"/>
            <a:ext cx="292608" cy="292608"/>
          </a:xfrm>
          <a:prstGeom prst="rect">
            <a:avLst/>
          </a:prstGeom>
        </p:spPr>
      </p:pic>
      <p:sp>
        <p:nvSpPr>
          <p:cNvPr id="17" name="S17Bullet 1"/>
          <p:cNvSpPr txBox="1"/>
          <p:nvPr/>
        </p:nvSpPr>
        <p:spPr>
          <a:xfrm>
            <a:off x="5074920" y="2066543"/>
            <a:ext cx="587044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סיכום שרשור והבנת הפעולה הבאה.</a:t>
            </a:r>
          </a:p>
        </p:txBody>
      </p:sp>
      <p:pic>
        <p:nvPicPr>
          <p:cNvPr id="18" name="Picture 17" descr="image.png"/>
          <p:cNvPicPr>
            <a:picLocks noChangeAspect="1"/>
          </p:cNvPicPr>
          <p:nvPr/>
        </p:nvPicPr>
        <p:blipFill>
          <a:blip r:embed="rId7"/>
          <a:stretch>
            <a:fillRect/>
          </a:stretch>
        </p:blipFill>
        <p:spPr>
          <a:xfrm>
            <a:off x="11064240" y="3118103"/>
            <a:ext cx="292608" cy="292608"/>
          </a:xfrm>
          <a:prstGeom prst="rect">
            <a:avLst/>
          </a:prstGeom>
        </p:spPr>
      </p:pic>
      <p:sp>
        <p:nvSpPr>
          <p:cNvPr id="19" name="S17Bullet 2"/>
          <p:cNvSpPr txBox="1"/>
          <p:nvPr/>
        </p:nvSpPr>
        <p:spPr>
          <a:xfrm>
            <a:off x="5074920" y="3026663"/>
            <a:ext cx="587044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יכולות: ניסוח טיוטת תשובה מקצועית.</a:t>
            </a:r>
          </a:p>
        </p:txBody>
      </p:sp>
      <p:pic>
        <p:nvPicPr>
          <p:cNvPr id="20" name="Picture 19" descr="image.png"/>
          <p:cNvPicPr>
            <a:picLocks noChangeAspect="1"/>
          </p:cNvPicPr>
          <p:nvPr/>
        </p:nvPicPr>
        <p:blipFill>
          <a:blip r:embed="rId8"/>
          <a:stretch>
            <a:fillRect/>
          </a:stretch>
        </p:blipFill>
        <p:spPr>
          <a:xfrm>
            <a:off x="11064240" y="4078223"/>
            <a:ext cx="292608" cy="292608"/>
          </a:xfrm>
          <a:prstGeom prst="rect">
            <a:avLst/>
          </a:prstGeom>
        </p:spPr>
      </p:pic>
      <p:sp>
        <p:nvSpPr>
          <p:cNvPr id="21" name="S17Bullet 3"/>
          <p:cNvSpPr txBox="1"/>
          <p:nvPr/>
        </p:nvSpPr>
        <p:spPr>
          <a:xfrm>
            <a:off x="5074920" y="3986783"/>
            <a:ext cx="5870448" cy="96012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אין התחייבות בלי אישור. אתם מאשרים ושולחים.</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א א ו ט ל ו ק</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מה נעשה עכשיו באאוטלוק</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16/27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O</a:t>
            </a:r>
          </a:p>
        </p:txBody>
      </p:sp>
      <p:pic>
        <p:nvPicPr>
          <p:cNvPr id="16" name="Picture 15" descr="image.png"/>
          <p:cNvPicPr>
            <a:picLocks noChangeAspect="1"/>
          </p:cNvPicPr>
          <p:nvPr/>
        </p:nvPicPr>
        <p:blipFill>
          <a:blip r:embed="rId6"/>
          <a:stretch>
            <a:fillRect/>
          </a:stretch>
        </p:blipFill>
        <p:spPr>
          <a:xfrm>
            <a:off x="11064240" y="2121408"/>
            <a:ext cx="292608" cy="292608"/>
          </a:xfrm>
          <a:prstGeom prst="rect">
            <a:avLst/>
          </a:prstGeom>
        </p:spPr>
      </p:pic>
      <p:sp>
        <p:nvSpPr>
          <p:cNvPr id="17" name="S18Bullet 1"/>
          <p:cNvSpPr txBox="1"/>
          <p:nvPr/>
        </p:nvSpPr>
        <p:spPr>
          <a:xfrm>
            <a:off x="5349240" y="206654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נפתח את שרשור התרגול ונבקש נקודות פעולה.</a:t>
            </a:r>
          </a:p>
        </p:txBody>
      </p:sp>
      <p:pic>
        <p:nvPicPr>
          <p:cNvPr id="18" name="Picture 17" descr="image.png"/>
          <p:cNvPicPr>
            <a:picLocks noChangeAspect="1"/>
          </p:cNvPicPr>
          <p:nvPr/>
        </p:nvPicPr>
        <p:blipFill>
          <a:blip r:embed="rId7"/>
          <a:stretch>
            <a:fillRect/>
          </a:stretch>
        </p:blipFill>
        <p:spPr>
          <a:xfrm>
            <a:off x="11064240" y="2944368"/>
            <a:ext cx="292608" cy="292608"/>
          </a:xfrm>
          <a:prstGeom prst="rect">
            <a:avLst/>
          </a:prstGeom>
        </p:spPr>
      </p:pic>
      <p:sp>
        <p:nvSpPr>
          <p:cNvPr id="19" name="S18Bullet 2"/>
          <p:cNvSpPr txBox="1"/>
          <p:nvPr/>
        </p:nvSpPr>
        <p:spPr>
          <a:xfrm>
            <a:off x="5349240" y="288950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נבקש טיוטת תשובה מקצועית וקצרה.</a:t>
            </a:r>
          </a:p>
        </p:txBody>
      </p:sp>
      <p:pic>
        <p:nvPicPr>
          <p:cNvPr id="20" name="Picture 19" descr="image.png"/>
          <p:cNvPicPr>
            <a:picLocks noChangeAspect="1"/>
          </p:cNvPicPr>
          <p:nvPr/>
        </p:nvPicPr>
        <p:blipFill>
          <a:blip r:embed="rId8"/>
          <a:stretch>
            <a:fillRect/>
          </a:stretch>
        </p:blipFill>
        <p:spPr>
          <a:xfrm>
            <a:off x="11064240" y="3767327"/>
            <a:ext cx="292608" cy="292608"/>
          </a:xfrm>
          <a:prstGeom prst="rect">
            <a:avLst/>
          </a:prstGeom>
        </p:spPr>
      </p:pic>
      <p:sp>
        <p:nvSpPr>
          <p:cNvPr id="21" name="S18Bullet 3"/>
          <p:cNvSpPr txBox="1"/>
          <p:nvPr/>
        </p:nvSpPr>
        <p:spPr>
          <a:xfrm>
            <a:off x="5349240" y="371246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נבדוק שלא נוספו מחיר או תאריך שלא אושרו.</a:t>
            </a:r>
          </a:p>
        </p:txBody>
      </p:sp>
      <p:pic>
        <p:nvPicPr>
          <p:cNvPr id="22" name="Picture 21" descr="image.png"/>
          <p:cNvPicPr>
            <a:picLocks noChangeAspect="1"/>
          </p:cNvPicPr>
          <p:nvPr/>
        </p:nvPicPr>
        <p:blipFill>
          <a:blip r:embed="rId9"/>
          <a:stretch>
            <a:fillRect/>
          </a:stretch>
        </p:blipFill>
        <p:spPr>
          <a:xfrm>
            <a:off x="11064240" y="4590288"/>
            <a:ext cx="292608" cy="292608"/>
          </a:xfrm>
          <a:prstGeom prst="rect">
            <a:avLst/>
          </a:prstGeom>
        </p:spPr>
      </p:pic>
      <p:sp>
        <p:nvSpPr>
          <p:cNvPr id="23" name="S18Bullet 4"/>
          <p:cNvSpPr txBox="1"/>
          <p:nvPr/>
        </p:nvSpPr>
        <p:spPr>
          <a:xfrm>
            <a:off x="5349240" y="4535424"/>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נערוך את הטיוטה ונשווה כל עובדה למקור.</a:t>
            </a:r>
          </a:p>
        </p:txBody>
      </p:sp>
      <p:pic>
        <p:nvPicPr>
          <p:cNvPr id="24" name="Picture 23" descr="image.png"/>
          <p:cNvPicPr>
            <a:picLocks noChangeAspect="1"/>
          </p:cNvPicPr>
          <p:nvPr/>
        </p:nvPicPr>
        <p:blipFill>
          <a:blip r:embed="rId10"/>
          <a:stretch>
            <a:fillRect/>
          </a:stretch>
        </p:blipFill>
        <p:spPr>
          <a:xfrm>
            <a:off x="11064240" y="5413247"/>
            <a:ext cx="292608" cy="292608"/>
          </a:xfrm>
          <a:prstGeom prst="rect">
            <a:avLst/>
          </a:prstGeom>
        </p:spPr>
      </p:pic>
      <p:sp>
        <p:nvSpPr>
          <p:cNvPr id="25" name="S18Bullet 5"/>
          <p:cNvSpPr txBox="1"/>
          <p:nvPr/>
        </p:nvSpPr>
        <p:spPr>
          <a:xfrm>
            <a:off x="5349240" y="5358383"/>
            <a:ext cx="559612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עכשיו תורכם: הכינו טיוטה. בתרגול לא שולחים.</a:t>
            </a:r>
          </a:p>
        </p:txBody>
      </p:sp>
      <p:sp>
        <p:nvSpPr>
          <p:cNvPr id="18200" name="Card Slot"/>
          <p:cNvSpPr/>
          <p:nvPr/>
        </p:nvSpPr>
        <p:spPr>
          <a:xfrm>
            <a:off x="868680" y="2029968"/>
            <a:ext cx="4389120" cy="4617720"/>
          </a:xfrm>
          <a:prstGeom prst="roundRect">
            <a:avLst>
              <a:gd name="adj" fmla="val 3000"/>
            </a:avLst>
          </a:prstGeom>
          <a:solidFill>
            <a:srgbClr val="EAF1FA"/>
          </a:solidFill>
          <a:ln>
            <a:noFill/>
          </a:ln>
        </p:spPr>
        <p:txBody>
          <a:bodyPr/>
          <a:lstStyle/>
          <a:p>
            <a:pPr algn="ctr" rtl="1"/>
            <a:endParaRPr lang="he-IL"/>
          </a:p>
        </p:txBody>
      </p:sp>
      <p:sp>
        <p:nvSpPr>
          <p:cNvPr id="18201" name="Card BG"/>
          <p:cNvSpPr/>
          <p:nvPr/>
        </p:nvSpPr>
        <p:spPr>
          <a:xfrm>
            <a:off x="960120" y="2121408"/>
            <a:ext cx="4206240" cy="4434840"/>
          </a:xfrm>
          <a:prstGeom prst="roundRect">
            <a:avLst>
              <a:gd name="adj" fmla="val 3500"/>
            </a:avLst>
          </a:prstGeom>
          <a:solidFill>
            <a:srgbClr val="FFFFFF"/>
          </a:solidFill>
          <a:ln w="9525">
            <a:solidFill>
              <a:srgbClr val="E3EAF2"/>
            </a:solidFill>
          </a:ln>
          <a:effectLst>
            <a:outerShdw blurRad="50800" dist="25400" dir="5400000" algn="tl" rotWithShape="0">
              <a:srgbClr val="141818">
                <a:alpha val="12000"/>
              </a:srgbClr>
            </a:outerShdw>
          </a:effectLst>
        </p:spPr>
        <p:txBody>
          <a:bodyPr/>
          <a:lstStyle/>
          <a:p>
            <a:pPr algn="ctr" rtl="1"/>
            <a:endParaRPr lang="he-IL"/>
          </a:p>
        </p:txBody>
      </p:sp>
      <p:sp>
        <p:nvSpPr>
          <p:cNvPr id="18202" name="Card Title"/>
          <p:cNvSpPr txBox="1"/>
          <p:nvPr/>
        </p:nvSpPr>
        <p:spPr>
          <a:xfrm>
            <a:off x="1216152" y="2340864"/>
            <a:ext cx="3694176" cy="347472"/>
          </a:xfrm>
          <a:prstGeom prst="rect">
            <a:avLst/>
          </a:prstGeom>
          <a:noFill/>
        </p:spPr>
        <p:txBody>
          <a:bodyPr wrap="square" lIns="0" tIns="0" rIns="0" bIns="0">
            <a:spAutoFit/>
          </a:bodyPr>
          <a:lstStyle/>
          <a:p>
            <a:pPr algn="r" rtl="1">
              <a:lnSpc>
                <a:spcPct val="112000"/>
              </a:lnSpc>
            </a:pPr>
            <a:r>
              <a:rPr lang="he-IL" sz="1800" b="1" dirty="0">
                <a:solidFill>
                  <a:srgbClr val="0F2B46"/>
                </a:solidFill>
                <a:latin typeface="Segoe UI"/>
                <a:cs typeface="Segoe UI"/>
              </a:rPr>
              <a:t>מה נבקש עכשיו</a:t>
            </a:r>
          </a:p>
        </p:txBody>
      </p:sp>
      <p:sp>
        <p:nvSpPr>
          <p:cNvPr id="18203" name="Card Chip"/>
          <p:cNvSpPr/>
          <p:nvPr/>
        </p:nvSpPr>
        <p:spPr>
          <a:xfrm>
            <a:off x="2514600" y="2798064"/>
            <a:ext cx="2395728" cy="292608"/>
          </a:xfrm>
          <a:prstGeom prst="roundRect">
            <a:avLst>
              <a:gd name="adj" fmla="val 22000"/>
            </a:avLst>
          </a:prstGeom>
          <a:solidFill>
            <a:srgbClr val="E8F0FA"/>
          </a:solidFill>
          <a:ln>
            <a:noFill/>
          </a:ln>
        </p:spPr>
        <p:txBody>
          <a:bodyPr/>
          <a:lstStyle/>
          <a:p>
            <a:pPr algn="ctr" rtl="1"/>
            <a:endParaRPr lang="he-IL"/>
          </a:p>
        </p:txBody>
      </p:sp>
      <p:sp>
        <p:nvSpPr>
          <p:cNvPr id="18204" name="Chip Icon"/>
          <p:cNvSpPr/>
          <p:nvPr/>
        </p:nvSpPr>
        <p:spPr>
          <a:xfrm>
            <a:off x="2596896" y="2852928"/>
            <a:ext cx="182880" cy="182880"/>
          </a:xfrm>
          <a:prstGeom prst="roundRect">
            <a:avLst>
              <a:gd name="adj" fmla="val 16000"/>
            </a:avLst>
          </a:prstGeom>
          <a:solidFill>
            <a:srgbClr val="0F6CBD"/>
          </a:solidFill>
          <a:ln>
            <a:noFill/>
          </a:ln>
        </p:spPr>
        <p:txBody>
          <a:bodyPr/>
          <a:lstStyle/>
          <a:p>
            <a:pPr algn="ctr" rtl="1"/>
            <a:endParaRPr lang="he-IL"/>
          </a:p>
        </p:txBody>
      </p:sp>
      <p:sp>
        <p:nvSpPr>
          <p:cNvPr id="18205" name="Chip Icon Letter"/>
          <p:cNvSpPr txBox="1"/>
          <p:nvPr/>
        </p:nvSpPr>
        <p:spPr>
          <a:xfrm>
            <a:off x="2596896" y="2875788"/>
            <a:ext cx="182880" cy="146304"/>
          </a:xfrm>
          <a:prstGeom prst="rect">
            <a:avLst/>
          </a:prstGeom>
          <a:noFill/>
        </p:spPr>
        <p:txBody>
          <a:bodyPr wrap="square" lIns="0" tIns="0" rIns="0" bIns="0">
            <a:spAutoFit/>
          </a:bodyPr>
          <a:lstStyle/>
          <a:p>
            <a:pPr algn="ctr" rtl="1">
              <a:lnSpc>
                <a:spcPct val="112000"/>
              </a:lnSpc>
            </a:pPr>
            <a:r>
              <a:rPr lang="he-IL" sz="900" b="1" dirty="0">
                <a:solidFill>
                  <a:srgbClr val="FFFFFF"/>
                </a:solidFill>
                <a:latin typeface="Segoe UI"/>
                <a:cs typeface="Segoe UI"/>
              </a:rPr>
              <a:t>O</a:t>
            </a:r>
          </a:p>
        </p:txBody>
      </p:sp>
      <p:sp>
        <p:nvSpPr>
          <p:cNvPr id="18206" name="Chip Text"/>
          <p:cNvSpPr txBox="1"/>
          <p:nvPr/>
        </p:nvSpPr>
        <p:spPr>
          <a:xfrm>
            <a:off x="2825496" y="2866644"/>
            <a:ext cx="1975104" cy="182880"/>
          </a:xfrm>
          <a:prstGeom prst="rect">
            <a:avLst/>
          </a:prstGeom>
          <a:noFill/>
        </p:spPr>
        <p:txBody>
          <a:bodyPr wrap="square" lIns="0" tIns="0" rIns="0" bIns="0">
            <a:spAutoFit/>
          </a:bodyPr>
          <a:lstStyle/>
          <a:p>
            <a:pPr algn="r" rtl="1">
              <a:lnSpc>
                <a:spcPct val="112000"/>
              </a:lnSpc>
            </a:pPr>
            <a:r>
              <a:rPr lang="he-IL" sz="1000" b="0" dirty="0">
                <a:solidFill>
                  <a:srgbClr val="2868A8"/>
                </a:solidFill>
                <a:latin typeface="Segoe UI"/>
                <a:cs typeface="Segoe UI"/>
              </a:rPr>
              <a:t>שרשור מייל ארוך</a:t>
            </a:r>
          </a:p>
        </p:txBody>
      </p:sp>
      <p:sp>
        <p:nvSpPr>
          <p:cNvPr id="18207" name="Card Rule"/>
          <p:cNvSpPr/>
          <p:nvPr/>
        </p:nvSpPr>
        <p:spPr>
          <a:xfrm>
            <a:off x="1216152" y="3273552"/>
            <a:ext cx="3694176" cy="9525"/>
          </a:xfrm>
          <a:prstGeom prst="rect">
            <a:avLst/>
          </a:prstGeom>
          <a:solidFill>
            <a:srgbClr val="E3EAF2"/>
          </a:solidFill>
          <a:ln>
            <a:noFill/>
          </a:ln>
        </p:spPr>
        <p:txBody>
          <a:bodyPr/>
          <a:lstStyle/>
          <a:p>
            <a:pPr algn="ctr" rtl="1"/>
            <a:endParaRPr lang="he-IL"/>
          </a:p>
        </p:txBody>
      </p:sp>
      <p:sp>
        <p:nvSpPr>
          <p:cNvPr id="18210" name="Row Dot 1"/>
          <p:cNvSpPr/>
          <p:nvPr/>
        </p:nvSpPr>
        <p:spPr>
          <a:xfrm>
            <a:off x="4832604" y="3529584"/>
            <a:ext cx="77724" cy="77724"/>
          </a:xfrm>
          <a:prstGeom prst="ellipse">
            <a:avLst/>
          </a:prstGeom>
          <a:solidFill>
            <a:srgbClr val="2868A8"/>
          </a:solidFill>
          <a:ln>
            <a:noFill/>
          </a:ln>
        </p:spPr>
        <p:txBody>
          <a:bodyPr/>
          <a:lstStyle/>
          <a:p>
            <a:pPr algn="ctr" rtl="1"/>
            <a:endParaRPr lang="he-IL"/>
          </a:p>
        </p:txBody>
      </p:sp>
      <p:sp>
        <p:nvSpPr>
          <p:cNvPr id="18211" name="Row Text 1"/>
          <p:cNvSpPr txBox="1"/>
          <p:nvPr/>
        </p:nvSpPr>
        <p:spPr>
          <a:xfrm>
            <a:off x="1216152" y="3703320"/>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סכם את השרשור לנקודות פעולה.</a:t>
            </a:r>
          </a:p>
        </p:txBody>
      </p:sp>
      <p:sp>
        <p:nvSpPr>
          <p:cNvPr id="18212" name="Row Dot 2"/>
          <p:cNvSpPr/>
          <p:nvPr/>
        </p:nvSpPr>
        <p:spPr>
          <a:xfrm>
            <a:off x="4832604" y="4096512"/>
            <a:ext cx="77724" cy="77724"/>
          </a:xfrm>
          <a:prstGeom prst="ellipse">
            <a:avLst/>
          </a:prstGeom>
          <a:solidFill>
            <a:srgbClr val="2868A8"/>
          </a:solidFill>
          <a:ln>
            <a:noFill/>
          </a:ln>
        </p:spPr>
        <p:txBody>
          <a:bodyPr/>
          <a:lstStyle/>
          <a:p>
            <a:pPr algn="ctr" rtl="1"/>
            <a:endParaRPr lang="he-IL"/>
          </a:p>
        </p:txBody>
      </p:sp>
      <p:sp>
        <p:nvSpPr>
          <p:cNvPr id="18213" name="Row Text 2"/>
          <p:cNvSpPr txBox="1"/>
          <p:nvPr/>
        </p:nvSpPr>
        <p:spPr>
          <a:xfrm>
            <a:off x="1216152" y="4270248"/>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נסח טיוטת תשובה בטון מקצועי.</a:t>
            </a:r>
          </a:p>
        </p:txBody>
      </p:sp>
      <p:sp>
        <p:nvSpPr>
          <p:cNvPr id="18214" name="Row Dot 3"/>
          <p:cNvSpPr/>
          <p:nvPr/>
        </p:nvSpPr>
        <p:spPr>
          <a:xfrm>
            <a:off x="4832604" y="4663440"/>
            <a:ext cx="77724" cy="77724"/>
          </a:xfrm>
          <a:prstGeom prst="ellipse">
            <a:avLst/>
          </a:prstGeom>
          <a:solidFill>
            <a:srgbClr val="2868A8"/>
          </a:solidFill>
          <a:ln>
            <a:noFill/>
          </a:ln>
        </p:spPr>
        <p:txBody>
          <a:bodyPr/>
          <a:lstStyle/>
          <a:p>
            <a:pPr algn="ctr" rtl="1"/>
            <a:endParaRPr lang="he-IL"/>
          </a:p>
        </p:txBody>
      </p:sp>
      <p:sp>
        <p:nvSpPr>
          <p:cNvPr id="18215" name="Row Text 3"/>
          <p:cNvSpPr txBox="1"/>
          <p:nvPr/>
        </p:nvSpPr>
        <p:spPr>
          <a:xfrm>
            <a:off x="1216152" y="4837176"/>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אל תתחייב למחיר או למועד שלא אושרו.</a:t>
            </a:r>
          </a:p>
        </p:txBody>
      </p:sp>
      <p:sp>
        <p:nvSpPr>
          <p:cNvPr id="18216" name="Row Dot 4"/>
          <p:cNvSpPr/>
          <p:nvPr/>
        </p:nvSpPr>
        <p:spPr>
          <a:xfrm>
            <a:off x="4832604" y="5230368"/>
            <a:ext cx="77724" cy="77724"/>
          </a:xfrm>
          <a:prstGeom prst="ellipse">
            <a:avLst/>
          </a:prstGeom>
          <a:solidFill>
            <a:srgbClr val="2868A8"/>
          </a:solidFill>
          <a:ln>
            <a:noFill/>
          </a:ln>
        </p:spPr>
        <p:txBody>
          <a:bodyPr/>
          <a:lstStyle/>
          <a:p>
            <a:pPr algn="ctr" rtl="1"/>
            <a:endParaRPr lang="he-IL"/>
          </a:p>
        </p:txBody>
      </p:sp>
      <p:sp>
        <p:nvSpPr>
          <p:cNvPr id="18217" name="Row Text 4"/>
          <p:cNvSpPr txBox="1"/>
          <p:nvPr/>
        </p:nvSpPr>
        <p:spPr>
          <a:xfrm>
            <a:off x="1216152" y="5404104"/>
            <a:ext cx="3694176" cy="310896"/>
          </a:xfrm>
          <a:prstGeom prst="rect">
            <a:avLst/>
          </a:prstGeom>
          <a:noFill/>
        </p:spPr>
        <p:txBody>
          <a:bodyPr wrap="square" lIns="0" tIns="0" rIns="0" bIns="0">
            <a:spAutoFit/>
          </a:bodyPr>
          <a:lstStyle/>
          <a:p>
            <a:pPr algn="r" rtl="1">
              <a:lnSpc>
                <a:spcPct val="112000"/>
              </a:lnSpc>
            </a:pPr>
            <a:r>
              <a:rPr lang="he-IL" sz="1250" b="0" dirty="0">
                <a:solidFill>
                  <a:srgbClr val="5A6672"/>
                </a:solidFill>
                <a:latin typeface="Segoe UI"/>
                <a:cs typeface="Segoe UI"/>
              </a:rPr>
              <a:t>וודא שכל עובדה מופיעה במייל המקורי.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5" name="Picture 14" descr="s11.png"/>
          <p:cNvPicPr>
            <a:picLocks noChangeAspect="1"/>
          </p:cNvPicPr>
          <p:nvPr/>
        </p:nvPicPr>
        <p:blipFill>
          <a:blip r:embed="rId11"/>
          <a:stretch>
            <a:fillRect/>
          </a:stretch>
        </p:blipFill>
        <p:spPr>
          <a:xfrm>
            <a:off x="868680" y="2029968"/>
            <a:ext cx="4206240" cy="2623745"/>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ח י פ ו ש   מ י ד ע</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חיפוש מידע בקבצים של הארגון</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19/27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14" name="Rounded Rectangle 13"/>
          <p:cNvSpPr/>
          <p:nvPr/>
        </p:nvSpPr>
        <p:spPr>
          <a:xfrm>
            <a:off x="10847527" y="1389888"/>
            <a:ext cx="566928" cy="566928"/>
          </a:xfrm>
          <a:prstGeom prst="roundRect">
            <a:avLst>
              <a:gd name="adj" fmla="val 18000"/>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Segoe UI"/>
              </a:rPr>
              <a:t>☁</a:t>
            </a:r>
          </a:p>
        </p:txBody>
      </p:sp>
      <p:pic>
        <p:nvPicPr>
          <p:cNvPr id="16" name="Picture 15" descr="image.png"/>
          <p:cNvPicPr>
            <a:picLocks noChangeAspect="1"/>
          </p:cNvPicPr>
          <p:nvPr/>
        </p:nvPicPr>
        <p:blipFill>
          <a:blip r:embed="rId6"/>
          <a:stretch>
            <a:fillRect/>
          </a:stretch>
        </p:blipFill>
        <p:spPr>
          <a:xfrm>
            <a:off x="11064240" y="2121408"/>
            <a:ext cx="292608" cy="292608"/>
          </a:xfrm>
          <a:prstGeom prst="rect">
            <a:avLst/>
          </a:prstGeom>
        </p:spPr>
      </p:pic>
      <p:sp>
        <p:nvSpPr>
          <p:cNvPr id="17" name="S19Bullet 1"/>
          <p:cNvSpPr txBox="1"/>
          <p:nvPr/>
        </p:nvSpPr>
        <p:spPr>
          <a:xfrm>
            <a:off x="4800600" y="2066543"/>
            <a:ext cx="61447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הצורך: למצוא תשובה בלי לדעת באיזה מסמך היא נמצאת.</a:t>
            </a:r>
          </a:p>
        </p:txBody>
      </p:sp>
      <p:pic>
        <p:nvPicPr>
          <p:cNvPr id="18" name="Picture 17" descr="image.png"/>
          <p:cNvPicPr>
            <a:picLocks noChangeAspect="1"/>
          </p:cNvPicPr>
          <p:nvPr/>
        </p:nvPicPr>
        <p:blipFill>
          <a:blip r:embed="rId7"/>
          <a:stretch>
            <a:fillRect/>
          </a:stretch>
        </p:blipFill>
        <p:spPr>
          <a:xfrm>
            <a:off x="11064240" y="2944368"/>
            <a:ext cx="292608" cy="292608"/>
          </a:xfrm>
          <a:prstGeom prst="rect">
            <a:avLst/>
          </a:prstGeom>
        </p:spPr>
      </p:pic>
      <p:sp>
        <p:nvSpPr>
          <p:cNvPr id="19" name="S19Bullet 2"/>
          <p:cNvSpPr txBox="1"/>
          <p:nvPr/>
        </p:nvSpPr>
        <p:spPr>
          <a:xfrm>
            <a:off x="4800600" y="2889503"/>
            <a:ext cx="61447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עם קובץ מצורף: שואלים על המקור שסיפקתם.</a:t>
            </a:r>
          </a:p>
        </p:txBody>
      </p:sp>
      <p:pic>
        <p:nvPicPr>
          <p:cNvPr id="20" name="Picture 19" descr="i3.png"/>
          <p:cNvPicPr>
            <a:picLocks noChangeAspect="1"/>
          </p:cNvPicPr>
          <p:nvPr/>
        </p:nvPicPr>
        <p:blipFill>
          <a:blip r:embed="rId8"/>
          <a:stretch>
            <a:fillRect/>
          </a:stretch>
        </p:blipFill>
        <p:spPr>
          <a:xfrm>
            <a:off x="11064240" y="3767327"/>
            <a:ext cx="292608" cy="292608"/>
          </a:xfrm>
          <a:prstGeom prst="rect">
            <a:avLst/>
          </a:prstGeom>
        </p:spPr>
      </p:pic>
      <p:sp>
        <p:nvSpPr>
          <p:cNvPr id="21" name="S19Bullet 3"/>
          <p:cNvSpPr txBox="1"/>
          <p:nvPr/>
        </p:nvSpPr>
        <p:spPr>
          <a:xfrm>
            <a:off x="4800600" y="3712463"/>
            <a:ext cx="61447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בחיפוש ארגוני: מחפשים במקורות שהורשיתם לגשת אליהם.</a:t>
            </a:r>
          </a:p>
        </p:txBody>
      </p:sp>
      <p:pic>
        <p:nvPicPr>
          <p:cNvPr id="22" name="Picture 21" descr="image.png"/>
          <p:cNvPicPr>
            <a:picLocks noChangeAspect="1"/>
          </p:cNvPicPr>
          <p:nvPr/>
        </p:nvPicPr>
        <p:blipFill>
          <a:blip r:embed="rId9"/>
          <a:stretch>
            <a:fillRect/>
          </a:stretch>
        </p:blipFill>
        <p:spPr>
          <a:xfrm>
            <a:off x="11064240" y="4590288"/>
            <a:ext cx="292608" cy="292608"/>
          </a:xfrm>
          <a:prstGeom prst="rect">
            <a:avLst/>
          </a:prstGeom>
        </p:spPr>
      </p:pic>
      <p:sp>
        <p:nvSpPr>
          <p:cNvPr id="23" name="S19Bullet 4"/>
          <p:cNvSpPr txBox="1"/>
          <p:nvPr/>
        </p:nvSpPr>
        <p:spPr>
          <a:xfrm>
            <a:off x="4800600" y="4535424"/>
            <a:ext cx="61447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הזמינות תלויה בחשבון. לא כל קובץ בהכרח יימצא.</a:t>
            </a:r>
          </a:p>
        </p:txBody>
      </p:sp>
      <p:pic>
        <p:nvPicPr>
          <p:cNvPr id="24" name="Picture 23" descr="i5.png"/>
          <p:cNvPicPr>
            <a:picLocks noChangeAspect="1"/>
          </p:cNvPicPr>
          <p:nvPr/>
        </p:nvPicPr>
        <p:blipFill>
          <a:blip r:embed="rId10"/>
          <a:stretch>
            <a:fillRect/>
          </a:stretch>
        </p:blipFill>
        <p:spPr>
          <a:xfrm>
            <a:off x="11064240" y="5413247"/>
            <a:ext cx="292608" cy="292608"/>
          </a:xfrm>
          <a:prstGeom prst="rect">
            <a:avLst/>
          </a:prstGeom>
        </p:spPr>
      </p:pic>
      <p:sp>
        <p:nvSpPr>
          <p:cNvPr id="25" name="S19Bullet 5"/>
          <p:cNvSpPr txBox="1"/>
          <p:nvPr/>
        </p:nvSpPr>
        <p:spPr>
          <a:xfrm>
            <a:off x="4800600" y="5358383"/>
            <a:ext cx="6144768" cy="82296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פותחים את המקור ומוודאים שהוא מתאים ומעודכן.</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ק ש ר</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קורה כששואלים בלי לצרף קובץ</a:t>
            </a:r>
            <a:endParaRPr lang="en-US" sz="2700" b="1">
              <a:solidFill>
                <a:srgbClr val="16181A"/>
              </a:solidFill>
              <a:latin typeface="Segoe UI"/>
            </a:endParaRPr>
          </a:p>
        </p:txBody>
      </p:sp>
      <p:sp>
        <p:nvSpPr>
          <p:cNvPr id="8" name="Rectangle 7"/>
          <p:cNvSpPr/>
          <p:nvPr/>
        </p:nvSpPr>
        <p:spPr>
          <a:xfrm>
            <a:off x="8039405" y="2267712"/>
            <a:ext cx="3375050"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9" name="Rectangle 8"/>
          <p:cNvSpPr/>
          <p:nvPr/>
        </p:nvSpPr>
        <p:spPr>
          <a:xfrm>
            <a:off x="8039405" y="2267712"/>
            <a:ext cx="3375050" cy="31750"/>
          </a:xfrm>
          <a:prstGeom prst="rect">
            <a:avLst/>
          </a:prstGeom>
          <a:solidFill>
            <a:srgbClr val="B05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TextBox 9"/>
          <p:cNvSpPr txBox="1"/>
          <p:nvPr/>
        </p:nvSpPr>
        <p:spPr>
          <a:xfrm>
            <a:off x="8240573" y="2523744"/>
            <a:ext cx="2972714" cy="746358"/>
          </a:xfrm>
          <a:prstGeom prst="rect">
            <a:avLst/>
          </a:prstGeom>
          <a:noFill/>
        </p:spPr>
        <p:txBody>
          <a:bodyPr wrap="square" lIns="0" tIns="0" rIns="0" bIns="0">
            <a:spAutoFit/>
          </a:bodyPr>
          <a:lstStyle/>
          <a:p>
            <a:pPr algn="r" rtl="1"/>
            <a:r>
              <a:rPr lang="he-IL" sz="1400" b="1">
                <a:solidFill>
                  <a:srgbClr val="16181A"/>
                </a:solidFill>
                <a:latin typeface="Segoe UI"/>
              </a:rPr>
              <a:t>רישוי רגיל, בלי קובץ</a:t>
            </a:r>
            <a:endParaRPr lang="en-US" sz="1400" b="1">
              <a:solidFill>
                <a:srgbClr val="16181A"/>
              </a:solidFill>
              <a:latin typeface="Segoe UI"/>
            </a:endParaRPr>
          </a:p>
          <a:p>
            <a:pPr algn="r" rtl="1"/>
            <a:r>
              <a:rPr lang="he-IL" sz="1400" b="1">
                <a:solidFill>
                  <a:srgbClr val="16181A"/>
                </a:solidFill>
                <a:latin typeface="Segoe UI"/>
              </a:rPr>
              <a:t>שאלתם שאלה ולא צירפתם קובץ? הוא לא יעשה כלום.</a:t>
            </a:r>
            <a:endParaRPr lang="en-US" sz="1400" b="1">
              <a:solidFill>
                <a:srgbClr val="16181A"/>
              </a:solidFill>
              <a:latin typeface="Segoe UI"/>
            </a:endParaRPr>
          </a:p>
        </p:txBody>
      </p:sp>
      <p:sp>
        <p:nvSpPr>
          <p:cNvPr id="11" name="Rectangle 10"/>
          <p:cNvSpPr/>
          <p:nvPr/>
        </p:nvSpPr>
        <p:spPr>
          <a:xfrm>
            <a:off x="4408323" y="2267712"/>
            <a:ext cx="3375050"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2" name="Rectangle 11"/>
          <p:cNvSpPr/>
          <p:nvPr/>
        </p:nvSpPr>
        <p:spPr>
          <a:xfrm>
            <a:off x="4408323" y="2267712"/>
            <a:ext cx="3375050" cy="31750"/>
          </a:xfrm>
          <a:prstGeom prst="rect">
            <a:avLst/>
          </a:prstGeom>
          <a:solidFill>
            <a:srgbClr val="2253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3" name="TextBox 12"/>
          <p:cNvSpPr txBox="1"/>
          <p:nvPr/>
        </p:nvSpPr>
        <p:spPr>
          <a:xfrm>
            <a:off x="4609491" y="2523744"/>
            <a:ext cx="2972714" cy="746358"/>
          </a:xfrm>
          <a:prstGeom prst="rect">
            <a:avLst/>
          </a:prstGeom>
          <a:noFill/>
        </p:spPr>
        <p:txBody>
          <a:bodyPr wrap="square" lIns="0" tIns="0" rIns="0" bIns="0">
            <a:spAutoFit/>
          </a:bodyPr>
          <a:lstStyle/>
          <a:p>
            <a:pPr algn="r" rtl="1"/>
            <a:r>
              <a:rPr lang="he-IL" sz="1400" b="1">
                <a:solidFill>
                  <a:srgbClr val="16181A"/>
                </a:solidFill>
                <a:latin typeface="Segoe UI"/>
              </a:rPr>
              <a:t>צירפתם את הקובץ</a:t>
            </a:r>
            <a:endParaRPr lang="en-US" sz="1400" b="1">
              <a:solidFill>
                <a:srgbClr val="16181A"/>
              </a:solidFill>
              <a:latin typeface="Segoe UI"/>
            </a:endParaRPr>
          </a:p>
          <a:p>
            <a:pPr algn="r" rtl="1"/>
            <a:r>
              <a:rPr lang="he-IL" sz="1400" b="1">
                <a:solidFill>
                  <a:srgbClr val="16181A"/>
                </a:solidFill>
                <a:latin typeface="Segoe UI"/>
              </a:rPr>
              <a:t>הוא עונה, עם פירוט ועם מקור שאפשר לבדוק.</a:t>
            </a:r>
            <a:endParaRPr lang="en-US" sz="1400" b="1">
              <a:solidFill>
                <a:srgbClr val="16181A"/>
              </a:solidFill>
              <a:latin typeface="Segoe UI"/>
            </a:endParaRPr>
          </a:p>
        </p:txBody>
      </p:sp>
      <p:sp>
        <p:nvSpPr>
          <p:cNvPr id="14" name="Rectangle 13"/>
          <p:cNvSpPr/>
          <p:nvPr/>
        </p:nvSpPr>
        <p:spPr>
          <a:xfrm>
            <a:off x="777241" y="2267712"/>
            <a:ext cx="3375050"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5" name="Rectangle 14"/>
          <p:cNvSpPr/>
          <p:nvPr/>
        </p:nvSpPr>
        <p:spPr>
          <a:xfrm>
            <a:off x="777241" y="2267712"/>
            <a:ext cx="3375050" cy="31750"/>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6" name="TextBox 15"/>
          <p:cNvSpPr txBox="1"/>
          <p:nvPr/>
        </p:nvSpPr>
        <p:spPr>
          <a:xfrm>
            <a:off x="978409" y="2523744"/>
            <a:ext cx="2972714" cy="746358"/>
          </a:xfrm>
          <a:prstGeom prst="rect">
            <a:avLst/>
          </a:prstGeom>
          <a:noFill/>
        </p:spPr>
        <p:txBody>
          <a:bodyPr wrap="square" lIns="0" tIns="0" rIns="0" bIns="0">
            <a:spAutoFit/>
          </a:bodyPr>
          <a:lstStyle/>
          <a:p>
            <a:pPr algn="r" rtl="1"/>
            <a:r>
              <a:rPr lang="he-IL" sz="1400" b="1">
                <a:solidFill>
                  <a:srgbClr val="16181A"/>
                </a:solidFill>
                <a:latin typeface="Segoe UI"/>
              </a:rPr>
              <a:t>רישוי פרימיום</a:t>
            </a:r>
            <a:endParaRPr lang="en-US" sz="1400" b="1">
              <a:solidFill>
                <a:srgbClr val="16181A"/>
              </a:solidFill>
              <a:latin typeface="Segoe UI"/>
            </a:endParaRPr>
          </a:p>
          <a:p>
            <a:pPr algn="r" rtl="1"/>
            <a:r>
              <a:rPr lang="he-IL" sz="1400" b="1">
                <a:solidFill>
                  <a:srgbClr val="16181A"/>
                </a:solidFill>
                <a:latin typeface="Segoe UI"/>
              </a:rPr>
              <a:t>שאלתם שאלה — הוא כבר ימצא את הקובץ בעצמו ב-OneDrive.</a:t>
            </a:r>
            <a:endParaRPr lang="en-US" sz="1400" b="1">
              <a:solidFill>
                <a:srgbClr val="16181A"/>
              </a:solidFill>
              <a:latin typeface="Segoe UI"/>
            </a:endParaRPr>
          </a:p>
        </p:txBody>
      </p:sp>
      <p:sp>
        <p:nvSpPr>
          <p:cNvPr id="17" name="TextBox 16"/>
          <p:cNvSpPr txBox="1"/>
          <p:nvPr/>
        </p:nvSpPr>
        <p:spPr>
          <a:xfrm>
            <a:off x="777240" y="4873752"/>
            <a:ext cx="10637215" cy="215444"/>
          </a:xfrm>
          <a:prstGeom prst="rect">
            <a:avLst/>
          </a:prstGeom>
          <a:noFill/>
        </p:spPr>
        <p:txBody>
          <a:bodyPr wrap="square" lIns="0" tIns="0" rIns="0" bIns="0">
            <a:spAutoFit/>
          </a:bodyPr>
          <a:lstStyle/>
          <a:p>
            <a:pPr algn="r" rtl="1"/>
            <a:r>
              <a:rPr lang="he-IL" sz="1400" b="0">
                <a:solidFill>
                  <a:srgbClr val="2E3338"/>
                </a:solidFill>
                <a:latin typeface="Segoe UI"/>
              </a:rPr>
              <a:t>השורה התחתונה: ככל שתיתנו לו יותר מידע, התשובה תהיה טובה יותר.</a:t>
            </a:r>
            <a:endParaRPr lang="en-US" sz="1400" b="0">
              <a:solidFill>
                <a:srgbClr val="2E3338"/>
              </a:solidFill>
              <a:latin typeface="Segoe UI"/>
            </a:endParaRPr>
          </a:p>
        </p:txBody>
      </p:sp>
      <p:sp>
        <p:nvSpPr>
          <p:cNvPr id="18" name="TextBox 17"/>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15/27</a:t>
            </a:r>
            <a:endParaRPr lang="en-US" sz="900">
              <a:solidFill>
                <a:srgbClr val="565C62"/>
              </a:solidFill>
              <a:latin typeface="Segoe UI"/>
            </a:endParaRPr>
          </a:p>
        </p:txBody>
      </p:sp>
      <p:sp>
        <p:nvSpPr>
          <p:cNvPr id="19" name="TextBox 18"/>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ר צ א ה</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קרה אצלנו אתמול</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r>
              <a:rPr lang="he-IL" sz="1500" b="0">
                <a:solidFill>
                  <a:srgbClr val="85A6CB"/>
                </a:solidFill>
                <a:latin typeface="Segoe UI"/>
              </a:rPr>
              <a:t>▪  </a:t>
            </a:r>
            <a:r>
              <a:rPr lang="he-IL" sz="1500" b="0">
                <a:latin typeface="Segoe UI"/>
              </a:rPr>
              <a:t>עבדנו עם Copilot בתוך אקסל — על המנוי הקיים, בלי לקנות דבר. זה עבד.</a:t>
            </a:r>
            <a:endParaRPr lang="en-US" sz="1500" b="0">
              <a:solidFill>
                <a:srgbClr val="2E3338"/>
              </a:solidFill>
              <a:latin typeface="Segoe UI"/>
            </a:endParaRPr>
          </a:p>
          <a:p>
            <a:pPr algn="r" rtl="1"/>
            <a:r>
              <a:rPr lang="he-IL" sz="1500" b="0">
                <a:solidFill>
                  <a:srgbClr val="85A6CB"/>
                </a:solidFill>
                <a:latin typeface="Segoe UI"/>
              </a:rPr>
              <a:t>▪  </a:t>
            </a:r>
            <a:r>
              <a:rPr lang="he-IL" sz="1500" b="0">
                <a:latin typeface="Segoe UI"/>
              </a:rPr>
              <a:t>ואז, באמצע יום העבודה, בלי שום אזהרה מוקדמת:</a:t>
            </a:r>
            <a:endParaRPr lang="en-US" sz="1500" b="0">
              <a:solidFill>
                <a:srgbClr val="2E3338"/>
              </a:solidFill>
              <a:latin typeface="Segoe UI"/>
            </a:endParaRPr>
          </a:p>
        </p:txBody>
      </p:sp>
      <p:sp>
        <p:nvSpPr>
          <p:cNvPr id="9" name="Rectangle 8"/>
          <p:cNvSpPr/>
          <p:nvPr/>
        </p:nvSpPr>
        <p:spPr>
          <a:xfrm>
            <a:off x="777240" y="3346704"/>
            <a:ext cx="10637215" cy="7315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Rectangle 9"/>
          <p:cNvSpPr/>
          <p:nvPr/>
        </p:nvSpPr>
        <p:spPr>
          <a:xfrm>
            <a:off x="11376355" y="3346704"/>
            <a:ext cx="38100" cy="73152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60120" y="3493008"/>
            <a:ext cx="10134295" cy="276999"/>
          </a:xfrm>
          <a:prstGeom prst="rect">
            <a:avLst/>
          </a:prstGeom>
          <a:noFill/>
        </p:spPr>
        <p:txBody>
          <a:bodyPr wrap="square" lIns="0" tIns="0" rIns="0" bIns="0">
            <a:spAutoFit/>
          </a:bodyPr>
          <a:lstStyle/>
          <a:p>
            <a:pPr algn="r" rtl="1"/>
            <a:r>
              <a:rPr lang="he-IL" sz="1800" b="1">
                <a:solidFill>
                  <a:srgbClr val="16181A"/>
                </a:solidFill>
                <a:latin typeface="Segoe UI"/>
              </a:rPr>
              <a:t>"נסה שוב מחר או שדרג לקבלת גישה מועדפת"</a:t>
            </a:r>
            <a:endParaRPr lang="en-US" sz="1800" b="1">
              <a:solidFill>
                <a:srgbClr val="16181A"/>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16/27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מ ג ב ל ה</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המגבלה שאף אחד לא מספר עליה</a:t>
            </a:r>
            <a:endParaRPr lang="en-US" sz="2700" b="1">
              <a:solidFill>
                <a:srgbClr val="16181A"/>
              </a:solidFill>
              <a:latin typeface="Segoe UI"/>
            </a:endParaRPr>
          </a:p>
        </p:txBody>
      </p:sp>
      <p:sp>
        <p:nvSpPr>
          <p:cNvPr id="8" name="TextBox 7"/>
          <p:cNvSpPr txBox="1"/>
          <p:nvPr/>
        </p:nvSpPr>
        <p:spPr>
          <a:xfrm>
            <a:off x="9128455" y="226771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lang="he-IL" sz="1500" b="1">
                <a:solidFill>
                  <a:srgbClr val="16181A"/>
                </a:solidFill>
                <a:latin typeface="Segoe UI"/>
              </a:rPr>
              <a:t>מכסה יומית</a:t>
            </a:r>
            <a:endParaRPr lang="en-US" sz="1500" b="1">
              <a:solidFill>
                <a:srgbClr val="16181A"/>
              </a:solidFill>
              <a:latin typeface="Segoe UI"/>
            </a:endParaRPr>
          </a:p>
        </p:txBody>
      </p:sp>
      <p:sp>
        <p:nvSpPr>
          <p:cNvPr id="9" name="TextBox 8"/>
          <p:cNvSpPr txBox="1"/>
          <p:nvPr/>
        </p:nvSpPr>
        <p:spPr>
          <a:xfrm>
            <a:off x="777240" y="230428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מדדנו בפועל ביום עבודה אחד: </a:t>
            </a:r>
            <a:r>
              <a:rPr lang="he-IL" sz="1400" b="1">
                <a:solidFill>
                  <a:srgbClr val="2E3338"/>
                </a:solidFill>
                <a:latin typeface="Segoe UI"/>
              </a:rPr>
              <a:t>~22–24 פעולות AI ליום</a:t>
            </a:r>
            <a:r>
              <a:rPr lang="he-IL" sz="1400" b="0">
                <a:solidFill>
                  <a:srgbClr val="2E3338"/>
                </a:solidFill>
                <a:latin typeface="Segoe UI"/>
              </a:rPr>
              <a:t>, ואז חסימה מלאה.</a:t>
            </a:r>
            <a:endParaRPr lang="en-US" sz="1400" b="0">
              <a:solidFill>
                <a:srgbClr val="2E3338"/>
              </a:solidFill>
              <a:latin typeface="Segoe UI"/>
            </a:endParaRPr>
          </a:p>
        </p:txBody>
      </p:sp>
      <p:sp>
        <p:nvSpPr>
          <p:cNvPr id="10" name="Rectangle 9"/>
          <p:cNvSpPr/>
          <p:nvPr/>
        </p:nvSpPr>
        <p:spPr>
          <a:xfrm>
            <a:off x="777240" y="304495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313639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אין שום מד</a:t>
            </a:r>
            <a:endParaRPr lang="en-US" sz="1500" b="1">
              <a:solidFill>
                <a:srgbClr val="16181A"/>
              </a:solidFill>
              <a:latin typeface="Segoe UI"/>
            </a:endParaRPr>
          </a:p>
        </p:txBody>
      </p:sp>
      <p:sp>
        <p:nvSpPr>
          <p:cNvPr id="12" name="TextBox 11"/>
          <p:cNvSpPr txBox="1"/>
          <p:nvPr/>
        </p:nvSpPr>
        <p:spPr>
          <a:xfrm>
            <a:off x="777240" y="317296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לא מונה, לא "נותרו X", לא התראה מקדימה. הסימן הראשון הוא החסימה עצמה — באמצע העבודה.</a:t>
            </a:r>
            <a:endParaRPr lang="en-US" sz="1400" b="0">
              <a:solidFill>
                <a:srgbClr val="2E3338"/>
              </a:solidFill>
              <a:latin typeface="Segoe UI"/>
            </a:endParaRPr>
          </a:p>
        </p:txBody>
      </p:sp>
      <p:sp>
        <p:nvSpPr>
          <p:cNvPr id="13" name="Rectangle 12"/>
          <p:cNvSpPr/>
          <p:nvPr/>
        </p:nvSpPr>
        <p:spPr>
          <a:xfrm>
            <a:off x="777240" y="391363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400507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הכל נספר</a:t>
            </a:r>
            <a:endParaRPr lang="en-US" sz="1500" b="1">
              <a:solidFill>
                <a:srgbClr val="16181A"/>
              </a:solidFill>
              <a:latin typeface="Segoe UI"/>
            </a:endParaRPr>
          </a:p>
        </p:txBody>
      </p:sp>
      <p:sp>
        <p:nvSpPr>
          <p:cNvPr id="15" name="TextBox 14"/>
          <p:cNvSpPr txBox="1"/>
          <p:nvPr/>
        </p:nvSpPr>
        <p:spPr>
          <a:xfrm>
            <a:off x="777240" y="404164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כל אינטראקציה נחשבת, כולל "בטל פעולה".</a:t>
            </a:r>
            <a:endParaRPr lang="en-US" sz="1400" b="0">
              <a:solidFill>
                <a:srgbClr val="2E3338"/>
              </a:solidFill>
              <a:latin typeface="Segoe UI"/>
            </a:endParaRPr>
          </a:p>
        </p:txBody>
      </p:sp>
      <p:sp>
        <p:nvSpPr>
          <p:cNvPr id="16" name="Rectangle 15"/>
          <p:cNvSpPr/>
          <p:nvPr/>
        </p:nvSpPr>
        <p:spPr>
          <a:xfrm>
            <a:off x="777240" y="478231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87375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שקיפות למנהל בלבד</a:t>
            </a:r>
            <a:endParaRPr lang="en-US" sz="1500" b="1">
              <a:solidFill>
                <a:srgbClr val="16181A"/>
              </a:solidFill>
              <a:latin typeface="Segoe UI"/>
            </a:endParaRPr>
          </a:p>
        </p:txBody>
      </p:sp>
      <p:sp>
        <p:nvSpPr>
          <p:cNvPr id="18" name="TextBox 17"/>
          <p:cNvSpPr txBox="1"/>
          <p:nvPr/>
        </p:nvSpPr>
        <p:spPr>
          <a:xfrm>
            <a:off x="777240" y="491032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הדוח היחיד זמין לאדמין, ובפיגור של 24–48 שעות.</a:t>
            </a:r>
            <a:endParaRPr lang="en-US" sz="1400" b="0">
              <a:solidFill>
                <a:srgbClr val="2E3338"/>
              </a:solidFill>
              <a:latin typeface="Segoe UI"/>
            </a:endParaRPr>
          </a:p>
        </p:txBody>
      </p:sp>
      <p:sp>
        <p:nvSpPr>
          <p:cNvPr id="19" name="Rectangle 18"/>
          <p:cNvSpPr/>
          <p:nvPr/>
        </p:nvSpPr>
        <p:spPr>
          <a:xfrm>
            <a:off x="777240" y="5943600"/>
            <a:ext cx="10637215" cy="585216"/>
          </a:xfrm>
          <a:prstGeom prst="rect">
            <a:avLst/>
          </a:prstGeom>
          <a:solidFill>
            <a:srgbClr val="F5F9FD"/>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Rectangle 19"/>
          <p:cNvSpPr/>
          <p:nvPr/>
        </p:nvSpPr>
        <p:spPr>
          <a:xfrm>
            <a:off x="11376355" y="5943600"/>
            <a:ext cx="38100" cy="585216"/>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1" name="TextBox 20"/>
          <p:cNvSpPr txBox="1"/>
          <p:nvPr/>
        </p:nvSpPr>
        <p:spPr>
          <a:xfrm>
            <a:off x="960120" y="6089904"/>
            <a:ext cx="10134295" cy="200055"/>
          </a:xfrm>
          <a:prstGeom prst="rect">
            <a:avLst/>
          </a:prstGeom>
          <a:noFill/>
        </p:spPr>
        <p:txBody>
          <a:bodyPr wrap="square" lIns="0" tIns="0" rIns="0" bIns="0">
            <a:spAutoFit/>
          </a:bodyPr>
          <a:lstStyle/>
          <a:p>
            <a:pPr algn="r" rtl="1"/>
            <a:r>
              <a:rPr lang="he-IL" sz="1300" b="0">
                <a:solidFill>
                  <a:srgbClr val="22537D"/>
                </a:solidFill>
                <a:latin typeface="Segoe UI"/>
              </a:rPr>
              <a:t>הדגמה: הרגע שבו בקשת טבלת ציר נענתה ב"נסה שוב מחר"</a:t>
            </a:r>
            <a:endParaRPr lang="en-US" sz="1300" b="0">
              <a:solidFill>
                <a:srgbClr val="22537D"/>
              </a:solidFill>
              <a:latin typeface="Segoe UI"/>
            </a:endParaRPr>
          </a:p>
        </p:txBody>
      </p:sp>
      <p:sp>
        <p:nvSpPr>
          <p:cNvPr id="22" name="TextBox 2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17/27</a:t>
            </a:r>
            <a:endParaRPr lang="en-US" sz="900">
              <a:solidFill>
                <a:srgbClr val="565C62"/>
              </a:solidFill>
              <a:latin typeface="Segoe UI"/>
            </a:endParaRPr>
          </a:p>
        </p:txBody>
      </p:sp>
      <p:sp>
        <p:nvSpPr>
          <p:cNvPr id="23" name="TextBox 2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מ ל כ ו ד ו ת</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מגבלות שכדאי להכיר, ואיך נערכים אליהן</a:t>
            </a:r>
            <a:endParaRPr lang="en-US" sz="2700" b="1">
              <a:solidFill>
                <a:srgbClr val="16181A"/>
              </a:solidFill>
              <a:latin typeface="Segoe UI"/>
            </a:endParaRPr>
          </a:p>
        </p:txBody>
      </p:sp>
      <p:sp>
        <p:nvSpPr>
          <p:cNvPr id="8" name="TextBox 7"/>
          <p:cNvSpPr txBox="1"/>
          <p:nvPr/>
        </p:nvSpPr>
        <p:spPr>
          <a:xfrm>
            <a:off x="9128455" y="226771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lang="he-IL" sz="1500" b="1">
                <a:solidFill>
                  <a:srgbClr val="16181A"/>
                </a:solidFill>
                <a:latin typeface="Segoe UI"/>
              </a:rPr>
              <a:t>שמות SKU מטעים</a:t>
            </a:r>
            <a:endParaRPr lang="en-US" sz="1500" b="1">
              <a:solidFill>
                <a:srgbClr val="16181A"/>
              </a:solidFill>
              <a:latin typeface="Segoe UI"/>
            </a:endParaRPr>
          </a:p>
        </p:txBody>
      </p:sp>
      <p:sp>
        <p:nvSpPr>
          <p:cNvPr id="9" name="TextBox 8"/>
          <p:cNvSpPr txBox="1"/>
          <p:nvPr/>
        </p:nvSpPr>
        <p:spPr>
          <a:xfrm>
            <a:off x="777240" y="230428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"O365_BUSINESS_PREMIUM" הוא בפועל Business Standard של היום. אל תסתמכו על השם.</a:t>
            </a:r>
            <a:endParaRPr lang="en-US" sz="1400" b="0">
              <a:solidFill>
                <a:srgbClr val="2E3338"/>
              </a:solidFill>
              <a:latin typeface="Segoe UI"/>
            </a:endParaRPr>
          </a:p>
        </p:txBody>
      </p:sp>
      <p:sp>
        <p:nvSpPr>
          <p:cNvPr id="10" name="Rectangle 9"/>
          <p:cNvSpPr/>
          <p:nvPr/>
        </p:nvSpPr>
        <p:spPr>
          <a:xfrm>
            <a:off x="777240" y="2889504"/>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2980944"/>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טננט מנוהל-ספק</a:t>
            </a:r>
            <a:endParaRPr lang="en-US" sz="1500" b="1">
              <a:solidFill>
                <a:srgbClr val="16181A"/>
              </a:solidFill>
              <a:latin typeface="Segoe UI"/>
            </a:endParaRPr>
          </a:p>
        </p:txBody>
      </p:sp>
      <p:sp>
        <p:nvSpPr>
          <p:cNvPr id="12" name="TextBox 11"/>
          <p:cNvSpPr txBox="1"/>
          <p:nvPr/>
        </p:nvSpPr>
        <p:spPr>
          <a:xfrm>
            <a:off x="777240" y="3017520"/>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ב-GoDaddy וכדומה, רכישות והפעלת חיוב עוברות דרך הספק בלבד, לא במרכז הניהול.</a:t>
            </a:r>
            <a:endParaRPr lang="en-US" sz="1400" b="0">
              <a:solidFill>
                <a:srgbClr val="2E3338"/>
              </a:solidFill>
              <a:latin typeface="Segoe UI"/>
            </a:endParaRPr>
          </a:p>
        </p:txBody>
      </p:sp>
      <p:sp>
        <p:nvSpPr>
          <p:cNvPr id="13" name="Rectangle 12"/>
          <p:cNvSpPr/>
          <p:nvPr/>
        </p:nvSpPr>
        <p:spPr>
          <a:xfrm>
            <a:off x="777240" y="3602736"/>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3694176"/>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דוחות מוסתרי-שמות</a:t>
            </a:r>
            <a:endParaRPr lang="en-US" sz="1500" b="1">
              <a:solidFill>
                <a:srgbClr val="16181A"/>
              </a:solidFill>
              <a:latin typeface="Segoe UI"/>
            </a:endParaRPr>
          </a:p>
        </p:txBody>
      </p:sp>
      <p:sp>
        <p:nvSpPr>
          <p:cNvPr id="15" name="TextBox 14"/>
          <p:cNvSpPr txBox="1"/>
          <p:nvPr/>
        </p:nvSpPr>
        <p:spPr>
          <a:xfrm>
            <a:off x="777240" y="3730752"/>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ברירת המחדל מסתירה את זהות המשתמשים — גם מהאדמין.</a:t>
            </a:r>
            <a:endParaRPr lang="en-US" sz="1400" b="0">
              <a:solidFill>
                <a:srgbClr val="2E3338"/>
              </a:solidFill>
              <a:latin typeface="Segoe UI"/>
            </a:endParaRPr>
          </a:p>
        </p:txBody>
      </p:sp>
      <p:sp>
        <p:nvSpPr>
          <p:cNvPr id="16" name="Rectangle 15"/>
          <p:cNvSpPr/>
          <p:nvPr/>
        </p:nvSpPr>
        <p:spPr>
          <a:xfrm>
            <a:off x="777240" y="4315968"/>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407408"/>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ארגון 2,000+ משתמשים</a:t>
            </a:r>
            <a:endParaRPr lang="en-US" sz="1500" b="1">
              <a:solidFill>
                <a:srgbClr val="16181A"/>
              </a:solidFill>
              <a:latin typeface="Segoe UI"/>
            </a:endParaRPr>
          </a:p>
        </p:txBody>
      </p:sp>
      <p:sp>
        <p:nvSpPr>
          <p:cNvPr id="18" name="TextBox 17"/>
          <p:cNvSpPr txBox="1"/>
          <p:nvPr/>
        </p:nvSpPr>
        <p:spPr>
          <a:xfrm>
            <a:off x="777240" y="4443984"/>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מ-15.4.2026 אין Copilot בתוך אופיס לבלתי-מורשים כלל.</a:t>
            </a:r>
            <a:endParaRPr lang="en-US" sz="1400" b="0">
              <a:solidFill>
                <a:srgbClr val="2E3338"/>
              </a:solidFill>
              <a:latin typeface="Segoe UI"/>
            </a:endParaRPr>
          </a:p>
        </p:txBody>
      </p:sp>
      <p:sp>
        <p:nvSpPr>
          <p:cNvPr id="19" name="Rectangle 18"/>
          <p:cNvSpPr/>
          <p:nvPr/>
        </p:nvSpPr>
        <p:spPr>
          <a:xfrm>
            <a:off x="777240" y="5029200"/>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TextBox 19"/>
          <p:cNvSpPr txBox="1"/>
          <p:nvPr/>
        </p:nvSpPr>
        <p:spPr>
          <a:xfrm>
            <a:off x="9128455" y="5120640"/>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05</a:t>
            </a:r>
            <a:endParaRPr lang="en-US" sz="1100" b="1">
              <a:solidFill>
                <a:srgbClr val="2E6FA7"/>
              </a:solidFill>
              <a:latin typeface="Segoe UI"/>
            </a:endParaRPr>
          </a:p>
          <a:p>
            <a:pPr algn="r" rtl="1"/>
            <a:r>
              <a:rPr lang="he-IL" sz="1500" b="1">
                <a:solidFill>
                  <a:srgbClr val="16181A"/>
                </a:solidFill>
                <a:latin typeface="Segoe UI"/>
              </a:rPr>
              <a:t>עיכוב הפצה</a:t>
            </a:r>
            <a:endParaRPr lang="en-US" sz="1500" b="1">
              <a:solidFill>
                <a:srgbClr val="16181A"/>
              </a:solidFill>
              <a:latin typeface="Segoe UI"/>
            </a:endParaRPr>
          </a:p>
        </p:txBody>
      </p:sp>
      <p:sp>
        <p:nvSpPr>
          <p:cNvPr id="21" name="TextBox 20"/>
          <p:cNvSpPr txBox="1"/>
          <p:nvPr/>
        </p:nvSpPr>
        <p:spPr>
          <a:xfrm>
            <a:off x="777240" y="5157216"/>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מושב חדש מחייב יציאה וכניסה מחדש. כפתור חסר אינו אומר שאין רישיון.</a:t>
            </a:r>
            <a:endParaRPr lang="en-US" sz="1400" b="0">
              <a:solidFill>
                <a:srgbClr val="2E3338"/>
              </a:solidFill>
              <a:latin typeface="Segoe UI"/>
            </a:endParaRPr>
          </a:p>
        </p:txBody>
      </p:sp>
      <p:sp>
        <p:nvSpPr>
          <p:cNvPr id="22" name="TextBox 2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23/37</a:t>
            </a:r>
            <a:endParaRPr lang="en-US" sz="900">
              <a:solidFill>
                <a:srgbClr val="565C62"/>
              </a:solidFill>
              <a:latin typeface="Segoe UI"/>
            </a:endParaRPr>
          </a:p>
        </p:txBody>
      </p:sp>
      <p:sp>
        <p:nvSpPr>
          <p:cNvPr id="23" name="TextBox 2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ס י כ ו ם</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ארבעת כללי העבודה</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23/27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n1.png"/>
          <p:cNvPicPr>
            <a:picLocks noChangeAspect="1"/>
          </p:cNvPicPr>
          <p:nvPr/>
        </p:nvPicPr>
        <p:blipFill>
          <a:blip r:embed="rId6"/>
          <a:stretch>
            <a:fillRect/>
          </a:stretch>
        </p:blipFill>
        <p:spPr>
          <a:xfrm>
            <a:off x="11064240" y="2157984"/>
            <a:ext cx="292608" cy="292608"/>
          </a:xfrm>
          <a:prstGeom prst="rect">
            <a:avLst/>
          </a:prstGeom>
        </p:spPr>
      </p:pic>
      <p:sp>
        <p:nvSpPr>
          <p:cNvPr id="16" name="S24Bullet 1"/>
          <p:cNvSpPr txBox="1"/>
          <p:nvPr/>
        </p:nvSpPr>
        <p:spPr>
          <a:xfrm>
            <a:off x="5623560" y="2066543"/>
            <a:ext cx="532180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מטרה: מגדירים מה רוצים להשיג.</a:t>
            </a:r>
          </a:p>
        </p:txBody>
      </p:sp>
      <p:pic>
        <p:nvPicPr>
          <p:cNvPr id="17" name="Picture 16" descr="n2.png"/>
          <p:cNvPicPr>
            <a:picLocks noChangeAspect="1"/>
          </p:cNvPicPr>
          <p:nvPr/>
        </p:nvPicPr>
        <p:blipFill>
          <a:blip r:embed="rId7"/>
          <a:stretch>
            <a:fillRect/>
          </a:stretch>
        </p:blipFill>
        <p:spPr>
          <a:xfrm>
            <a:off x="11064240" y="3072384"/>
            <a:ext cx="292608" cy="292608"/>
          </a:xfrm>
          <a:prstGeom prst="rect">
            <a:avLst/>
          </a:prstGeom>
        </p:spPr>
      </p:pic>
      <p:sp>
        <p:nvSpPr>
          <p:cNvPr id="18" name="S24Bullet 2"/>
          <p:cNvSpPr txBox="1"/>
          <p:nvPr/>
        </p:nvSpPr>
        <p:spPr>
          <a:xfrm>
            <a:off x="5623560" y="2980944"/>
            <a:ext cx="532180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הקשר: מספקים מקור שמותר להשתמש בו.</a:t>
            </a:r>
          </a:p>
        </p:txBody>
      </p:sp>
      <p:pic>
        <p:nvPicPr>
          <p:cNvPr id="19" name="Picture 18" descr="n3.png"/>
          <p:cNvPicPr>
            <a:picLocks noChangeAspect="1"/>
          </p:cNvPicPr>
          <p:nvPr/>
        </p:nvPicPr>
        <p:blipFill>
          <a:blip r:embed="rId8"/>
          <a:stretch>
            <a:fillRect/>
          </a:stretch>
        </p:blipFill>
        <p:spPr>
          <a:xfrm>
            <a:off x="11064240" y="3986783"/>
            <a:ext cx="292608" cy="292608"/>
          </a:xfrm>
          <a:prstGeom prst="rect">
            <a:avLst/>
          </a:prstGeom>
        </p:spPr>
      </p:pic>
      <p:sp>
        <p:nvSpPr>
          <p:cNvPr id="20" name="S24Bullet 3"/>
          <p:cNvSpPr txBox="1"/>
          <p:nvPr/>
        </p:nvSpPr>
        <p:spPr>
          <a:xfrm>
            <a:off x="5623560" y="3895344"/>
            <a:ext cx="532180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מבנה: מבקשים טבלה, סיכום או טיוטה.</a:t>
            </a:r>
          </a:p>
        </p:txBody>
      </p:sp>
      <p:pic>
        <p:nvPicPr>
          <p:cNvPr id="21" name="Picture 20" descr="n4.png"/>
          <p:cNvPicPr>
            <a:picLocks noChangeAspect="1"/>
          </p:cNvPicPr>
          <p:nvPr/>
        </p:nvPicPr>
        <p:blipFill>
          <a:blip r:embed="rId9"/>
          <a:stretch>
            <a:fillRect/>
          </a:stretch>
        </p:blipFill>
        <p:spPr>
          <a:xfrm>
            <a:off x="11064240" y="4901183"/>
            <a:ext cx="292608" cy="292608"/>
          </a:xfrm>
          <a:prstGeom prst="rect">
            <a:avLst/>
          </a:prstGeom>
        </p:spPr>
      </p:pic>
      <p:sp>
        <p:nvSpPr>
          <p:cNvPr id="22" name="S24Bullet 4"/>
          <p:cNvSpPr txBox="1"/>
          <p:nvPr/>
        </p:nvSpPr>
        <p:spPr>
          <a:xfrm>
            <a:off x="5623560" y="4809744"/>
            <a:ext cx="532180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בדיקה: משווים למקור ומאשרים לפני שמעבירים הלאה.</a:t>
            </a:r>
          </a:p>
        </p:txBody>
      </p:sp>
      <p:sp>
        <p:nvSpPr>
          <p:cNvPr id="24100" name="RulesCard BG"/>
          <p:cNvSpPr/>
          <p:nvPr/>
        </p:nvSpPr>
        <p:spPr>
          <a:xfrm>
            <a:off x="868680" y="2029968"/>
            <a:ext cx="4572000" cy="4617720"/>
          </a:xfrm>
          <a:prstGeom prst="roundRect">
            <a:avLst>
              <a:gd name="adj" fmla="val 4000"/>
            </a:avLst>
          </a:prstGeom>
          <a:solidFill>
            <a:srgbClr val="FFFFFF"/>
          </a:solidFill>
          <a:ln w="9525">
            <a:solidFill>
              <a:srgbClr val="D8E2EC"/>
            </a:solidFill>
          </a:ln>
          <a:effectLst>
            <a:outerShdw blurRad="63500" dist="38100" dir="5400000" algn="tl" rotWithShape="0">
              <a:srgbClr val="141818">
                <a:alpha val="18000"/>
              </a:srgbClr>
            </a:outerShdw>
          </a:effectLst>
        </p:spPr>
        <p:txBody>
          <a:bodyPr/>
          <a:lstStyle/>
          <a:p>
            <a:pPr algn="r" rtl="1"/>
            <a:endParaRPr lang="he-IL"/>
          </a:p>
        </p:txBody>
      </p:sp>
      <p:sp>
        <p:nvSpPr>
          <p:cNvPr id="24101" name="RulesCard Title"/>
          <p:cNvSpPr txBox="1"/>
          <p:nvPr/>
        </p:nvSpPr>
        <p:spPr>
          <a:xfrm>
            <a:off x="1161288" y="2322576"/>
            <a:ext cx="3986784" cy="347472"/>
          </a:xfrm>
          <a:prstGeom prst="rect">
            <a:avLst/>
          </a:prstGeom>
          <a:noFill/>
        </p:spPr>
        <p:txBody>
          <a:bodyPr wrap="square" lIns="0" tIns="0" rIns="0" bIns="0" anchor="t">
            <a:spAutoFit/>
          </a:bodyPr>
          <a:lstStyle/>
          <a:p>
            <a:pPr algn="r" rtl="1">
              <a:lnSpc>
                <a:spcPct val="110000"/>
              </a:lnSpc>
            </a:pPr>
            <a:r>
              <a:rPr lang="he-IL" sz="1700" b="1" dirty="0">
                <a:solidFill>
                  <a:srgbClr val="141818"/>
                </a:solidFill>
                <a:latin typeface="Segoe UI"/>
                <a:cs typeface="Segoe UI"/>
              </a:rPr>
              <a:t>סדר העבודה</a:t>
            </a:r>
          </a:p>
        </p:txBody>
      </p:sp>
      <p:sp>
        <p:nvSpPr>
          <p:cNvPr id="24102" name="RulesCard Rule"/>
          <p:cNvSpPr/>
          <p:nvPr/>
        </p:nvSpPr>
        <p:spPr>
          <a:xfrm>
            <a:off x="1161288" y="2779776"/>
            <a:ext cx="3986784" cy="9525"/>
          </a:xfrm>
          <a:prstGeom prst="rect">
            <a:avLst/>
          </a:prstGeom>
          <a:solidFill>
            <a:srgbClr val="D8E2EC"/>
          </a:solidFill>
          <a:ln>
            <a:noFill/>
          </a:ln>
        </p:spPr>
        <p:txBody>
          <a:bodyPr/>
          <a:lstStyle/>
          <a:p>
            <a:pPr algn="r" rtl="1"/>
            <a:endParaRPr lang="he-IL"/>
          </a:p>
        </p:txBody>
      </p:sp>
      <p:sp>
        <p:nvSpPr>
          <p:cNvPr id="24110" name="RC Disc 1"/>
          <p:cNvSpPr/>
          <p:nvPr/>
        </p:nvSpPr>
        <p:spPr>
          <a:xfrm>
            <a:off x="4745736" y="3054096"/>
            <a:ext cx="402336" cy="402336"/>
          </a:xfrm>
          <a:prstGeom prst="ellipse">
            <a:avLst/>
          </a:prstGeom>
          <a:solidFill>
            <a:srgbClr val="2868A8"/>
          </a:solidFill>
          <a:ln>
            <a:noFill/>
          </a:ln>
        </p:spPr>
        <p:txBody>
          <a:bodyPr/>
          <a:lstStyle/>
          <a:p>
            <a:pPr algn="r" rtl="1"/>
            <a:endParaRPr lang="he-IL"/>
          </a:p>
        </p:txBody>
      </p:sp>
      <p:sp>
        <p:nvSpPr>
          <p:cNvPr id="24111" name="RC Num 1"/>
          <p:cNvSpPr txBox="1"/>
          <p:nvPr/>
        </p:nvSpPr>
        <p:spPr>
          <a:xfrm>
            <a:off x="4745736" y="3136392"/>
            <a:ext cx="402336" cy="237744"/>
          </a:xfrm>
          <a:prstGeom prst="rect">
            <a:avLst/>
          </a:prstGeom>
          <a:noFill/>
        </p:spPr>
        <p:txBody>
          <a:bodyPr wrap="square" lIns="0" tIns="0" rIns="0" bIns="0" anchor="t">
            <a:spAutoFit/>
          </a:bodyPr>
          <a:lstStyle/>
          <a:p>
            <a:pPr algn="ctr" rtl="1">
              <a:lnSpc>
                <a:spcPct val="110000"/>
              </a:lnSpc>
            </a:pPr>
            <a:r>
              <a:rPr lang="he-IL" sz="1250" b="1" dirty="0">
                <a:solidFill>
                  <a:srgbClr val="FFFFFF"/>
                </a:solidFill>
                <a:latin typeface="Segoe UI"/>
                <a:cs typeface="Segoe UI"/>
              </a:rPr>
              <a:t>1</a:t>
            </a:r>
          </a:p>
        </p:txBody>
      </p:sp>
      <p:sp>
        <p:nvSpPr>
          <p:cNvPr id="24112" name="RC Word 1"/>
          <p:cNvSpPr txBox="1"/>
          <p:nvPr/>
        </p:nvSpPr>
        <p:spPr>
          <a:xfrm>
            <a:off x="1161288" y="3072384"/>
            <a:ext cx="3401568" cy="256032"/>
          </a:xfrm>
          <a:prstGeom prst="rect">
            <a:avLst/>
          </a:prstGeom>
          <a:noFill/>
        </p:spPr>
        <p:txBody>
          <a:bodyPr wrap="square" lIns="0" tIns="0" rIns="0" bIns="0" anchor="t">
            <a:spAutoFit/>
          </a:bodyPr>
          <a:lstStyle/>
          <a:p>
            <a:pPr algn="r" rtl="1">
              <a:lnSpc>
                <a:spcPct val="110000"/>
              </a:lnSpc>
            </a:pPr>
            <a:r>
              <a:rPr lang="he-IL" sz="1450" b="1" dirty="0">
                <a:solidFill>
                  <a:srgbClr val="141818"/>
                </a:solidFill>
                <a:latin typeface="Segoe UI"/>
                <a:cs typeface="Segoe UI"/>
              </a:rPr>
              <a:t>מטרה</a:t>
            </a:r>
          </a:p>
        </p:txBody>
      </p:sp>
      <p:sp>
        <p:nvSpPr>
          <p:cNvPr id="24113" name="RC Sub 1"/>
          <p:cNvSpPr txBox="1"/>
          <p:nvPr/>
        </p:nvSpPr>
        <p:spPr>
          <a:xfrm>
            <a:off x="1161288" y="3328416"/>
            <a:ext cx="3401568" cy="219456"/>
          </a:xfrm>
          <a:prstGeom prst="rect">
            <a:avLst/>
          </a:prstGeom>
          <a:noFill/>
        </p:spPr>
        <p:txBody>
          <a:bodyPr wrap="square" lIns="0" tIns="0" rIns="0" bIns="0" anchor="t">
            <a:spAutoFit/>
          </a:bodyPr>
          <a:lstStyle/>
          <a:p>
            <a:pPr algn="r" rtl="1">
              <a:lnSpc>
                <a:spcPct val="110000"/>
              </a:lnSpc>
            </a:pPr>
            <a:r>
              <a:rPr lang="he-IL" sz="1100" b="0" dirty="0">
                <a:solidFill>
                  <a:srgbClr val="707878"/>
                </a:solidFill>
                <a:latin typeface="Segoe UI"/>
                <a:cs typeface="Segoe UI"/>
              </a:rPr>
              <a:t>מה רוצים להשיג</a:t>
            </a:r>
          </a:p>
        </p:txBody>
      </p:sp>
      <p:sp>
        <p:nvSpPr>
          <p:cNvPr id="24114" name="RC Link 1"/>
          <p:cNvSpPr/>
          <p:nvPr/>
        </p:nvSpPr>
        <p:spPr>
          <a:xfrm>
            <a:off x="4937760" y="3456432"/>
            <a:ext cx="9525" cy="384048"/>
          </a:xfrm>
          <a:prstGeom prst="rect">
            <a:avLst/>
          </a:prstGeom>
          <a:solidFill>
            <a:srgbClr val="D8E2EC"/>
          </a:solidFill>
          <a:ln>
            <a:noFill/>
          </a:ln>
        </p:spPr>
        <p:txBody>
          <a:bodyPr/>
          <a:lstStyle/>
          <a:p>
            <a:pPr algn="r" rtl="1"/>
            <a:endParaRPr lang="he-IL"/>
          </a:p>
        </p:txBody>
      </p:sp>
      <p:sp>
        <p:nvSpPr>
          <p:cNvPr id="24116" name="RC Disc 2"/>
          <p:cNvSpPr/>
          <p:nvPr/>
        </p:nvSpPr>
        <p:spPr>
          <a:xfrm>
            <a:off x="4745736" y="3840480"/>
            <a:ext cx="402336" cy="402336"/>
          </a:xfrm>
          <a:prstGeom prst="ellipse">
            <a:avLst/>
          </a:prstGeom>
          <a:solidFill>
            <a:srgbClr val="2868A8"/>
          </a:solidFill>
          <a:ln>
            <a:noFill/>
          </a:ln>
        </p:spPr>
        <p:txBody>
          <a:bodyPr/>
          <a:lstStyle/>
          <a:p>
            <a:pPr algn="r" rtl="1"/>
            <a:endParaRPr lang="he-IL"/>
          </a:p>
        </p:txBody>
      </p:sp>
      <p:sp>
        <p:nvSpPr>
          <p:cNvPr id="24117" name="RC Num 2"/>
          <p:cNvSpPr txBox="1"/>
          <p:nvPr/>
        </p:nvSpPr>
        <p:spPr>
          <a:xfrm>
            <a:off x="4745736" y="3922776"/>
            <a:ext cx="402336" cy="237744"/>
          </a:xfrm>
          <a:prstGeom prst="rect">
            <a:avLst/>
          </a:prstGeom>
          <a:noFill/>
        </p:spPr>
        <p:txBody>
          <a:bodyPr wrap="square" lIns="0" tIns="0" rIns="0" bIns="0" anchor="t">
            <a:spAutoFit/>
          </a:bodyPr>
          <a:lstStyle/>
          <a:p>
            <a:pPr algn="ctr" rtl="1">
              <a:lnSpc>
                <a:spcPct val="110000"/>
              </a:lnSpc>
            </a:pPr>
            <a:r>
              <a:rPr lang="he-IL" sz="1250" b="1" dirty="0">
                <a:solidFill>
                  <a:srgbClr val="FFFFFF"/>
                </a:solidFill>
                <a:latin typeface="Segoe UI"/>
                <a:cs typeface="Segoe UI"/>
              </a:rPr>
              <a:t>2</a:t>
            </a:r>
          </a:p>
        </p:txBody>
      </p:sp>
      <p:sp>
        <p:nvSpPr>
          <p:cNvPr id="24118" name="RC Word 2"/>
          <p:cNvSpPr txBox="1"/>
          <p:nvPr/>
        </p:nvSpPr>
        <p:spPr>
          <a:xfrm>
            <a:off x="1161288" y="3858768"/>
            <a:ext cx="3401568" cy="256032"/>
          </a:xfrm>
          <a:prstGeom prst="rect">
            <a:avLst/>
          </a:prstGeom>
          <a:noFill/>
        </p:spPr>
        <p:txBody>
          <a:bodyPr wrap="square" lIns="0" tIns="0" rIns="0" bIns="0" anchor="t">
            <a:spAutoFit/>
          </a:bodyPr>
          <a:lstStyle/>
          <a:p>
            <a:pPr algn="r" rtl="1">
              <a:lnSpc>
                <a:spcPct val="110000"/>
              </a:lnSpc>
            </a:pPr>
            <a:r>
              <a:rPr lang="he-IL" sz="1450" b="1" dirty="0">
                <a:solidFill>
                  <a:srgbClr val="141818"/>
                </a:solidFill>
                <a:latin typeface="Segoe UI"/>
                <a:cs typeface="Segoe UI"/>
              </a:rPr>
              <a:t>הקשר</a:t>
            </a:r>
          </a:p>
        </p:txBody>
      </p:sp>
      <p:sp>
        <p:nvSpPr>
          <p:cNvPr id="24119" name="RC Sub 2"/>
          <p:cNvSpPr txBox="1"/>
          <p:nvPr/>
        </p:nvSpPr>
        <p:spPr>
          <a:xfrm>
            <a:off x="1161288" y="4114800"/>
            <a:ext cx="3401568" cy="219456"/>
          </a:xfrm>
          <a:prstGeom prst="rect">
            <a:avLst/>
          </a:prstGeom>
          <a:noFill/>
        </p:spPr>
        <p:txBody>
          <a:bodyPr wrap="square" lIns="0" tIns="0" rIns="0" bIns="0" anchor="t">
            <a:spAutoFit/>
          </a:bodyPr>
          <a:lstStyle/>
          <a:p>
            <a:pPr algn="r" rtl="1">
              <a:lnSpc>
                <a:spcPct val="110000"/>
              </a:lnSpc>
            </a:pPr>
            <a:r>
              <a:rPr lang="he-IL" sz="1100" b="0" dirty="0">
                <a:solidFill>
                  <a:srgbClr val="707878"/>
                </a:solidFill>
                <a:latin typeface="Segoe UI"/>
                <a:cs typeface="Segoe UI"/>
              </a:rPr>
              <a:t>קובץ או נתונים</a:t>
            </a:r>
          </a:p>
        </p:txBody>
      </p:sp>
      <p:sp>
        <p:nvSpPr>
          <p:cNvPr id="24120" name="RC Link 2"/>
          <p:cNvSpPr/>
          <p:nvPr/>
        </p:nvSpPr>
        <p:spPr>
          <a:xfrm>
            <a:off x="4937760" y="4242816"/>
            <a:ext cx="9525" cy="384048"/>
          </a:xfrm>
          <a:prstGeom prst="rect">
            <a:avLst/>
          </a:prstGeom>
          <a:solidFill>
            <a:srgbClr val="D8E2EC"/>
          </a:solidFill>
          <a:ln>
            <a:noFill/>
          </a:ln>
        </p:spPr>
        <p:txBody>
          <a:bodyPr/>
          <a:lstStyle/>
          <a:p>
            <a:pPr algn="r" rtl="1"/>
            <a:endParaRPr lang="he-IL"/>
          </a:p>
        </p:txBody>
      </p:sp>
      <p:sp>
        <p:nvSpPr>
          <p:cNvPr id="24122" name="RC Disc 3"/>
          <p:cNvSpPr/>
          <p:nvPr/>
        </p:nvSpPr>
        <p:spPr>
          <a:xfrm>
            <a:off x="4745736" y="4626864"/>
            <a:ext cx="402336" cy="402336"/>
          </a:xfrm>
          <a:prstGeom prst="ellipse">
            <a:avLst/>
          </a:prstGeom>
          <a:solidFill>
            <a:srgbClr val="2868A8"/>
          </a:solidFill>
          <a:ln>
            <a:noFill/>
          </a:ln>
        </p:spPr>
        <p:txBody>
          <a:bodyPr/>
          <a:lstStyle/>
          <a:p>
            <a:pPr algn="r" rtl="1"/>
            <a:endParaRPr lang="he-IL"/>
          </a:p>
        </p:txBody>
      </p:sp>
      <p:sp>
        <p:nvSpPr>
          <p:cNvPr id="24123" name="RC Num 3"/>
          <p:cNvSpPr txBox="1"/>
          <p:nvPr/>
        </p:nvSpPr>
        <p:spPr>
          <a:xfrm>
            <a:off x="4745736" y="4709160"/>
            <a:ext cx="402336" cy="237744"/>
          </a:xfrm>
          <a:prstGeom prst="rect">
            <a:avLst/>
          </a:prstGeom>
          <a:noFill/>
        </p:spPr>
        <p:txBody>
          <a:bodyPr wrap="square" lIns="0" tIns="0" rIns="0" bIns="0" anchor="t">
            <a:spAutoFit/>
          </a:bodyPr>
          <a:lstStyle/>
          <a:p>
            <a:pPr algn="ctr" rtl="1">
              <a:lnSpc>
                <a:spcPct val="110000"/>
              </a:lnSpc>
            </a:pPr>
            <a:r>
              <a:rPr lang="he-IL" sz="1250" b="1" dirty="0">
                <a:solidFill>
                  <a:srgbClr val="FFFFFF"/>
                </a:solidFill>
                <a:latin typeface="Segoe UI"/>
                <a:cs typeface="Segoe UI"/>
              </a:rPr>
              <a:t>3</a:t>
            </a:r>
          </a:p>
        </p:txBody>
      </p:sp>
      <p:sp>
        <p:nvSpPr>
          <p:cNvPr id="24124" name="RC Word 3"/>
          <p:cNvSpPr txBox="1"/>
          <p:nvPr/>
        </p:nvSpPr>
        <p:spPr>
          <a:xfrm>
            <a:off x="1161288" y="4645152"/>
            <a:ext cx="3401568" cy="256032"/>
          </a:xfrm>
          <a:prstGeom prst="rect">
            <a:avLst/>
          </a:prstGeom>
          <a:noFill/>
        </p:spPr>
        <p:txBody>
          <a:bodyPr wrap="square" lIns="0" tIns="0" rIns="0" bIns="0" anchor="t">
            <a:spAutoFit/>
          </a:bodyPr>
          <a:lstStyle/>
          <a:p>
            <a:pPr algn="r" rtl="1">
              <a:lnSpc>
                <a:spcPct val="110000"/>
              </a:lnSpc>
            </a:pPr>
            <a:r>
              <a:rPr lang="he-IL" sz="1450" b="1" dirty="0">
                <a:solidFill>
                  <a:srgbClr val="141818"/>
                </a:solidFill>
                <a:latin typeface="Segoe UI"/>
                <a:cs typeface="Segoe UI"/>
              </a:rPr>
              <a:t>מבנה</a:t>
            </a:r>
          </a:p>
        </p:txBody>
      </p:sp>
      <p:sp>
        <p:nvSpPr>
          <p:cNvPr id="24125" name="RC Sub 3"/>
          <p:cNvSpPr txBox="1"/>
          <p:nvPr/>
        </p:nvSpPr>
        <p:spPr>
          <a:xfrm>
            <a:off x="1161288" y="4901184"/>
            <a:ext cx="3401568" cy="219456"/>
          </a:xfrm>
          <a:prstGeom prst="rect">
            <a:avLst/>
          </a:prstGeom>
          <a:noFill/>
        </p:spPr>
        <p:txBody>
          <a:bodyPr wrap="square" lIns="0" tIns="0" rIns="0" bIns="0" anchor="t">
            <a:spAutoFit/>
          </a:bodyPr>
          <a:lstStyle/>
          <a:p>
            <a:pPr algn="r" rtl="1">
              <a:lnSpc>
                <a:spcPct val="110000"/>
              </a:lnSpc>
            </a:pPr>
            <a:r>
              <a:rPr lang="he-IL" sz="1100" b="0" dirty="0">
                <a:solidFill>
                  <a:srgbClr val="707878"/>
                </a:solidFill>
                <a:latin typeface="Segoe UI"/>
                <a:cs typeface="Segoe UI"/>
              </a:rPr>
              <a:t>טבלה, סיכום, טיוטה</a:t>
            </a:r>
          </a:p>
        </p:txBody>
      </p:sp>
      <p:sp>
        <p:nvSpPr>
          <p:cNvPr id="24126" name="RC Link 3"/>
          <p:cNvSpPr/>
          <p:nvPr/>
        </p:nvSpPr>
        <p:spPr>
          <a:xfrm>
            <a:off x="4937760" y="5029200"/>
            <a:ext cx="9525" cy="384048"/>
          </a:xfrm>
          <a:prstGeom prst="rect">
            <a:avLst/>
          </a:prstGeom>
          <a:solidFill>
            <a:srgbClr val="D8E2EC"/>
          </a:solidFill>
          <a:ln>
            <a:noFill/>
          </a:ln>
        </p:spPr>
        <p:txBody>
          <a:bodyPr/>
          <a:lstStyle/>
          <a:p>
            <a:pPr algn="r" rtl="1"/>
            <a:endParaRPr lang="he-IL"/>
          </a:p>
        </p:txBody>
      </p:sp>
      <p:sp>
        <p:nvSpPr>
          <p:cNvPr id="24128" name="RC Disc 4"/>
          <p:cNvSpPr/>
          <p:nvPr/>
        </p:nvSpPr>
        <p:spPr>
          <a:xfrm>
            <a:off x="4745736" y="5413248"/>
            <a:ext cx="402336" cy="402336"/>
          </a:xfrm>
          <a:prstGeom prst="ellipse">
            <a:avLst/>
          </a:prstGeom>
          <a:solidFill>
            <a:srgbClr val="2868A8"/>
          </a:solidFill>
          <a:ln>
            <a:noFill/>
          </a:ln>
        </p:spPr>
        <p:txBody>
          <a:bodyPr/>
          <a:lstStyle/>
          <a:p>
            <a:pPr algn="r" rtl="1"/>
            <a:endParaRPr lang="he-IL"/>
          </a:p>
        </p:txBody>
      </p:sp>
      <p:sp>
        <p:nvSpPr>
          <p:cNvPr id="24129" name="RC Num 4"/>
          <p:cNvSpPr txBox="1"/>
          <p:nvPr/>
        </p:nvSpPr>
        <p:spPr>
          <a:xfrm>
            <a:off x="4745736" y="5495544"/>
            <a:ext cx="402336" cy="237744"/>
          </a:xfrm>
          <a:prstGeom prst="rect">
            <a:avLst/>
          </a:prstGeom>
          <a:noFill/>
        </p:spPr>
        <p:txBody>
          <a:bodyPr wrap="square" lIns="0" tIns="0" rIns="0" bIns="0" anchor="t">
            <a:spAutoFit/>
          </a:bodyPr>
          <a:lstStyle/>
          <a:p>
            <a:pPr algn="ctr" rtl="1">
              <a:lnSpc>
                <a:spcPct val="110000"/>
              </a:lnSpc>
            </a:pPr>
            <a:r>
              <a:rPr lang="he-IL" sz="1250" b="1" dirty="0">
                <a:solidFill>
                  <a:srgbClr val="FFFFFF"/>
                </a:solidFill>
                <a:latin typeface="Segoe UI"/>
                <a:cs typeface="Segoe UI"/>
              </a:rPr>
              <a:t>4</a:t>
            </a:r>
          </a:p>
        </p:txBody>
      </p:sp>
      <p:sp>
        <p:nvSpPr>
          <p:cNvPr id="24130" name="RC Word 4"/>
          <p:cNvSpPr txBox="1"/>
          <p:nvPr/>
        </p:nvSpPr>
        <p:spPr>
          <a:xfrm>
            <a:off x="1161288" y="5431536"/>
            <a:ext cx="3401568" cy="256032"/>
          </a:xfrm>
          <a:prstGeom prst="rect">
            <a:avLst/>
          </a:prstGeom>
          <a:noFill/>
        </p:spPr>
        <p:txBody>
          <a:bodyPr wrap="square" lIns="0" tIns="0" rIns="0" bIns="0" anchor="t">
            <a:spAutoFit/>
          </a:bodyPr>
          <a:lstStyle/>
          <a:p>
            <a:pPr algn="r" rtl="1">
              <a:lnSpc>
                <a:spcPct val="110000"/>
              </a:lnSpc>
            </a:pPr>
            <a:r>
              <a:rPr lang="he-IL" sz="1450" b="1" dirty="0">
                <a:solidFill>
                  <a:srgbClr val="141818"/>
                </a:solidFill>
                <a:latin typeface="Segoe UI"/>
                <a:cs typeface="Segoe UI"/>
              </a:rPr>
              <a:t>בדיקה</a:t>
            </a:r>
          </a:p>
        </p:txBody>
      </p:sp>
      <p:sp>
        <p:nvSpPr>
          <p:cNvPr id="24131" name="RC Sub 4"/>
          <p:cNvSpPr txBox="1"/>
          <p:nvPr/>
        </p:nvSpPr>
        <p:spPr>
          <a:xfrm>
            <a:off x="1161288" y="5687568"/>
            <a:ext cx="3401568" cy="219456"/>
          </a:xfrm>
          <a:prstGeom prst="rect">
            <a:avLst/>
          </a:prstGeom>
          <a:noFill/>
        </p:spPr>
        <p:txBody>
          <a:bodyPr wrap="square" lIns="0" tIns="0" rIns="0" bIns="0" anchor="t">
            <a:spAutoFit/>
          </a:bodyPr>
          <a:lstStyle/>
          <a:p>
            <a:pPr algn="r" rtl="1">
              <a:lnSpc>
                <a:spcPct val="110000"/>
              </a:lnSpc>
            </a:pPr>
            <a:r>
              <a:rPr lang="he-IL" sz="1100" b="0" dirty="0">
                <a:solidFill>
                  <a:srgbClr val="707878"/>
                </a:solidFill>
                <a:latin typeface="Segoe UI"/>
                <a:cs typeface="Segoe UI"/>
              </a:rPr>
              <a:t>לפני שמעבירים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מ ש ך</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הישארו מעודכנים</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25/27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n1.png"/>
          <p:cNvPicPr>
            <a:picLocks noChangeAspect="1"/>
          </p:cNvPicPr>
          <p:nvPr/>
        </p:nvPicPr>
        <p:blipFill>
          <a:blip r:embed="rId6"/>
          <a:stretch>
            <a:fillRect/>
          </a:stretch>
        </p:blipFill>
        <p:spPr>
          <a:xfrm>
            <a:off x="11064240" y="2157984"/>
            <a:ext cx="292608" cy="292608"/>
          </a:xfrm>
          <a:prstGeom prst="rect">
            <a:avLst/>
          </a:prstGeom>
        </p:spPr>
      </p:pic>
      <p:sp>
        <p:nvSpPr>
          <p:cNvPr id="16" name="S25Bullet 1"/>
          <p:cNvSpPr txBox="1"/>
          <p:nvPr/>
        </p:nvSpPr>
        <p:spPr>
          <a:xfrm>
            <a:off x="5440680" y="2066543"/>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היכולות והממשקים משתנים. בדקו מה זמין אצלכם.</a:t>
            </a:r>
          </a:p>
        </p:txBody>
      </p:sp>
      <p:pic>
        <p:nvPicPr>
          <p:cNvPr id="17" name="Picture 16" descr="n2.png"/>
          <p:cNvPicPr>
            <a:picLocks noChangeAspect="1"/>
          </p:cNvPicPr>
          <p:nvPr/>
        </p:nvPicPr>
        <p:blipFill>
          <a:blip r:embed="rId7"/>
          <a:stretch>
            <a:fillRect/>
          </a:stretch>
        </p:blipFill>
        <p:spPr>
          <a:xfrm>
            <a:off x="11064240" y="3072384"/>
            <a:ext cx="292608" cy="292608"/>
          </a:xfrm>
          <a:prstGeom prst="rect">
            <a:avLst/>
          </a:prstGeom>
        </p:spPr>
      </p:pic>
      <p:sp>
        <p:nvSpPr>
          <p:cNvPr id="18" name="S25Bullet 2"/>
          <p:cNvSpPr txBox="1"/>
          <p:nvPr/>
        </p:nvSpPr>
        <p:spPr>
          <a:xfrm>
            <a:off x="5440680" y="29809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התחילו ממשימה קטנה עם מקור ברור.</a:t>
            </a:r>
          </a:p>
        </p:txBody>
      </p:sp>
      <p:pic>
        <p:nvPicPr>
          <p:cNvPr id="19" name="Picture 18" descr="n3.png"/>
          <p:cNvPicPr>
            <a:picLocks noChangeAspect="1"/>
          </p:cNvPicPr>
          <p:nvPr/>
        </p:nvPicPr>
        <p:blipFill>
          <a:blip r:embed="rId8"/>
          <a:stretch>
            <a:fillRect/>
          </a:stretch>
        </p:blipFill>
        <p:spPr>
          <a:xfrm>
            <a:off x="11064240" y="3986783"/>
            <a:ext cx="292608" cy="292608"/>
          </a:xfrm>
          <a:prstGeom prst="rect">
            <a:avLst/>
          </a:prstGeom>
        </p:spPr>
      </p:pic>
      <p:sp>
        <p:nvSpPr>
          <p:cNvPr id="20" name="S25Bullet 3"/>
          <p:cNvSpPr txBox="1"/>
          <p:nvPr/>
        </p:nvSpPr>
        <p:spPr>
          <a:xfrm>
            <a:off x="5440680" y="38953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שמרו בקשה שעבדה והתאימו אותה למשימה הבאה.</a:t>
            </a:r>
          </a:p>
        </p:txBody>
      </p:sp>
      <p:pic>
        <p:nvPicPr>
          <p:cNvPr id="21" name="Picture 20" descr="n4.png"/>
          <p:cNvPicPr>
            <a:picLocks noChangeAspect="1"/>
          </p:cNvPicPr>
          <p:nvPr/>
        </p:nvPicPr>
        <p:blipFill>
          <a:blip r:embed="rId9"/>
          <a:stretch>
            <a:fillRect/>
          </a:stretch>
        </p:blipFill>
        <p:spPr>
          <a:xfrm>
            <a:off x="11064240" y="4901183"/>
            <a:ext cx="292608" cy="292608"/>
          </a:xfrm>
          <a:prstGeom prst="rect">
            <a:avLst/>
          </a:prstGeom>
        </p:spPr>
      </p:pic>
      <p:sp>
        <p:nvSpPr>
          <p:cNvPr id="22" name="S25Bullet 4"/>
          <p:cNvSpPr txBox="1"/>
          <p:nvPr/>
        </p:nvSpPr>
        <p:spPr>
          <a:xfrm>
            <a:off x="5440680" y="48097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שתפו את הצוות בתוצאה שבדקתם ובמה שלמדתם.</a:t>
            </a:r>
          </a:p>
        </p:txBody>
      </p:sp>
      <p:sp>
        <p:nvSpPr>
          <p:cNvPr id="28001" name="Workshop card background"/>
          <p:cNvSpPr txBox="1"/>
          <p:nvPr/>
        </p:nvSpPr>
        <p:spPr>
          <a:xfrm>
            <a:off x="868680" y="2029968"/>
            <a:ext cx="4480560" cy="4617720"/>
          </a:xfrm>
          <a:prstGeom prst="roundRect">
            <a:avLst>
              <a:gd name="adj" fmla="val 4000"/>
            </a:avLst>
          </a:prstGeom>
          <a:solidFill>
            <a:srgbClr val="FFFFFF"/>
          </a:solidFill>
          <a:ln>
            <a:noFill/>
          </a:ln>
        </p:spPr>
        <p:txBody>
          <a:bodyPr wrap="square" lIns="0" rIns="0" tIns="0" bIns="0" anchor="ctr"/>
          <a:lstStyle/>
          <a:p>
            <a:pPr algn="r" rtl="1"/>
            <a:r>
              <a:rPr lang="he-IL" sz="1700" b="0">
                <a:solidFill>
                  <a:srgbClr val="141818"/>
                </a:solidFill>
                <a:latin typeface="Segoe UI"/>
                <a:cs typeface="Segoe UI"/>
                <a:ea typeface="Segoe UI"/>
              </a:rPr>
              <a:t/>
            </a:r>
          </a:p>
        </p:txBody>
      </p:sp>
      <p:sp>
        <p:nvSpPr>
          <p:cNvPr id="28002" name="Workshop card title"/>
          <p:cNvSpPr txBox="1"/>
          <p:nvPr/>
        </p:nvSpPr>
        <p:spPr>
          <a:xfrm>
            <a:off x="1143000" y="2267712"/>
            <a:ext cx="3931920" cy="457200"/>
          </a:xfrm>
          <a:prstGeom prst="rect">
            <a:avLst/>
          </a:prstGeom>
          <a:noFill/>
          <a:ln>
            <a:noFill/>
          </a:ln>
        </p:spPr>
        <p:txBody>
          <a:bodyPr wrap="square" lIns="0" rIns="0" tIns="0" bIns="0" anchor="ctr"/>
          <a:lstStyle/>
          <a:p>
            <a:pPr algn="r" rtl="1"/>
            <a:r>
              <a:rPr lang="he-IL" sz="1900" b="1">
                <a:solidFill>
                  <a:srgbClr val="141818"/>
                </a:solidFill>
                <a:latin typeface="Segoe UI"/>
                <a:cs typeface="Segoe UI"/>
                <a:ea typeface="Segoe UI"/>
              </a:rPr>
              <a:t>הרגל עבודה שנשאר</a:t>
            </a:r>
          </a:p>
        </p:txBody>
      </p:sp>
      <p:sp>
        <p:nvSpPr>
          <p:cNvPr id="28010" name="Workshop label 0"/>
          <p:cNvSpPr txBox="1"/>
          <p:nvPr/>
        </p:nvSpPr>
        <p:spPr>
          <a:xfrm>
            <a:off x="1143000" y="2926080"/>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משימה קטנה</a:t>
            </a:r>
          </a:p>
        </p:txBody>
      </p:sp>
      <p:sp>
        <p:nvSpPr>
          <p:cNvPr id="28011" name="Workshop detail 0"/>
          <p:cNvSpPr txBox="1"/>
          <p:nvPr/>
        </p:nvSpPr>
        <p:spPr>
          <a:xfrm>
            <a:off x="1143000" y="3273552"/>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בוחרים תוצאה שאפשר לבדוק</a:t>
            </a:r>
          </a:p>
        </p:txBody>
      </p:sp>
      <p:sp>
        <p:nvSpPr>
          <p:cNvPr id="28013" name="Workshop label 1"/>
          <p:cNvSpPr txBox="1"/>
          <p:nvPr/>
        </p:nvSpPr>
        <p:spPr>
          <a:xfrm>
            <a:off x="1143000" y="3730752"/>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מקור ברור</a:t>
            </a:r>
          </a:p>
        </p:txBody>
      </p:sp>
      <p:sp>
        <p:nvSpPr>
          <p:cNvPr id="28014" name="Workshop detail 1"/>
          <p:cNvSpPr txBox="1"/>
          <p:nvPr/>
        </p:nvSpPr>
        <p:spPr>
          <a:xfrm>
            <a:off x="1143000" y="4078224"/>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מצרפים את המידע המתאים</a:t>
            </a:r>
          </a:p>
        </p:txBody>
      </p:sp>
      <p:sp>
        <p:nvSpPr>
          <p:cNvPr id="28016" name="Workshop label 2"/>
          <p:cNvSpPr txBox="1"/>
          <p:nvPr/>
        </p:nvSpPr>
        <p:spPr>
          <a:xfrm>
            <a:off x="1143000" y="4535424"/>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בקשה שנשמרת</a:t>
            </a:r>
          </a:p>
        </p:txBody>
      </p:sp>
      <p:sp>
        <p:nvSpPr>
          <p:cNvPr id="28017" name="Workshop detail 2"/>
          <p:cNvSpPr txBox="1"/>
          <p:nvPr/>
        </p:nvSpPr>
        <p:spPr>
          <a:xfrm>
            <a:off x="1143000" y="4882896"/>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מתאימים אותה לעבודה הבאה</a:t>
            </a:r>
          </a:p>
        </p:txBody>
      </p:sp>
      <p:sp>
        <p:nvSpPr>
          <p:cNvPr id="28019" name="Workshop label 3"/>
          <p:cNvSpPr txBox="1"/>
          <p:nvPr/>
        </p:nvSpPr>
        <p:spPr>
          <a:xfrm>
            <a:off x="1143000" y="5340096"/>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למידה משותפת</a:t>
            </a:r>
          </a:p>
        </p:txBody>
      </p:sp>
      <p:sp>
        <p:nvSpPr>
          <p:cNvPr id="28020" name="Workshop detail 3"/>
          <p:cNvSpPr txBox="1"/>
          <p:nvPr/>
        </p:nvSpPr>
        <p:spPr>
          <a:xfrm>
            <a:off x="1143000" y="5687568"/>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משתפים מה עבד ומה תיקנתם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ע ר כ ת   ה ד ר כ ה</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תקבלו בסיום ההדרכה</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24/27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n1.png"/>
          <p:cNvPicPr>
            <a:picLocks noChangeAspect="1"/>
          </p:cNvPicPr>
          <p:nvPr/>
        </p:nvPicPr>
        <p:blipFill>
          <a:blip r:embed="rId6"/>
          <a:stretch>
            <a:fillRect/>
          </a:stretch>
        </p:blipFill>
        <p:spPr>
          <a:xfrm>
            <a:off x="11064240" y="2157984"/>
            <a:ext cx="292608" cy="292608"/>
          </a:xfrm>
          <a:prstGeom prst="rect">
            <a:avLst/>
          </a:prstGeom>
        </p:spPr>
      </p:pic>
      <p:sp>
        <p:nvSpPr>
          <p:cNvPr id="16" name="S26Bullet 1"/>
          <p:cNvSpPr txBox="1"/>
          <p:nvPr/>
        </p:nvSpPr>
        <p:spPr>
          <a:xfrm>
            <a:off x="5440680" y="2066543"/>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קובץ אקסל, פרוטוקול, בריף ושרשור מייל לתרגול.</a:t>
            </a:r>
          </a:p>
        </p:txBody>
      </p:sp>
      <p:pic>
        <p:nvPicPr>
          <p:cNvPr id="17" name="Picture 16" descr="n2.png"/>
          <p:cNvPicPr>
            <a:picLocks noChangeAspect="1"/>
          </p:cNvPicPr>
          <p:nvPr/>
        </p:nvPicPr>
        <p:blipFill>
          <a:blip r:embed="rId7"/>
          <a:stretch>
            <a:fillRect/>
          </a:stretch>
        </p:blipFill>
        <p:spPr>
          <a:xfrm>
            <a:off x="11064240" y="3072384"/>
            <a:ext cx="292608" cy="292608"/>
          </a:xfrm>
          <a:prstGeom prst="rect">
            <a:avLst/>
          </a:prstGeom>
        </p:spPr>
      </p:pic>
      <p:sp>
        <p:nvSpPr>
          <p:cNvPr id="18" name="S26Bullet 2"/>
          <p:cNvSpPr txBox="1"/>
          <p:nvPr/>
        </p:nvSpPr>
        <p:spPr>
          <a:xfrm>
            <a:off x="5440680" y="29809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תבנית מצגת ודף בדיקה לתוצאות.</a:t>
            </a:r>
          </a:p>
        </p:txBody>
      </p:sp>
      <p:pic>
        <p:nvPicPr>
          <p:cNvPr id="19" name="Picture 18" descr="n3.png"/>
          <p:cNvPicPr>
            <a:picLocks noChangeAspect="1"/>
          </p:cNvPicPr>
          <p:nvPr/>
        </p:nvPicPr>
        <p:blipFill>
          <a:blip r:embed="rId8"/>
          <a:stretch>
            <a:fillRect/>
          </a:stretch>
        </p:blipFill>
        <p:spPr>
          <a:xfrm>
            <a:off x="11064240" y="3986783"/>
            <a:ext cx="292608" cy="292608"/>
          </a:xfrm>
          <a:prstGeom prst="rect">
            <a:avLst/>
          </a:prstGeom>
        </p:spPr>
      </p:pic>
      <p:sp>
        <p:nvSpPr>
          <p:cNvPr id="20" name="S26Bullet 3"/>
          <p:cNvSpPr txBox="1"/>
          <p:nvPr/>
        </p:nvSpPr>
        <p:spPr>
          <a:xfrm>
            <a:off x="5440680" y="38953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בקשות מוכנות להעתקה ולהתאמה לתפקיד שלכם.</a:t>
            </a:r>
          </a:p>
        </p:txBody>
      </p:sp>
      <p:pic>
        <p:nvPicPr>
          <p:cNvPr id="21" name="Picture 20" descr="n4.png"/>
          <p:cNvPicPr>
            <a:picLocks noChangeAspect="1"/>
          </p:cNvPicPr>
          <p:nvPr/>
        </p:nvPicPr>
        <p:blipFill>
          <a:blip r:embed="rId9"/>
          <a:stretch>
            <a:fillRect/>
          </a:stretch>
        </p:blipFill>
        <p:spPr>
          <a:xfrm>
            <a:off x="11064240" y="4901183"/>
            <a:ext cx="292608" cy="292608"/>
          </a:xfrm>
          <a:prstGeom prst="rect">
            <a:avLst/>
          </a:prstGeom>
        </p:spPr>
      </p:pic>
      <p:sp>
        <p:nvSpPr>
          <p:cNvPr id="22" name="S26Bullet 4"/>
          <p:cNvSpPr txBox="1"/>
          <p:nvPr/>
        </p:nvSpPr>
        <p:spPr>
          <a:xfrm>
            <a:off x="5440680" y="4809744"/>
            <a:ext cx="5504688"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דוגמאות מודרכות והנחיות לתרגול נוסף.</a:t>
            </a:r>
          </a:p>
        </p:txBody>
      </p:sp>
      <p:sp>
        <p:nvSpPr>
          <p:cNvPr id="28001" name="Workshop card background"/>
          <p:cNvSpPr txBox="1"/>
          <p:nvPr/>
        </p:nvSpPr>
        <p:spPr>
          <a:xfrm>
            <a:off x="868680" y="2029968"/>
            <a:ext cx="4480560" cy="4617720"/>
          </a:xfrm>
          <a:prstGeom prst="roundRect">
            <a:avLst>
              <a:gd name="adj" fmla="val 4000"/>
            </a:avLst>
          </a:prstGeom>
          <a:solidFill>
            <a:srgbClr val="FFFFFF"/>
          </a:solidFill>
          <a:ln>
            <a:noFill/>
          </a:ln>
        </p:spPr>
        <p:txBody>
          <a:bodyPr wrap="square" lIns="0" rIns="0" tIns="0" bIns="0" anchor="ctr"/>
          <a:lstStyle/>
          <a:p>
            <a:pPr algn="r" rtl="1"/>
            <a:r>
              <a:rPr lang="he-IL" sz="1700" b="0">
                <a:solidFill>
                  <a:srgbClr val="141818"/>
                </a:solidFill>
                <a:latin typeface="Segoe UI"/>
                <a:cs typeface="Segoe UI"/>
                <a:ea typeface="Segoe UI"/>
              </a:rPr>
              <a:t/>
            </a:r>
          </a:p>
        </p:txBody>
      </p:sp>
      <p:sp>
        <p:nvSpPr>
          <p:cNvPr id="28002" name="Workshop card title"/>
          <p:cNvSpPr txBox="1"/>
          <p:nvPr/>
        </p:nvSpPr>
        <p:spPr>
          <a:xfrm>
            <a:off x="1143000" y="2267712"/>
            <a:ext cx="3931920" cy="457200"/>
          </a:xfrm>
          <a:prstGeom prst="rect">
            <a:avLst/>
          </a:prstGeom>
          <a:noFill/>
          <a:ln>
            <a:noFill/>
          </a:ln>
        </p:spPr>
        <p:txBody>
          <a:bodyPr wrap="square" lIns="0" rIns="0" tIns="0" bIns="0" anchor="ctr"/>
          <a:lstStyle/>
          <a:p>
            <a:pPr algn="r" rtl="1"/>
            <a:r>
              <a:rPr lang="he-IL" sz="1900" b="1">
                <a:solidFill>
                  <a:srgbClr val="141818"/>
                </a:solidFill>
                <a:latin typeface="Segoe UI"/>
                <a:cs typeface="Segoe UI"/>
                <a:ea typeface="Segoe UI"/>
              </a:rPr>
              <a:t>ערכת התרגול שלכם</a:t>
            </a:r>
          </a:p>
        </p:txBody>
      </p:sp>
      <p:sp>
        <p:nvSpPr>
          <p:cNvPr id="28010" name="Workshop label 0"/>
          <p:cNvSpPr txBox="1"/>
          <p:nvPr/>
        </p:nvSpPr>
        <p:spPr>
          <a:xfrm>
            <a:off x="1143000" y="2926080"/>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קובצי עבודה</a:t>
            </a:r>
          </a:p>
        </p:txBody>
      </p:sp>
      <p:sp>
        <p:nvSpPr>
          <p:cNvPr id="28011" name="Workshop detail 0"/>
          <p:cNvSpPr txBox="1"/>
          <p:nvPr/>
        </p:nvSpPr>
        <p:spPr>
          <a:xfrm>
            <a:off x="1143000" y="3273552"/>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אקסל, פרוטוקול, בריף ומייל</a:t>
            </a:r>
          </a:p>
        </p:txBody>
      </p:sp>
      <p:sp>
        <p:nvSpPr>
          <p:cNvPr id="28013" name="Workshop label 1"/>
          <p:cNvSpPr txBox="1"/>
          <p:nvPr/>
        </p:nvSpPr>
        <p:spPr>
          <a:xfrm>
            <a:off x="1143000" y="3730752"/>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ספריית בקשות</a:t>
            </a:r>
          </a:p>
        </p:txBody>
      </p:sp>
      <p:sp>
        <p:nvSpPr>
          <p:cNvPr id="28014" name="Workshop detail 1"/>
          <p:cNvSpPr txBox="1"/>
          <p:nvPr/>
        </p:nvSpPr>
        <p:spPr>
          <a:xfrm>
            <a:off x="1143000" y="4078224"/>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מוכנה להעתקה ולהתאמה</a:t>
            </a:r>
          </a:p>
        </p:txBody>
      </p:sp>
      <p:sp>
        <p:nvSpPr>
          <p:cNvPr id="28016" name="Workshop label 2"/>
          <p:cNvSpPr txBox="1"/>
          <p:nvPr/>
        </p:nvSpPr>
        <p:spPr>
          <a:xfrm>
            <a:off x="1143000" y="4535424"/>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בדיקת תוצאות</a:t>
            </a:r>
          </a:p>
        </p:txBody>
      </p:sp>
      <p:sp>
        <p:nvSpPr>
          <p:cNvPr id="28017" name="Workshop detail 2"/>
          <p:cNvSpPr txBox="1"/>
          <p:nvPr/>
        </p:nvSpPr>
        <p:spPr>
          <a:xfrm>
            <a:off x="1143000" y="4882896"/>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מקור, חישוב, החלטה והתחייבות</a:t>
            </a:r>
          </a:p>
        </p:txBody>
      </p:sp>
      <p:sp>
        <p:nvSpPr>
          <p:cNvPr id="28019" name="Workshop label 3"/>
          <p:cNvSpPr txBox="1"/>
          <p:nvPr/>
        </p:nvSpPr>
        <p:spPr>
          <a:xfrm>
            <a:off x="1143000" y="5340096"/>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המשך עצמאי</a:t>
            </a:r>
          </a:p>
        </p:txBody>
      </p:sp>
      <p:sp>
        <p:nvSpPr>
          <p:cNvPr id="28020" name="Workshop detail 3"/>
          <p:cNvSpPr txBox="1"/>
          <p:nvPr/>
        </p:nvSpPr>
        <p:spPr>
          <a:xfrm>
            <a:off x="1143000" y="5687568"/>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משימה למחר ותזכורת לבדיקה</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י צ י ר ת   ק ש ר</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איך ממשיכים מכאן</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26/27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n1.png"/>
          <p:cNvPicPr>
            <a:picLocks noChangeAspect="1"/>
          </p:cNvPicPr>
          <p:nvPr/>
        </p:nvPicPr>
        <p:blipFill>
          <a:blip r:embed="rId6"/>
          <a:stretch>
            <a:fillRect/>
          </a:stretch>
        </p:blipFill>
        <p:spPr>
          <a:xfrm>
            <a:off x="11064240" y="2157984"/>
            <a:ext cx="292608" cy="292608"/>
          </a:xfrm>
          <a:prstGeom prst="rect">
            <a:avLst/>
          </a:prstGeom>
        </p:spPr>
      </p:pic>
      <p:sp>
        <p:nvSpPr>
          <p:cNvPr id="16" name="S27Bullet 1"/>
          <p:cNvSpPr txBox="1"/>
          <p:nvPr/>
        </p:nvSpPr>
        <p:spPr>
          <a:xfrm>
            <a:off x="5532120" y="2066543"/>
            <a:ext cx="541324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גיא כהן, ואלור פתרונות אוטומציה</a:t>
            </a:r>
          </a:p>
        </p:txBody>
      </p:sp>
      <p:pic>
        <p:nvPicPr>
          <p:cNvPr id="17" name="Picture 16" descr="n2.png"/>
          <p:cNvPicPr>
            <a:picLocks noChangeAspect="1"/>
          </p:cNvPicPr>
          <p:nvPr/>
        </p:nvPicPr>
        <p:blipFill>
          <a:blip r:embed="rId7"/>
          <a:stretch>
            <a:fillRect/>
          </a:stretch>
        </p:blipFill>
        <p:spPr>
          <a:xfrm>
            <a:off x="11064240" y="3072384"/>
            <a:ext cx="292608" cy="292608"/>
          </a:xfrm>
          <a:prstGeom prst="rect">
            <a:avLst/>
          </a:prstGeom>
        </p:spPr>
      </p:pic>
      <p:sp>
        <p:nvSpPr>
          <p:cNvPr id="18" name="S27Bullet 2"/>
          <p:cNvSpPr txBox="1"/>
          <p:nvPr/>
        </p:nvSpPr>
        <p:spPr>
          <a:xfrm>
            <a:off x="5532120" y="2980944"/>
            <a:ext cx="541324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info@guycohen-ai.co.il</a:t>
            </a:r>
          </a:p>
        </p:txBody>
      </p:sp>
      <p:pic>
        <p:nvPicPr>
          <p:cNvPr id="19" name="Picture 18" descr="n3.png"/>
          <p:cNvPicPr>
            <a:picLocks noChangeAspect="1"/>
          </p:cNvPicPr>
          <p:nvPr/>
        </p:nvPicPr>
        <p:blipFill>
          <a:blip r:embed="rId8"/>
          <a:stretch>
            <a:fillRect/>
          </a:stretch>
        </p:blipFill>
        <p:spPr>
          <a:xfrm>
            <a:off x="11064240" y="3986783"/>
            <a:ext cx="292608" cy="292608"/>
          </a:xfrm>
          <a:prstGeom prst="rect">
            <a:avLst/>
          </a:prstGeom>
        </p:spPr>
      </p:pic>
      <p:sp>
        <p:nvSpPr>
          <p:cNvPr id="20" name="S27Bullet 3"/>
          <p:cNvSpPr txBox="1"/>
          <p:nvPr/>
        </p:nvSpPr>
        <p:spPr>
          <a:xfrm>
            <a:off x="5532120" y="3895344"/>
            <a:ext cx="541324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צרפו שאלה קצרה ודוגמה ללא מידע רגיש.</a:t>
            </a:r>
          </a:p>
        </p:txBody>
      </p:sp>
      <p:pic>
        <p:nvPicPr>
          <p:cNvPr id="21" name="Picture 20" descr="n4.png"/>
          <p:cNvPicPr>
            <a:picLocks noChangeAspect="1"/>
          </p:cNvPicPr>
          <p:nvPr/>
        </p:nvPicPr>
        <p:blipFill>
          <a:blip r:embed="rId9"/>
          <a:stretch>
            <a:fillRect/>
          </a:stretch>
        </p:blipFill>
        <p:spPr>
          <a:xfrm>
            <a:off x="11064240" y="4901183"/>
            <a:ext cx="292608" cy="292608"/>
          </a:xfrm>
          <a:prstGeom prst="rect">
            <a:avLst/>
          </a:prstGeom>
        </p:spPr>
      </p:pic>
      <p:sp>
        <p:nvSpPr>
          <p:cNvPr id="22" name="S27Bullet 4"/>
          <p:cNvSpPr txBox="1"/>
          <p:nvPr/>
        </p:nvSpPr>
        <p:spPr>
          <a:xfrm>
            <a:off x="5532120" y="4809744"/>
            <a:ext cx="5413247" cy="914400"/>
          </a:xfrm>
          <a:prstGeom prst="rect">
            <a:avLst/>
          </a:prstGeom>
          <a:noFill/>
        </p:spPr>
        <p:txBody>
          <a:bodyPr wrap="square" lIns="0" rIns="0" tIns="0" bIns="0">
            <a:spAutoFit/>
          </a:bodyPr>
          <a:lstStyle/>
          <a:p>
            <a:pPr algn="r" rtl="1"/>
            <a:r>
              <a:rPr sz="1700">
                <a:solidFill>
                  <a:srgbClr val="56616B"/>
                </a:solidFill>
                <a:latin typeface="Segoe UI"/>
                <a:cs typeface="Segoe UI"/>
                <a:ea typeface="Segoe UI"/>
              </a:rPr>
              <a:t>להמשך: בחרו משימה, תרגלו ובדקו את התוצאה.</a:t>
            </a:r>
          </a:p>
        </p:txBody>
      </p:sp>
      <p:sp>
        <p:nvSpPr>
          <p:cNvPr id="28001" name="Workshop card background"/>
          <p:cNvSpPr txBox="1"/>
          <p:nvPr/>
        </p:nvSpPr>
        <p:spPr>
          <a:xfrm>
            <a:off x="868680" y="2029968"/>
            <a:ext cx="4480560" cy="4617720"/>
          </a:xfrm>
          <a:prstGeom prst="roundRect">
            <a:avLst>
              <a:gd name="adj" fmla="val 4000"/>
            </a:avLst>
          </a:prstGeom>
          <a:solidFill>
            <a:srgbClr val="FFFFFF"/>
          </a:solidFill>
          <a:ln>
            <a:noFill/>
          </a:ln>
        </p:spPr>
        <p:txBody>
          <a:bodyPr wrap="square" lIns="0" rIns="0" tIns="0" bIns="0" anchor="ctr"/>
          <a:lstStyle/>
          <a:p>
            <a:pPr algn="r" rtl="1"/>
            <a:r>
              <a:rPr lang="he-IL" sz="1700" b="0">
                <a:solidFill>
                  <a:srgbClr val="141818"/>
                </a:solidFill>
                <a:latin typeface="Segoe UI"/>
                <a:cs typeface="Segoe UI"/>
                <a:ea typeface="Segoe UI"/>
              </a:rPr>
              <a:t/>
            </a:r>
          </a:p>
        </p:txBody>
      </p:sp>
      <p:sp>
        <p:nvSpPr>
          <p:cNvPr id="28002" name="Workshop card title"/>
          <p:cNvSpPr txBox="1"/>
          <p:nvPr/>
        </p:nvSpPr>
        <p:spPr>
          <a:xfrm>
            <a:off x="1143000" y="2267712"/>
            <a:ext cx="3931920" cy="457200"/>
          </a:xfrm>
          <a:prstGeom prst="rect">
            <a:avLst/>
          </a:prstGeom>
          <a:noFill/>
          <a:ln>
            <a:noFill/>
          </a:ln>
        </p:spPr>
        <p:txBody>
          <a:bodyPr wrap="square" lIns="0" rIns="0" tIns="0" bIns="0" anchor="ctr"/>
          <a:lstStyle/>
          <a:p>
            <a:pPr algn="r" rtl="1"/>
            <a:r>
              <a:rPr lang="he-IL" sz="1900" b="1">
                <a:solidFill>
                  <a:srgbClr val="141818"/>
                </a:solidFill>
                <a:latin typeface="Segoe UI"/>
                <a:cs typeface="Segoe UI"/>
                <a:ea typeface="Segoe UI"/>
              </a:rPr>
              <a:t>נשארים בקשר</a:t>
            </a:r>
          </a:p>
        </p:txBody>
      </p:sp>
      <p:sp>
        <p:nvSpPr>
          <p:cNvPr id="28010" name="Workshop label 0"/>
          <p:cNvSpPr txBox="1"/>
          <p:nvPr/>
        </p:nvSpPr>
        <p:spPr>
          <a:xfrm>
            <a:off x="1143000" y="2926080"/>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גיא כהן</a:t>
            </a:r>
          </a:p>
        </p:txBody>
      </p:sp>
      <p:sp>
        <p:nvSpPr>
          <p:cNvPr id="28011" name="Workshop detail 0"/>
          <p:cNvSpPr txBox="1"/>
          <p:nvPr/>
        </p:nvSpPr>
        <p:spPr>
          <a:xfrm>
            <a:off x="1143000" y="3273552"/>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ואלור פתרונות אוטומציה</a:t>
            </a:r>
          </a:p>
        </p:txBody>
      </p:sp>
      <p:sp>
        <p:nvSpPr>
          <p:cNvPr id="28013" name="Workshop label 1"/>
          <p:cNvSpPr txBox="1"/>
          <p:nvPr/>
        </p:nvSpPr>
        <p:spPr>
          <a:xfrm>
            <a:off x="1143000" y="3730752"/>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דואר אלקטרוני</a:t>
            </a:r>
          </a:p>
        </p:txBody>
      </p:sp>
      <p:sp>
        <p:nvSpPr>
          <p:cNvPr id="28014" name="Workshop detail 1"/>
          <p:cNvSpPr txBox="1"/>
          <p:nvPr/>
        </p:nvSpPr>
        <p:spPr>
          <a:xfrm>
            <a:off x="1143000" y="4078224"/>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info@guycohen-ai.co.il</a:t>
            </a:r>
          </a:p>
        </p:txBody>
      </p:sp>
      <p:sp>
        <p:nvSpPr>
          <p:cNvPr id="28016" name="Workshop label 2"/>
          <p:cNvSpPr txBox="1"/>
          <p:nvPr/>
        </p:nvSpPr>
        <p:spPr>
          <a:xfrm>
            <a:off x="1143000" y="4535424"/>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מה לצרף</a:t>
            </a:r>
          </a:p>
        </p:txBody>
      </p:sp>
      <p:sp>
        <p:nvSpPr>
          <p:cNvPr id="28017" name="Workshop detail 2"/>
          <p:cNvSpPr txBox="1"/>
          <p:nvPr/>
        </p:nvSpPr>
        <p:spPr>
          <a:xfrm>
            <a:off x="1143000" y="4882896"/>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המשימה, האפליקציה והשאלה</a:t>
            </a:r>
          </a:p>
        </p:txBody>
      </p:sp>
      <p:sp>
        <p:nvSpPr>
          <p:cNvPr id="28019" name="Workshop label 3"/>
          <p:cNvSpPr txBox="1"/>
          <p:nvPr/>
        </p:nvSpPr>
        <p:spPr>
          <a:xfrm>
            <a:off x="1143000" y="5340096"/>
            <a:ext cx="3931920" cy="320040"/>
          </a:xfrm>
          <a:prstGeom prst="rect">
            <a:avLst/>
          </a:prstGeom>
          <a:noFill/>
          <a:ln>
            <a:noFill/>
          </a:ln>
        </p:spPr>
        <p:txBody>
          <a:bodyPr wrap="square" lIns="0" rIns="0" tIns="0" bIns="0" anchor="ctr"/>
          <a:lstStyle/>
          <a:p>
            <a:pPr algn="r" rtl="1"/>
            <a:r>
              <a:rPr lang="he-IL" sz="1700" b="1">
                <a:solidFill>
                  <a:srgbClr val="2868A8"/>
                </a:solidFill>
                <a:latin typeface="Segoe UI"/>
                <a:cs typeface="Segoe UI"/>
                <a:ea typeface="Segoe UI"/>
              </a:rPr>
              <a:t>לפני השיתוף</a:t>
            </a:r>
          </a:p>
        </p:txBody>
      </p:sp>
      <p:sp>
        <p:nvSpPr>
          <p:cNvPr id="28020" name="Workshop detail 3"/>
          <p:cNvSpPr txBox="1"/>
          <p:nvPr/>
        </p:nvSpPr>
        <p:spPr>
          <a:xfrm>
            <a:off x="1143000" y="5687568"/>
            <a:ext cx="3931920" cy="393192"/>
          </a:xfrm>
          <a:prstGeom prst="rect">
            <a:avLst/>
          </a:prstGeom>
          <a:noFill/>
          <a:ln>
            <a:noFill/>
          </a:ln>
        </p:spPr>
        <p:txBody>
          <a:bodyPr wrap="square" lIns="0" rIns="0" tIns="0" bIns="0" anchor="ctr"/>
          <a:lstStyle/>
          <a:p>
            <a:pPr algn="r" rtl="1"/>
            <a:r>
              <a:rPr lang="he-IL" sz="1400" b="0">
                <a:solidFill>
                  <a:srgbClr val="56616B"/>
                </a:solidFill>
                <a:latin typeface="Segoe UI"/>
                <a:cs typeface="Segoe UI"/>
                <a:ea typeface="Segoe UI"/>
              </a:rPr>
              <a:t>מסירים מידע רגיש מהדוגמה</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ת ר ג ו ל   ו ס י ו ם</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447800"/>
            <a:ext cx="10652760" cy="685800"/>
          </a:xfrm>
          <a:prstGeom prst="rect">
            <a:avLst/>
          </a:prstGeom>
          <a:noFill/>
        </p:spPr>
        <p:txBody>
          <a:bodyPr anchor="ctr">
            <a:spAutoFit/>
          </a:bodyPr>
          <a:lstStyle/>
          <a:p>
            <a:pPr algn="r" rtl="1"/>
            <a:r>
              <a:rPr lang="he-IL" sz="2900" b="1">
                <a:solidFill>
                  <a:srgbClr val="16181A"/>
                </a:solidFill>
                <a:latin typeface="Segoe UI"/>
              </a:rPr>
              <a:t>עכשיו עובדים על המשימות שלכם</a:t>
            </a:r>
            <a:endParaRPr lang="en-US" sz="2900" b="1">
              <a:solidFill>
                <a:srgbClr val="16181A"/>
              </a:solidFill>
              <a:latin typeface="Segoe UI"/>
            </a:endParaRPr>
          </a:p>
          <a:p>
            <a:pPr algn="r" rtl="1">
              <a:spcBef>
                <a:spcPts val="800"/>
              </a:spcBef>
            </a:pPr>
            <a:r>
              <a:rPr lang="he-IL" sz="2900" b="0">
                <a:solidFill>
                  <a:srgbClr val="565C62"/>
                </a:solidFill>
                <a:latin typeface="Segoe UI"/>
              </a:rPr>
              <a:t/>
            </a:r>
            <a:endParaRPr lang="en-US" sz="2900" b="0">
              <a:solidFill>
                <a:srgbClr val="565C62"/>
              </a:solidFill>
              <a:latin typeface="Segoe UI"/>
            </a:endParaRPr>
          </a:p>
        </p:txBody>
      </p:sp>
      <p:sp>
        <p:nvSpPr>
          <p:cNvPr id="8" name="TextBox 7"/>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27/27</a:t>
            </a:r>
            <a:endParaRPr lang="en-US" sz="900">
              <a:solidFill>
                <a:srgbClr val="565C62"/>
              </a:solidFill>
              <a:latin typeface="Segoe UI"/>
            </a:endParaRPr>
          </a:p>
        </p:txBody>
      </p:sp>
      <p:sp>
        <p:nvSpPr>
          <p:cNvPr id="9" name="TextBox 8"/>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28500" name="Practice heading 0"/>
          <p:cNvSpPr txBox="1"/>
          <p:nvPr/>
        </p:nvSpPr>
        <p:spPr>
          <a:xfrm>
            <a:off x="914400" y="2468880"/>
            <a:ext cx="10287000" cy="411480"/>
          </a:xfrm>
          <a:prstGeom prst="rect">
            <a:avLst/>
          </a:prstGeom>
          <a:noFill/>
          <a:ln>
            <a:noFill/>
          </a:ln>
        </p:spPr>
        <p:txBody>
          <a:bodyPr wrap="square" lIns="0" rIns="0" tIns="0" bIns="0" anchor="ctr"/>
          <a:lstStyle/>
          <a:p>
            <a:pPr algn="r" rtl="1"/>
            <a:r>
              <a:rPr lang="he-IL" sz="2400" b="1">
                <a:solidFill>
                  <a:srgbClr val="2868A8"/>
                </a:solidFill>
                <a:latin typeface="Segoe UI"/>
                <a:cs typeface="Segoe UI"/>
                <a:ea typeface="Segoe UI"/>
              </a:rPr>
              <a:t>בחרו שלוש משימות</a:t>
            </a:r>
          </a:p>
        </p:txBody>
      </p:sp>
      <p:sp>
        <p:nvSpPr>
          <p:cNvPr id="28501" name="Practice instruction 0"/>
          <p:cNvSpPr txBox="1"/>
          <p:nvPr/>
        </p:nvSpPr>
        <p:spPr>
          <a:xfrm>
            <a:off x="914400" y="2953512"/>
            <a:ext cx="10287000" cy="457200"/>
          </a:xfrm>
          <a:prstGeom prst="rect">
            <a:avLst/>
          </a:prstGeom>
          <a:noFill/>
          <a:ln>
            <a:noFill/>
          </a:ln>
        </p:spPr>
        <p:txBody>
          <a:bodyPr wrap="square" lIns="0" rIns="0" tIns="0" bIns="0" anchor="ctr"/>
          <a:lstStyle/>
          <a:p>
            <a:pPr algn="r" rtl="1"/>
            <a:r>
              <a:rPr lang="he-IL" sz="2000" b="0">
                <a:solidFill>
                  <a:srgbClr val="56616B"/>
                </a:solidFill>
                <a:latin typeface="Segoe UI"/>
                <a:cs typeface="Segoe UI"/>
                <a:ea typeface="Segoe UI"/>
              </a:rPr>
              <a:t>מהעבודה שלכם: סיכום, ניתוח, ניסוח או חיפוש.</a:t>
            </a:r>
          </a:p>
        </p:txBody>
      </p:sp>
      <p:sp>
        <p:nvSpPr>
          <p:cNvPr id="28503" name="Practice heading 1"/>
          <p:cNvSpPr txBox="1"/>
          <p:nvPr/>
        </p:nvSpPr>
        <p:spPr>
          <a:xfrm>
            <a:off x="914400" y="3639312"/>
            <a:ext cx="10287000" cy="411480"/>
          </a:xfrm>
          <a:prstGeom prst="rect">
            <a:avLst/>
          </a:prstGeom>
          <a:noFill/>
          <a:ln>
            <a:noFill/>
          </a:ln>
        </p:spPr>
        <p:txBody>
          <a:bodyPr wrap="square" lIns="0" rIns="0" tIns="0" bIns="0" anchor="ctr"/>
          <a:lstStyle/>
          <a:p>
            <a:pPr algn="r" rtl="1"/>
            <a:r>
              <a:rPr lang="he-IL" sz="2400" b="1">
                <a:solidFill>
                  <a:srgbClr val="2868A8"/>
                </a:solidFill>
                <a:latin typeface="Segoe UI"/>
                <a:cs typeface="Segoe UI"/>
                <a:ea typeface="Segoe UI"/>
              </a:rPr>
              <a:t>בצעו אחת ובדקו</a:t>
            </a:r>
          </a:p>
        </p:txBody>
      </p:sp>
      <p:sp>
        <p:nvSpPr>
          <p:cNvPr id="28504" name="Practice instruction 1"/>
          <p:cNvSpPr txBox="1"/>
          <p:nvPr/>
        </p:nvSpPr>
        <p:spPr>
          <a:xfrm>
            <a:off x="914400" y="4123944"/>
            <a:ext cx="10287000" cy="457200"/>
          </a:xfrm>
          <a:prstGeom prst="rect">
            <a:avLst/>
          </a:prstGeom>
          <a:noFill/>
          <a:ln>
            <a:noFill/>
          </a:ln>
        </p:spPr>
        <p:txBody>
          <a:bodyPr wrap="square" lIns="0" rIns="0" tIns="0" bIns="0" anchor="ctr"/>
          <a:lstStyle/>
          <a:p>
            <a:pPr algn="r" rtl="1"/>
            <a:r>
              <a:rPr lang="he-IL" sz="2000" b="0">
                <a:solidFill>
                  <a:srgbClr val="56616B"/>
                </a:solidFill>
                <a:latin typeface="Segoe UI"/>
                <a:cs typeface="Segoe UI"/>
                <a:ea typeface="Segoe UI"/>
              </a:rPr>
              <a:t>צרפו מקור מתאים והשוו אליו את התוצאה.</a:t>
            </a:r>
          </a:p>
        </p:txBody>
      </p:sp>
      <p:sp>
        <p:nvSpPr>
          <p:cNvPr id="28506" name="Practice heading 2"/>
          <p:cNvSpPr txBox="1"/>
          <p:nvPr/>
        </p:nvSpPr>
        <p:spPr>
          <a:xfrm>
            <a:off x="914400" y="4809744"/>
            <a:ext cx="10287000" cy="411480"/>
          </a:xfrm>
          <a:prstGeom prst="rect">
            <a:avLst/>
          </a:prstGeom>
          <a:noFill/>
          <a:ln>
            <a:noFill/>
          </a:ln>
        </p:spPr>
        <p:txBody>
          <a:bodyPr wrap="square" lIns="0" rIns="0" tIns="0" bIns="0" anchor="ctr"/>
          <a:lstStyle/>
          <a:p>
            <a:pPr algn="r" rtl="1"/>
            <a:r>
              <a:rPr lang="he-IL" sz="2400" b="1">
                <a:solidFill>
                  <a:srgbClr val="2868A8"/>
                </a:solidFill>
                <a:latin typeface="Segoe UI"/>
                <a:cs typeface="Segoe UI"/>
                <a:ea typeface="Segoe UI"/>
              </a:rPr>
              <a:t>קבעו משימה למחר</a:t>
            </a:r>
          </a:p>
        </p:txBody>
      </p:sp>
      <p:sp>
        <p:nvSpPr>
          <p:cNvPr id="28507" name="Practice instruction 2"/>
          <p:cNvSpPr txBox="1"/>
          <p:nvPr/>
        </p:nvSpPr>
        <p:spPr>
          <a:xfrm>
            <a:off x="914400" y="5294376"/>
            <a:ext cx="10287000" cy="457200"/>
          </a:xfrm>
          <a:prstGeom prst="rect">
            <a:avLst/>
          </a:prstGeom>
          <a:noFill/>
          <a:ln>
            <a:noFill/>
          </a:ln>
        </p:spPr>
        <p:txBody>
          <a:bodyPr wrap="square" lIns="0" rIns="0" tIns="0" bIns="0" anchor="ctr"/>
          <a:lstStyle/>
          <a:p>
            <a:pPr algn="r" rtl="1"/>
            <a:r>
              <a:rPr lang="he-IL" sz="2000" b="0">
                <a:solidFill>
                  <a:srgbClr val="56616B"/>
                </a:solidFill>
                <a:latin typeface="Segoe UI"/>
                <a:cs typeface="Segoe UI"/>
                <a:ea typeface="Segoe UI"/>
              </a:rPr>
              <a:t>רשמו מועד ותזכורת לבדיקה בעוד שבועיים.</a:t>
            </a:r>
          </a:p>
        </p:txBody>
      </p:sp>
      <p:sp>
        <p:nvSpPr>
          <p:cNvPr id="28520" name="Practice closing"/>
          <p:cNvSpPr txBox="1"/>
          <p:nvPr/>
        </p:nvSpPr>
        <p:spPr>
          <a:xfrm>
            <a:off x="914400" y="6400800"/>
            <a:ext cx="10287000" cy="411480"/>
          </a:xfrm>
          <a:prstGeom prst="rect">
            <a:avLst/>
          </a:prstGeom>
          <a:noFill/>
          <a:ln>
            <a:noFill/>
          </a:ln>
        </p:spPr>
        <p:txBody>
          <a:bodyPr wrap="square" lIns="0" rIns="0" tIns="0" bIns="0" anchor="ctr"/>
          <a:lstStyle/>
          <a:p>
            <a:pPr algn="r" rtl="1"/>
            <a:r>
              <a:rPr lang="he-IL" sz="2000" b="1">
                <a:solidFill>
                  <a:srgbClr val="141818"/>
                </a:solidFill>
                <a:latin typeface="Segoe UI"/>
                <a:cs typeface="Segoe UI"/>
                <a:ea typeface="Segoe UI"/>
              </a:rPr>
              <a:t>יוצאים עם תוצר בדוק ועם צעד ברור להמשך</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4" name="Picture 13" descr="s11.png"/>
          <p:cNvPicPr>
            <a:picLocks noChangeAspect="1"/>
          </p:cNvPicPr>
          <p:nvPr/>
        </p:nvPicPr>
        <p:blipFill>
          <a:blip r:embed="rId5"/>
          <a:stretch>
            <a:fillRect/>
          </a:stretch>
        </p:blipFill>
        <p:spPr>
          <a:xfrm>
            <a:off x="868680" y="2029968"/>
            <a:ext cx="4480560" cy="4617720"/>
          </a:xfrm>
          <a:prstGeom prst="roundRect">
            <a:avLst>
              <a:gd name="adj" fmla="val 5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נ ס פ ח</a:t>
            </a:r>
            <a:endParaRPr lang="en-US" sz="1000" b="0">
              <a:solidFill>
                <a:srgbClr val="565C62"/>
              </a:solidFill>
              <a:latin typeface="Segoe UI"/>
            </a:endParaRPr>
          </a:p>
        </p:txBody>
      </p:sp>
      <p:pic>
        <p:nvPicPr>
          <p:cNvPr id="4" name="Picture 3" descr="logo.png"/>
          <p:cNvPicPr>
            <a:picLocks noChangeAspect="1"/>
          </p:cNvPicPr>
          <p:nvPr/>
        </p:nvPicPr>
        <p:blipFill>
          <a:blip r:embed="rId2"/>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3"/>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נספח: חומר להמשך ולמקבלי החלטות</a:t>
            </a:r>
            <a:endParaRPr lang="en-US" sz="2700" b="1">
              <a:solidFill>
                <a:srgbClr val="16181A"/>
              </a:solidFill>
              <a:latin typeface="Segoe UI"/>
            </a:endParaRPr>
          </a:p>
        </p:txBody>
      </p:sp>
      <p:sp>
        <p:nvSpPr>
          <p:cNvPr id="8" name="TextBox 7"/>
          <p:cNvSpPr txBox="1"/>
          <p:nvPr/>
        </p:nvSpPr>
        <p:spPr>
          <a:xfrm>
            <a:off x="777240" y="2267712"/>
            <a:ext cx="10637215" cy="461665"/>
          </a:xfrm>
          <a:prstGeom prst="rect">
            <a:avLst/>
          </a:prstGeom>
          <a:noFill/>
        </p:spPr>
        <p:txBody>
          <a:bodyPr wrap="square" lIns="0" tIns="0" rIns="0" bIns="0">
            <a:spAutoFit/>
          </a:bodyPr>
          <a:lstStyle/>
          <a:p>
            <a:pPr algn="r" rtl="1">
              <a:lnSpc>
                <a:spcPct val="130000"/>
              </a:lnSpc>
              <a:spcBef>
                <a:spcPts val="1000"/>
              </a:spcBef>
            </a:pPr>
            <a:endParaRPr lang="en-US" sz="1500" b="0">
              <a:solidFill>
                <a:srgbClr val="2E3338"/>
              </a:solidFill>
              <a:latin typeface="Segoe UI"/>
            </a:endParaRPr>
          </a:p>
        </p:txBody>
      </p:sp>
      <p:sp>
        <p:nvSpPr>
          <p:cNvPr id="12" name="TextBox 1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29/37</a:t>
            </a:r>
            <a:endParaRPr lang="en-US" sz="900">
              <a:solidFill>
                <a:srgbClr val="565C62"/>
              </a:solidFill>
              <a:latin typeface="Segoe UI"/>
            </a:endParaRPr>
          </a:p>
        </p:txBody>
      </p:sp>
      <p:sp>
        <p:nvSpPr>
          <p:cNvPr id="13" name="TextBox 1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pic>
        <p:nvPicPr>
          <p:cNvPr id="15" name="Picture 14" descr="image.png"/>
          <p:cNvPicPr>
            <a:picLocks noChangeAspect="1"/>
          </p:cNvPicPr>
          <p:nvPr/>
        </p:nvPicPr>
        <p:blipFill>
          <a:blip r:embed="rId6"/>
          <a:stretch>
            <a:fillRect/>
          </a:stretch>
        </p:blipFill>
        <p:spPr>
          <a:xfrm>
            <a:off x="11064240" y="2176272"/>
            <a:ext cx="292608" cy="292608"/>
          </a:xfrm>
          <a:prstGeom prst="rect">
            <a:avLst/>
          </a:prstGeom>
        </p:spPr>
      </p:pic>
      <p:sp>
        <p:nvSpPr>
          <p:cNvPr id="16" name="S29Bullet 1"/>
          <p:cNvSpPr txBox="1"/>
          <p:nvPr/>
        </p:nvSpPr>
        <p:spPr>
          <a:xfrm>
            <a:off x="5532120" y="2066543"/>
            <a:ext cx="5413247" cy="1005840"/>
          </a:xfrm>
          <a:prstGeom prst="rect">
            <a:avLst/>
          </a:prstGeom>
          <a:noFill/>
        </p:spPr>
        <p:txBody>
          <a:bodyPr wrap="square">
            <a:spAutoFit/>
          </a:bodyPr>
          <a:lstStyle/>
          <a:p>
            <a:pPr algn="r" rtl="1"/>
            <a:r>
              <a:rPr sz="1500">
                <a:solidFill>
                  <a:srgbClr val="707878"/>
                </a:solidFill>
                <a:latin typeface="Segoe UI"/>
                <a:cs typeface="Segoe UI"/>
                <a:ea typeface="Segoe UI"/>
              </a:rPr>
              <a:t>השקפים הבאים אינם חלק מההדרכה הבסיסית לעובדים.</a:t>
            </a:r>
          </a:p>
        </p:txBody>
      </p:sp>
      <p:pic>
        <p:nvPicPr>
          <p:cNvPr id="17" name="Picture 16" descr="image.png"/>
          <p:cNvPicPr>
            <a:picLocks noChangeAspect="1"/>
          </p:cNvPicPr>
          <p:nvPr/>
        </p:nvPicPr>
        <p:blipFill>
          <a:blip r:embed="rId7"/>
          <a:stretch>
            <a:fillRect/>
          </a:stretch>
        </p:blipFill>
        <p:spPr>
          <a:xfrm>
            <a:off x="11064240" y="3182112"/>
            <a:ext cx="292608" cy="292608"/>
          </a:xfrm>
          <a:prstGeom prst="rect">
            <a:avLst/>
          </a:prstGeom>
        </p:spPr>
      </p:pic>
      <p:sp>
        <p:nvSpPr>
          <p:cNvPr id="18" name="S29Bullet 2"/>
          <p:cNvSpPr txBox="1"/>
          <p:nvPr/>
        </p:nvSpPr>
        <p:spPr>
          <a:xfrm>
            <a:off x="5532120" y="3072384"/>
            <a:ext cx="5413247" cy="1005840"/>
          </a:xfrm>
          <a:prstGeom prst="rect">
            <a:avLst/>
          </a:prstGeom>
          <a:noFill/>
        </p:spPr>
        <p:txBody>
          <a:bodyPr wrap="square">
            <a:spAutoFit/>
          </a:bodyPr>
          <a:lstStyle/>
          <a:p>
            <a:pPr algn="r" rtl="1"/>
            <a:r>
              <a:rPr sz="1500">
                <a:solidFill>
                  <a:srgbClr val="707878"/>
                </a:solidFill>
                <a:latin typeface="Segoe UI"/>
                <a:cs typeface="Segoe UI"/>
                <a:ea typeface="Segoe UI"/>
              </a:rPr>
              <a:t>הם עוסקים ביכולות מתקדמות, בסוכנים ובתהליך ההטמעה הארגוני.</a:t>
            </a:r>
          </a:p>
        </p:txBody>
      </p:sp>
      <p:pic>
        <p:nvPicPr>
          <p:cNvPr id="19" name="Picture 18" descr="image.png"/>
          <p:cNvPicPr>
            <a:picLocks noChangeAspect="1"/>
          </p:cNvPicPr>
          <p:nvPr/>
        </p:nvPicPr>
        <p:blipFill>
          <a:blip r:embed="rId8"/>
          <a:stretch>
            <a:fillRect/>
          </a:stretch>
        </p:blipFill>
        <p:spPr>
          <a:xfrm>
            <a:off x="11064240" y="4187952"/>
            <a:ext cx="292608" cy="292608"/>
          </a:xfrm>
          <a:prstGeom prst="rect">
            <a:avLst/>
          </a:prstGeom>
        </p:spPr>
      </p:pic>
      <p:sp>
        <p:nvSpPr>
          <p:cNvPr id="20" name="S29Bullet 3"/>
          <p:cNvSpPr txBox="1"/>
          <p:nvPr/>
        </p:nvSpPr>
        <p:spPr>
          <a:xfrm>
            <a:off x="5532120" y="4078224"/>
            <a:ext cx="5413247" cy="1005840"/>
          </a:xfrm>
          <a:prstGeom prst="rect">
            <a:avLst/>
          </a:prstGeom>
          <a:noFill/>
        </p:spPr>
        <p:txBody>
          <a:bodyPr wrap="square">
            <a:spAutoFit/>
          </a:bodyPr>
          <a:lstStyle/>
          <a:p>
            <a:pPr algn="r" rtl="1"/>
            <a:r>
              <a:rPr sz="1500">
                <a:solidFill>
                  <a:srgbClr val="707878"/>
                </a:solidFill>
                <a:latin typeface="Segoe UI"/>
                <a:cs typeface="Segoe UI"/>
                <a:ea typeface="Segoe UI"/>
              </a:rPr>
              <a:t>הם מיועדים לשיחה נפרדת עם מקבלי החלטות בארגון.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ש כ ב ה   2</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חבילת Copilot קונה בפועל</a:t>
            </a:r>
            <a:endParaRPr lang="en-US" sz="2700" b="1">
              <a:solidFill>
                <a:srgbClr val="16181A"/>
              </a:solidFill>
              <a:latin typeface="Segoe UI"/>
            </a:endParaRPr>
          </a:p>
        </p:txBody>
      </p:sp>
      <p:sp>
        <p:nvSpPr>
          <p:cNvPr id="8" name="TextBox 7"/>
          <p:cNvSpPr txBox="1"/>
          <p:nvPr/>
        </p:nvSpPr>
        <p:spPr>
          <a:xfrm>
            <a:off x="9128455" y="2267712"/>
            <a:ext cx="2286000" cy="553998"/>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sz="1500" b="1">
                <a:solidFill>
                  <a:srgbClr val="16181A"/>
                </a:solidFill>
                <a:latin typeface="Segoe UI"/>
              </a:rPr>
              <a:t>רישוי פרימיום</a:t>
            </a:r>
            <a:endParaRPr lang="en-US" sz="1500" b="1">
              <a:solidFill>
                <a:srgbClr val="16181A"/>
              </a:solidFill>
              <a:latin typeface="Segoe UI"/>
            </a:endParaRPr>
          </a:p>
          <a:p>
            <a:pPr algn="r" rtl="1"/>
            <a:r>
              <a:rPr lang="he-IL" sz="1000" b="0">
                <a:solidFill>
                  <a:srgbClr val="85A6CB"/>
                </a:solidFill>
                <a:latin typeface="Segoe UI"/>
              </a:rPr>
              <a:t>מושב בלבד</a:t>
            </a:r>
            <a:endParaRPr lang="en-US" sz="1000" b="0">
              <a:solidFill>
                <a:srgbClr val="85A6CB"/>
              </a:solidFill>
              <a:latin typeface="Segoe UI"/>
            </a:endParaRPr>
          </a:p>
        </p:txBody>
      </p:sp>
      <p:sp>
        <p:nvSpPr>
          <p:cNvPr id="9" name="TextBox 8"/>
          <p:cNvSpPr txBox="1"/>
          <p:nvPr/>
        </p:nvSpPr>
        <p:spPr>
          <a:xfrm>
            <a:off x="777240" y="2304288"/>
            <a:ext cx="8031175" cy="430887"/>
          </a:xfrm>
          <a:prstGeom prst="rect">
            <a:avLst/>
          </a:prstGeom>
          <a:noFill/>
        </p:spPr>
        <p:txBody>
          <a:bodyPr wrap="square" lIns="0" tIns="0" rIns="0" bIns="0">
            <a:spAutoFit/>
          </a:bodyPr>
          <a:lstStyle/>
          <a:p>
            <a:pPr algn="r" rtl="1"/>
            <a:r>
              <a:rPr lang="he-IL" sz="1400" b="0">
                <a:solidFill>
                  <a:srgbClr val="2E3338"/>
                </a:solidFill>
                <a:latin typeface="Segoe UI"/>
              </a:rPr>
              <a:t>שכבת ההבנה הארגונית: מי עובד עם מי, על מה, ואיך הדברים מתקשרים. מסופקת דרך Workplace Analytics Insights.</a:t>
            </a:r>
            <a:endParaRPr lang="en-US" sz="1400" b="0">
              <a:solidFill>
                <a:srgbClr val="2E3338"/>
              </a:solidFill>
              <a:latin typeface="Segoe UI"/>
            </a:endParaRPr>
          </a:p>
        </p:txBody>
      </p:sp>
      <p:sp>
        <p:nvSpPr>
          <p:cNvPr id="10" name="Rectangle 9"/>
          <p:cNvSpPr/>
          <p:nvPr/>
        </p:nvSpPr>
        <p:spPr>
          <a:xfrm>
            <a:off x="777240" y="304495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313639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בלי תקרה</a:t>
            </a:r>
            <a:endParaRPr lang="en-US" sz="1500" b="1">
              <a:solidFill>
                <a:srgbClr val="16181A"/>
              </a:solidFill>
              <a:latin typeface="Segoe UI"/>
            </a:endParaRPr>
          </a:p>
        </p:txBody>
      </p:sp>
      <p:sp>
        <p:nvSpPr>
          <p:cNvPr id="12" name="TextBox 11"/>
          <p:cNvSpPr txBox="1"/>
          <p:nvPr/>
        </p:nvSpPr>
        <p:spPr>
          <a:xfrm>
            <a:off x="777240" y="317296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גישת עדיפות. נגמרו ההימורים על המכסה היומית.</a:t>
            </a:r>
            <a:endParaRPr lang="en-US" sz="1400" b="0">
              <a:solidFill>
                <a:srgbClr val="2E3338"/>
              </a:solidFill>
              <a:latin typeface="Segoe UI"/>
            </a:endParaRPr>
          </a:p>
        </p:txBody>
      </p:sp>
      <p:sp>
        <p:nvSpPr>
          <p:cNvPr id="13" name="Rectangle 12"/>
          <p:cNvSpPr/>
          <p:nvPr/>
        </p:nvSpPr>
        <p:spPr>
          <a:xfrm>
            <a:off x="777240" y="391363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400507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טימס</a:t>
            </a:r>
            <a:endParaRPr lang="en-US" sz="1500" b="1">
              <a:solidFill>
                <a:srgbClr val="16181A"/>
              </a:solidFill>
              <a:latin typeface="Segoe UI"/>
            </a:endParaRPr>
          </a:p>
        </p:txBody>
      </p:sp>
      <p:sp>
        <p:nvSpPr>
          <p:cNvPr id="15" name="TextBox 14"/>
          <p:cNvSpPr txBox="1"/>
          <p:nvPr/>
        </p:nvSpPr>
        <p:spPr>
          <a:xfrm>
            <a:off x="777240" y="404164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סיכומי פגישות ושיחות צ'אט — היכולת המבוקשת ביותר בארגונים.</a:t>
            </a:r>
            <a:endParaRPr lang="en-US" sz="1400" b="0">
              <a:solidFill>
                <a:srgbClr val="2E3338"/>
              </a:solidFill>
              <a:latin typeface="Segoe UI"/>
            </a:endParaRPr>
          </a:p>
        </p:txBody>
      </p:sp>
      <p:sp>
        <p:nvSpPr>
          <p:cNvPr id="16" name="Rectangle 15"/>
          <p:cNvSpPr/>
          <p:nvPr/>
        </p:nvSpPr>
        <p:spPr>
          <a:xfrm>
            <a:off x="777240" y="478231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87375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סוכנים ומחברות</a:t>
            </a:r>
            <a:endParaRPr lang="en-US" sz="1500" b="1">
              <a:solidFill>
                <a:srgbClr val="16181A"/>
              </a:solidFill>
              <a:latin typeface="Segoe UI"/>
            </a:endParaRPr>
          </a:p>
        </p:txBody>
      </p:sp>
      <p:sp>
        <p:nvSpPr>
          <p:cNvPr id="18" name="TextBox 17"/>
          <p:cNvSpPr txBox="1"/>
          <p:nvPr/>
        </p:nvSpPr>
        <p:spPr>
          <a:xfrm>
            <a:off x="777240" y="491032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חוקר ואנליסט (25 שאילתות בחודש), Notebooks, התאמה אישית באקסל, ואפליקציות הדסקטופ.</a:t>
            </a:r>
            <a:endParaRPr lang="en-US" sz="1400" b="0">
              <a:solidFill>
                <a:srgbClr val="2E3338"/>
              </a:solidFill>
              <a:latin typeface="Segoe UI"/>
            </a:endParaRPr>
          </a:p>
        </p:txBody>
      </p:sp>
      <p:sp>
        <p:nvSpPr>
          <p:cNvPr id="19" name="Rectangle 18"/>
          <p:cNvSpPr/>
          <p:nvPr/>
        </p:nvSpPr>
        <p:spPr>
          <a:xfrm>
            <a:off x="777240" y="5943600"/>
            <a:ext cx="10637215" cy="585216"/>
          </a:xfrm>
          <a:prstGeom prst="rect">
            <a:avLst/>
          </a:prstGeom>
          <a:solidFill>
            <a:srgbClr val="F5F9FD"/>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Rectangle 19"/>
          <p:cNvSpPr/>
          <p:nvPr/>
        </p:nvSpPr>
        <p:spPr>
          <a:xfrm>
            <a:off x="11376355" y="5943600"/>
            <a:ext cx="38100" cy="585216"/>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1" name="TextBox 20"/>
          <p:cNvSpPr txBox="1"/>
          <p:nvPr/>
        </p:nvSpPr>
        <p:spPr>
          <a:xfrm>
            <a:off x="960120" y="6089904"/>
            <a:ext cx="10134295" cy="200055"/>
          </a:xfrm>
          <a:prstGeom prst="rect">
            <a:avLst/>
          </a:prstGeom>
          <a:noFill/>
        </p:spPr>
        <p:txBody>
          <a:bodyPr wrap="square" lIns="0" tIns="0" rIns="0" bIns="0">
            <a:spAutoFit/>
          </a:bodyPr>
          <a:lstStyle/>
          <a:p>
            <a:pPr algn="r" rtl="1"/>
            <a:r>
              <a:rPr lang="he-IL" sz="1300" b="0">
                <a:solidFill>
                  <a:srgbClr val="22537D"/>
                </a:solidFill>
                <a:latin typeface="Segoe UI"/>
              </a:rPr>
              <a:t>הדגמה חיה: אותו משתמש, לפני ואחרי הקצאת מושב — התווית משתנה, רישוי פרימיום והסוכנים מופיעים</a:t>
            </a:r>
            <a:endParaRPr lang="en-US" sz="1300" b="0">
              <a:solidFill>
                <a:srgbClr val="22537D"/>
              </a:solidFill>
              <a:latin typeface="Segoe UI"/>
            </a:endParaRPr>
          </a:p>
        </p:txBody>
      </p:sp>
      <p:sp>
        <p:nvSpPr>
          <p:cNvPr id="22" name="TextBox 2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30/37</a:t>
            </a:r>
            <a:endParaRPr lang="en-US" sz="900">
              <a:solidFill>
                <a:srgbClr val="565C62"/>
              </a:solidFill>
              <a:latin typeface="Segoe UI"/>
            </a:endParaRPr>
          </a:p>
        </p:txBody>
      </p:sp>
      <p:sp>
        <p:nvSpPr>
          <p:cNvPr id="23" name="TextBox 2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ק י י ס   08</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9887407" cy="415498"/>
          </a:xfrm>
          <a:prstGeom prst="rect">
            <a:avLst/>
          </a:prstGeom>
          <a:noFill/>
        </p:spPr>
        <p:txBody>
          <a:bodyPr wrap="square" lIns="0" tIns="0" rIns="0" bIns="0">
            <a:spAutoFit/>
          </a:bodyPr>
          <a:lstStyle/>
          <a:p>
            <a:pPr algn="r" rtl="1"/>
            <a:r>
              <a:rPr lang="he-IL" sz="2700" b="1">
                <a:solidFill>
                  <a:srgbClr val="16181A"/>
                </a:solidFill>
                <a:latin typeface="Segoe UI"/>
              </a:rPr>
              <a:t>Word — ומה שיש בו ואין באקסל</a:t>
            </a:r>
            <a:endParaRPr lang="en-US" sz="2700" b="1">
              <a:solidFill>
                <a:srgbClr val="16181A"/>
              </a:solidFill>
              <a:latin typeface="Segoe UI"/>
            </a:endParaRPr>
          </a:p>
        </p:txBody>
      </p:sp>
      <p:sp>
        <p:nvSpPr>
          <p:cNvPr id="8" name="TextBox 7"/>
          <p:cNvSpPr txBox="1"/>
          <p:nvPr/>
        </p:nvSpPr>
        <p:spPr>
          <a:xfrm>
            <a:off x="9128455" y="2267712"/>
            <a:ext cx="2286000" cy="553998"/>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lang="he-IL" sz="1500" b="1">
                <a:solidFill>
                  <a:srgbClr val="16181A"/>
                </a:solidFill>
                <a:latin typeface="Segoe UI"/>
              </a:rPr>
              <a:t>בורר מודל</a:t>
            </a:r>
            <a:endParaRPr lang="en-US" sz="1500" b="1">
              <a:solidFill>
                <a:srgbClr val="16181A"/>
              </a:solidFill>
              <a:latin typeface="Segoe UI"/>
            </a:endParaRPr>
          </a:p>
          <a:p>
            <a:pPr algn="r" rtl="1"/>
            <a:r>
              <a:rPr lang="he-IL" sz="1000" b="0">
                <a:solidFill>
                  <a:srgbClr val="85A6CB"/>
                </a:solidFill>
                <a:latin typeface="Segoe UI"/>
              </a:rPr>
              <a:t>אין באקסל</a:t>
            </a:r>
            <a:endParaRPr lang="en-US" sz="1000" b="0">
              <a:solidFill>
                <a:srgbClr val="85A6CB"/>
              </a:solidFill>
              <a:latin typeface="Segoe UI"/>
            </a:endParaRPr>
          </a:p>
        </p:txBody>
      </p:sp>
      <p:sp>
        <p:nvSpPr>
          <p:cNvPr id="9" name="TextBox 8"/>
          <p:cNvSpPr txBox="1"/>
          <p:nvPr/>
        </p:nvSpPr>
        <p:spPr>
          <a:xfrm>
            <a:off x="777240" y="230428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בתוך Copilot של Word: תפריט מודל — Auto (ברירת מחדל) · Claude · GPT.</a:t>
            </a:r>
            <a:endParaRPr lang="en-US" sz="1400" b="0">
              <a:solidFill>
                <a:srgbClr val="2E3338"/>
              </a:solidFill>
              <a:latin typeface="Segoe UI"/>
            </a:endParaRPr>
          </a:p>
        </p:txBody>
      </p:sp>
      <p:sp>
        <p:nvSpPr>
          <p:cNvPr id="10" name="Rectangle 9"/>
          <p:cNvSpPr/>
          <p:nvPr/>
        </p:nvSpPr>
        <p:spPr>
          <a:xfrm>
            <a:off x="777240" y="304495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313639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גשר לצ'אט הארגוני</a:t>
            </a:r>
            <a:endParaRPr lang="en-US" sz="1500" b="1">
              <a:solidFill>
                <a:srgbClr val="16181A"/>
              </a:solidFill>
              <a:latin typeface="Segoe UI"/>
            </a:endParaRPr>
          </a:p>
        </p:txBody>
      </p:sp>
      <p:sp>
        <p:nvSpPr>
          <p:cNvPr id="12" name="TextBox 11"/>
          <p:cNvSpPr txBox="1"/>
          <p:nvPr/>
        </p:nvSpPr>
        <p:spPr>
          <a:xfrm>
            <a:off x="777240" y="317296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"פתח באפליקציית M365 Copilot" מעביר את הקשר המסמך אל הצ'אט המלא.</a:t>
            </a:r>
            <a:endParaRPr lang="en-US" sz="1400" b="0">
              <a:solidFill>
                <a:srgbClr val="2E3338"/>
              </a:solidFill>
              <a:latin typeface="Segoe UI"/>
            </a:endParaRPr>
          </a:p>
        </p:txBody>
      </p:sp>
      <p:sp>
        <p:nvSpPr>
          <p:cNvPr id="13" name="Rectangle 12"/>
          <p:cNvSpPr/>
          <p:nvPr/>
        </p:nvSpPr>
        <p:spPr>
          <a:xfrm>
            <a:off x="777240" y="391363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400507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סיכום דפים אחרונים</a:t>
            </a:r>
            <a:endParaRPr lang="en-US" sz="1500" b="1">
              <a:solidFill>
                <a:srgbClr val="16181A"/>
              </a:solidFill>
              <a:latin typeface="Segoe UI"/>
            </a:endParaRPr>
          </a:p>
        </p:txBody>
      </p:sp>
      <p:sp>
        <p:nvSpPr>
          <p:cNvPr id="15" name="TextBox 14"/>
          <p:cNvSpPr txBox="1"/>
          <p:nvPr/>
        </p:nvSpPr>
        <p:spPr>
          <a:xfrm>
            <a:off x="777240" y="404164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סיכום חוצה-מסמכים מתוך Word עצמו.</a:t>
            </a:r>
            <a:endParaRPr lang="en-US" sz="1400" b="0">
              <a:solidFill>
                <a:srgbClr val="2E3338"/>
              </a:solidFill>
              <a:latin typeface="Segoe UI"/>
            </a:endParaRPr>
          </a:p>
        </p:txBody>
      </p:sp>
      <p:sp>
        <p:nvSpPr>
          <p:cNvPr id="16" name="Rectangle 15"/>
          <p:cNvSpPr/>
          <p:nvPr/>
        </p:nvSpPr>
        <p:spPr>
          <a:xfrm>
            <a:off x="777240" y="478231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87375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צ'אט זמני</a:t>
            </a:r>
            <a:endParaRPr lang="en-US" sz="1500" b="1">
              <a:solidFill>
                <a:srgbClr val="16181A"/>
              </a:solidFill>
              <a:latin typeface="Segoe UI"/>
            </a:endParaRPr>
          </a:p>
        </p:txBody>
      </p:sp>
      <p:sp>
        <p:nvSpPr>
          <p:cNvPr id="18" name="TextBox 17"/>
          <p:cNvSpPr txBox="1"/>
          <p:nvPr/>
        </p:nvSpPr>
        <p:spPr>
          <a:xfrm>
            <a:off x="777240" y="491032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שיחה שאינה נשמרת — הפתרון לתוכן רגיש.</a:t>
            </a:r>
            <a:endParaRPr lang="en-US" sz="1400" b="0">
              <a:solidFill>
                <a:srgbClr val="2E3338"/>
              </a:solidFill>
              <a:latin typeface="Segoe UI"/>
            </a:endParaRPr>
          </a:p>
        </p:txBody>
      </p:sp>
      <p:sp>
        <p:nvSpPr>
          <p:cNvPr id="19" name="Rectangle 18"/>
          <p:cNvSpPr/>
          <p:nvPr/>
        </p:nvSpPr>
        <p:spPr>
          <a:xfrm>
            <a:off x="11376355" y="5943600"/>
            <a:ext cx="38100" cy="585216"/>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TextBox 19"/>
          <p:cNvSpPr txBox="1"/>
          <p:nvPr/>
        </p:nvSpPr>
        <p:spPr>
          <a:xfrm>
            <a:off x="960120" y="6089904"/>
            <a:ext cx="10134295" cy="369332"/>
          </a:xfrm>
          <a:prstGeom prst="rect">
            <a:avLst/>
          </a:prstGeom>
          <a:noFill/>
        </p:spPr>
        <p:txBody>
          <a:bodyPr wrap="square" lIns="0" tIns="0" rIns="0" bIns="0">
            <a:spAutoFit/>
          </a:bodyPr>
          <a:lstStyle/>
          <a:p>
            <a:pPr algn="r" rtl="1"/>
            <a:r>
              <a:rPr lang="he-IL" sz="1200" b="0">
                <a:solidFill>
                  <a:srgbClr val="565C62"/>
                </a:solidFill>
                <a:latin typeface="Segoe UI"/>
              </a:rPr>
              <a:t>אייקוני הגלובוס והמזוודה אינם באג: זהו בורר טווח העיגון — רשת מול תוכן ארגוני. הם מוצגים רק בפתיחת צ'אט חדש ונעלמים ברגע שההקשר ננעל. בוחרים טווח </a:t>
            </a:r>
            <a:r>
              <a:rPr lang="he-IL" sz="1200" b="1">
                <a:solidFill>
                  <a:srgbClr val="565C62"/>
                </a:solidFill>
                <a:latin typeface="Segoe UI"/>
              </a:rPr>
              <a:t>לפני</a:t>
            </a:r>
            <a:r>
              <a:rPr lang="he-IL" sz="1200" b="0">
                <a:solidFill>
                  <a:srgbClr val="565C62"/>
                </a:solidFill>
                <a:latin typeface="Segoe UI"/>
              </a:rPr>
              <a:t> הפרומפט הראשון.</a:t>
            </a:r>
            <a:endParaRPr lang="en-US" sz="1200" b="0">
              <a:solidFill>
                <a:srgbClr val="565C62"/>
              </a:solidFill>
              <a:latin typeface="Segoe UI"/>
            </a:endParaRPr>
          </a:p>
        </p:txBody>
      </p:sp>
      <p:sp>
        <p:nvSpPr>
          <p:cNvPr id="21" name="TextBox 20"/>
          <p:cNvSpPr txBox="1"/>
          <p:nvPr/>
        </p:nvSpPr>
        <p:spPr>
          <a:xfrm>
            <a:off x="777240" y="6675120"/>
            <a:ext cx="10637215" cy="215444"/>
          </a:xfrm>
          <a:prstGeom prst="rect">
            <a:avLst/>
          </a:prstGeom>
          <a:noFill/>
        </p:spPr>
        <p:txBody>
          <a:bodyPr wrap="square" lIns="0" tIns="0" rIns="0" bIns="0">
            <a:spAutoFit/>
          </a:bodyPr>
          <a:lstStyle/>
          <a:p>
            <a:pPr algn="r" rtl="1"/>
            <a:r>
              <a:rPr lang="he-IL" sz="1400" b="0">
                <a:solidFill>
                  <a:srgbClr val="2E3338"/>
                </a:solidFill>
                <a:latin typeface="Segoe UI"/>
              </a:rPr>
              <a:t>סיכום פרוטוקול הפך לכלי ניהולי: לא קיצור טקסט, אלא החלטות וסיכונים למעקב. הממצא החד — שלוש החלטות תלויות שאיש לא הוקצה להן תאריך.</a:t>
            </a:r>
            <a:endParaRPr lang="en-US" sz="1400" b="0">
              <a:solidFill>
                <a:srgbClr val="2E3338"/>
              </a:solidFill>
              <a:latin typeface="Segoe UI"/>
            </a:endParaRPr>
          </a:p>
        </p:txBody>
      </p:sp>
      <p:sp>
        <p:nvSpPr>
          <p:cNvPr id="22" name="TextBox 2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31/37</a:t>
            </a:r>
            <a:endParaRPr lang="en-US" sz="900">
              <a:solidFill>
                <a:srgbClr val="565C62"/>
              </a:solidFill>
              <a:latin typeface="Segoe UI"/>
            </a:endParaRPr>
          </a:p>
        </p:txBody>
      </p:sp>
      <p:sp>
        <p:nvSpPr>
          <p:cNvPr id="23" name="TextBox 2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
        <p:nvSpPr>
          <p:cNvPr id="24" name="Rounded Rectangle 23"/>
          <p:cNvSpPr/>
          <p:nvPr/>
        </p:nvSpPr>
        <p:spPr>
          <a:xfrm>
            <a:off x="10847527" y="1389888"/>
            <a:ext cx="566928" cy="566928"/>
          </a:xfrm>
          <a:prstGeom prst="roundRect">
            <a:avLst>
              <a:gd name="adj" fmla="val 18000"/>
            </a:avLst>
          </a:prstGeom>
          <a:solidFill>
            <a:srgbClr val="2B579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Segoe UI"/>
              </a:rPr>
              <a:t>W</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ק י י ס   05</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מנתון להחלטה — הקייס המרכזי</a:t>
            </a:r>
            <a:endParaRPr lang="en-US" sz="2700" b="1">
              <a:solidFill>
                <a:srgbClr val="16181A"/>
              </a:solidFill>
              <a:latin typeface="Segoe UI"/>
            </a:endParaRPr>
          </a:p>
        </p:txBody>
      </p:sp>
      <p:sp>
        <p:nvSpPr>
          <p:cNvPr id="8" name="Rectangle 7"/>
          <p:cNvSpPr/>
          <p:nvPr/>
        </p:nvSpPr>
        <p:spPr>
          <a:xfrm>
            <a:off x="6223864" y="2267712"/>
            <a:ext cx="5190591"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9" name="Rectangle 8"/>
          <p:cNvSpPr/>
          <p:nvPr/>
        </p:nvSpPr>
        <p:spPr>
          <a:xfrm>
            <a:off x="6223864" y="2267712"/>
            <a:ext cx="5190591" cy="31750"/>
          </a:xfrm>
          <a:prstGeom prst="rect">
            <a:avLst/>
          </a:prstGeom>
          <a:solidFill>
            <a:srgbClr val="2253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TextBox 9"/>
          <p:cNvSpPr txBox="1"/>
          <p:nvPr/>
        </p:nvSpPr>
        <p:spPr>
          <a:xfrm>
            <a:off x="6425032" y="2523744"/>
            <a:ext cx="4788255" cy="746358"/>
          </a:xfrm>
          <a:prstGeom prst="rect">
            <a:avLst/>
          </a:prstGeom>
          <a:noFill/>
        </p:spPr>
        <p:txBody>
          <a:bodyPr wrap="square" lIns="0" tIns="0" rIns="0" bIns="0">
            <a:spAutoFit/>
          </a:bodyPr>
          <a:lstStyle/>
          <a:p>
            <a:pPr algn="r" rtl="1"/>
            <a:r>
              <a:rPr lang="he-IL" sz="1400" b="1">
                <a:solidFill>
                  <a:srgbClr val="16181A"/>
                </a:solidFill>
                <a:latin typeface="Segoe UI"/>
              </a:rPr>
              <a:t>התשובה</a:t>
            </a:r>
            <a:endParaRPr lang="en-US" sz="1400" b="1">
              <a:solidFill>
                <a:srgbClr val="16181A"/>
              </a:solidFill>
              <a:latin typeface="Segoe UI"/>
            </a:endParaRPr>
          </a:p>
          <a:p>
            <a:pPr algn="r" rtl="1"/>
            <a:r>
              <a:rPr lang="he-IL" sz="1150" b="1">
                <a:solidFill>
                  <a:srgbClr val="2E3338"/>
                </a:solidFill>
                <a:latin typeface="Segoe UI"/>
              </a:rPr>
              <a:t>אבי כהן — 210 שעות מול תקציב 180.</a:t>
            </a:r>
            <a:r>
              <a:rPr lang="he-IL" sz="1150" b="0">
                <a:solidFill>
                  <a:srgbClr val="2E3338"/>
                </a:solidFill>
                <a:latin typeface="Segoe UI"/>
              </a:rPr>
              <a:t> חריגה של 30 שעות, 16.7%, בשלושה פרויקטים: דוחות רגולציה 80, פיילוט Document Understanding 70, אינטגרציית SAP 60.</a:t>
            </a:r>
            <a:endParaRPr lang="en-US" sz="1150" b="0">
              <a:solidFill>
                <a:srgbClr val="2E3338"/>
              </a:solidFill>
              <a:latin typeface="Segoe UI"/>
            </a:endParaRPr>
          </a:p>
        </p:txBody>
      </p:sp>
      <p:sp>
        <p:nvSpPr>
          <p:cNvPr id="11" name="Rectangle 10"/>
          <p:cNvSpPr/>
          <p:nvPr/>
        </p:nvSpPr>
        <p:spPr>
          <a:xfrm>
            <a:off x="777241" y="2267712"/>
            <a:ext cx="5190591"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2" name="Rectangle 11"/>
          <p:cNvSpPr/>
          <p:nvPr/>
        </p:nvSpPr>
        <p:spPr>
          <a:xfrm>
            <a:off x="777241" y="2267712"/>
            <a:ext cx="5190591" cy="31750"/>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3" name="TextBox 12"/>
          <p:cNvSpPr txBox="1"/>
          <p:nvPr/>
        </p:nvSpPr>
        <p:spPr>
          <a:xfrm>
            <a:off x="978409" y="2523744"/>
            <a:ext cx="4788255" cy="569387"/>
          </a:xfrm>
          <a:prstGeom prst="rect">
            <a:avLst/>
          </a:prstGeom>
          <a:noFill/>
        </p:spPr>
        <p:txBody>
          <a:bodyPr wrap="square" lIns="0" tIns="0" rIns="0" bIns="0">
            <a:spAutoFit/>
          </a:bodyPr>
          <a:lstStyle/>
          <a:p>
            <a:pPr algn="r" rtl="1"/>
            <a:r>
              <a:rPr lang="he-IL" sz="1400" b="1">
                <a:solidFill>
                  <a:srgbClr val="16181A"/>
                </a:solidFill>
                <a:latin typeface="Segoe UI"/>
              </a:rPr>
              <a:t>ואז — מצב תוכנית</a:t>
            </a:r>
            <a:endParaRPr lang="en-US" sz="1400" b="1">
              <a:solidFill>
                <a:srgbClr val="16181A"/>
              </a:solidFill>
              <a:latin typeface="Segoe UI"/>
            </a:endParaRPr>
          </a:p>
          <a:p>
            <a:pPr algn="r" rtl="1"/>
            <a:r>
              <a:rPr lang="he-IL" sz="1150" b="0">
                <a:solidFill>
                  <a:srgbClr val="2E3338"/>
                </a:solidFill>
                <a:latin typeface="Segoe UI"/>
              </a:rPr>
              <a:t>Copilot שאל שאלות מנחות ובנה גיליון נפרד: תמונת מצב, אג'נדה, חשיפת סיכון, מדדי ביצוע, בעלי אחריות ומועדי בקרה — 31.08 ו-28.09.</a:t>
            </a:r>
            <a:endParaRPr lang="en-US" sz="1150" b="0">
              <a:solidFill>
                <a:srgbClr val="2E3338"/>
              </a:solidFill>
              <a:latin typeface="Segoe UI"/>
            </a:endParaRPr>
          </a:p>
        </p:txBody>
      </p:sp>
      <p:sp>
        <p:nvSpPr>
          <p:cNvPr id="14" name="Rectangle 13"/>
          <p:cNvSpPr/>
          <p:nvPr/>
        </p:nvSpPr>
        <p:spPr>
          <a:xfrm>
            <a:off x="777240" y="4873752"/>
            <a:ext cx="10637215" cy="7315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5" name="Rectangle 14"/>
          <p:cNvSpPr/>
          <p:nvPr/>
        </p:nvSpPr>
        <p:spPr>
          <a:xfrm>
            <a:off x="11376355" y="4873752"/>
            <a:ext cx="38100" cy="73152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6" name="TextBox 15"/>
          <p:cNvSpPr txBox="1"/>
          <p:nvPr/>
        </p:nvSpPr>
        <p:spPr>
          <a:xfrm>
            <a:off x="960120" y="5020056"/>
            <a:ext cx="10134295" cy="276999"/>
          </a:xfrm>
          <a:prstGeom prst="rect">
            <a:avLst/>
          </a:prstGeom>
          <a:noFill/>
        </p:spPr>
        <p:txBody>
          <a:bodyPr wrap="square" lIns="0" tIns="0" rIns="0" bIns="0">
            <a:spAutoFit/>
          </a:bodyPr>
          <a:lstStyle/>
          <a:p>
            <a:pPr algn="r" rtl="1"/>
            <a:r>
              <a:rPr lang="he-IL" sz="1800" b="1">
                <a:solidFill>
                  <a:srgbClr val="16181A"/>
                </a:solidFill>
                <a:latin typeface="Segoe UI"/>
              </a:rPr>
              <a:t>נתונים ← סיכון ← הבהרה ← תוכנית ← אחריות ומעקב</a:t>
            </a:r>
            <a:endParaRPr lang="en-US" sz="1800" b="1">
              <a:solidFill>
                <a:srgbClr val="16181A"/>
              </a:solidFill>
              <a:latin typeface="Segoe UI"/>
            </a:endParaRPr>
          </a:p>
        </p:txBody>
      </p:sp>
      <p:sp>
        <p:nvSpPr>
          <p:cNvPr id="17" name="TextBox 16"/>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32/37</a:t>
            </a:r>
            <a:endParaRPr lang="en-US" sz="900">
              <a:solidFill>
                <a:srgbClr val="565C62"/>
              </a:solidFill>
              <a:latin typeface="Segoe UI"/>
            </a:endParaRPr>
          </a:p>
        </p:txBody>
      </p:sp>
      <p:sp>
        <p:nvSpPr>
          <p:cNvPr id="18" name="TextBox 17"/>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ק י י ס י ם   06–07</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אותה שאלה, שלוש תוצאות</a:t>
            </a:r>
            <a:endParaRPr lang="en-US" sz="2700" b="1">
              <a:solidFill>
                <a:srgbClr val="16181A"/>
              </a:solidFill>
              <a:latin typeface="Segoe UI"/>
            </a:endParaRPr>
          </a:p>
        </p:txBody>
      </p:sp>
      <p:graphicFrame>
        <p:nvGraphicFramePr>
          <p:cNvPr id="8" name="Table 7"/>
          <p:cNvGraphicFramePr>
            <a:graphicFrameLocks noGrp="1"/>
          </p:cNvGraphicFramePr>
          <p:nvPr/>
        </p:nvGraphicFramePr>
        <p:xfrm>
          <a:off x="777240" y="2267712"/>
          <a:ext cx="10637213" cy="1874520"/>
        </p:xfrm>
        <a:graphic>
          <a:graphicData uri="http://schemas.openxmlformats.org/drawingml/2006/table">
            <a:tbl>
              <a:tblPr firstRow="1" bandRow="1">
                <a:tableStyleId>{5C22544A-7EE6-4342-B048-85BDC9FD1C3A}</a:tableStyleId>
              </a:tblPr>
              <a:tblGrid>
                <a:gridCol w="2552931">
                  <a:extLst>
                    <a:ext uri="{9D8B030D-6E8A-4147-A177-3AD203B41FA5}">
                      <a16:colId xmlns:a16="http://schemas.microsoft.com/office/drawing/2014/main" val="20000"/>
                    </a:ext>
                  </a:extLst>
                </a:gridCol>
                <a:gridCol w="5318607">
                  <a:extLst>
                    <a:ext uri="{9D8B030D-6E8A-4147-A177-3AD203B41FA5}">
                      <a16:colId xmlns:a16="http://schemas.microsoft.com/office/drawing/2014/main" val="20001"/>
                    </a:ext>
                  </a:extLst>
                </a:gridCol>
                <a:gridCol w="2765675">
                  <a:extLst>
                    <a:ext uri="{9D8B030D-6E8A-4147-A177-3AD203B41FA5}">
                      <a16:colId xmlns:a16="http://schemas.microsoft.com/office/drawing/2014/main" val="20002"/>
                    </a:ext>
                  </a:extLst>
                </a:gridCol>
              </a:tblGrid>
              <a:tr h="411480">
                <a:tc>
                  <a:txBody>
                    <a:bodyPr/>
                    <a:lstStyle/>
                    <a:p>
                      <a:pPr algn="r" rtl="1"/>
                      <a:r>
                        <a:rPr lang="he-IL" sz="1150" b="1">
                          <a:solidFill>
                            <a:srgbClr val="FFFFFF"/>
                          </a:solidFill>
                          <a:latin typeface="Segoe UI"/>
                        </a:rPr>
                        <a:t>התוצאה</a:t>
                      </a:r>
                    </a:p>
                  </a:txBody>
                  <a:tcPr anchor="ctr">
                    <a:solidFill>
                      <a:srgbClr val="22537D"/>
                    </a:solidFill>
                  </a:tcPr>
                </a:tc>
                <a:tc>
                  <a:txBody>
                    <a:bodyPr/>
                    <a:lstStyle/>
                    <a:p>
                      <a:pPr algn="r" rtl="1"/>
                      <a:r>
                        <a:rPr lang="he-IL" sz="1150" b="1">
                          <a:solidFill>
                            <a:srgbClr val="FFFFFF"/>
                          </a:solidFill>
                          <a:latin typeface="Segoe UI"/>
                        </a:rPr>
                        <a:t>מה </a:t>
                      </a:r>
                      <a:r>
                        <a:rPr lang="en-US" sz="1150" b="1">
                          <a:solidFill>
                            <a:srgbClr val="FFFFFF"/>
                          </a:solidFill>
                          <a:latin typeface="Segoe UI"/>
                        </a:rPr>
                        <a:t>Copilot </a:t>
                      </a:r>
                      <a:r>
                        <a:rPr lang="he-IL" sz="1150" b="1">
                          <a:solidFill>
                            <a:srgbClr val="FFFFFF"/>
                          </a:solidFill>
                          <a:latin typeface="Segoe UI"/>
                        </a:rPr>
                        <a:t>עשה</a:t>
                      </a:r>
                    </a:p>
                  </a:txBody>
                  <a:tcPr anchor="ctr">
                    <a:solidFill>
                      <a:srgbClr val="22537D"/>
                    </a:solidFill>
                  </a:tcPr>
                </a:tc>
                <a:tc>
                  <a:txBody>
                    <a:bodyPr/>
                    <a:lstStyle/>
                    <a:p>
                      <a:pPr algn="r" rtl="1"/>
                      <a:r>
                        <a:rPr lang="he-IL" sz="1150" b="1">
                          <a:solidFill>
                            <a:srgbClr val="FFFFFF"/>
                          </a:solidFill>
                          <a:latin typeface="Segoe UI"/>
                        </a:rPr>
                        <a:t>התרחיש</a:t>
                      </a:r>
                    </a:p>
                  </a:txBody>
                  <a:tcPr anchor="ctr">
                    <a:solidFill>
                      <a:srgbClr val="22537D"/>
                    </a:solidFill>
                  </a:tcPr>
                </a:tc>
                <a:extLst>
                  <a:ext uri="{0D108BD9-81ED-4DB2-BD59-A6C34878D82A}">
                    <a16:rowId xmlns:a16="http://schemas.microsoft.com/office/drawing/2014/main" val="10000"/>
                  </a:ext>
                </a:extLst>
              </a:tr>
              <a:tr h="731520">
                <a:tc>
                  <a:txBody>
                    <a:bodyPr/>
                    <a:lstStyle/>
                    <a:p>
                      <a:pPr algn="r" rtl="1"/>
                      <a:r>
                        <a:rPr lang="he-IL" sz="1100" b="0">
                          <a:solidFill>
                            <a:srgbClr val="2E3338"/>
                          </a:solidFill>
                          <a:latin typeface="Segoe UI"/>
                        </a:rPr>
                        <a:t>אין מספר — ובצדק</a:t>
                      </a:r>
                    </a:p>
                  </a:txBody>
                  <a:tcPr anchor="ctr">
                    <a:solidFill>
                      <a:srgbClr val="FFFFFF"/>
                    </a:solidFill>
                  </a:tcPr>
                </a:tc>
                <a:tc>
                  <a:txBody>
                    <a:bodyPr/>
                    <a:lstStyle/>
                    <a:p>
                      <a:pPr algn="r" rtl="1"/>
                      <a:r>
                        <a:rPr lang="he-IL" sz="1100" b="0">
                          <a:solidFill>
                            <a:srgbClr val="2E3338"/>
                          </a:solidFill>
                          <a:latin typeface="Segoe UI"/>
                        </a:rPr>
                        <a:t>הסביר שאין קובץ מעקב זמין, ביקש לצרף </a:t>
                      </a:r>
                      <a:r>
                        <a:rPr lang="en-US" sz="1100" b="0">
                          <a:solidFill>
                            <a:srgbClr val="2E3338"/>
                          </a:solidFill>
                          <a:latin typeface="Segoe UI"/>
                        </a:rPr>
                        <a:t>Excel </a:t>
                      </a:r>
                      <a:r>
                        <a:rPr lang="he-IL" sz="1100" b="0">
                          <a:solidFill>
                            <a:srgbClr val="2E3338"/>
                          </a:solidFill>
                          <a:latin typeface="Segoe UI"/>
                        </a:rPr>
                        <a:t>או CSV, ופירט מה יחשב לאחר הצירוף.OneDrive וענה בלי שצירפנו דבר.</a:t>
                      </a:r>
                    </a:p>
                  </a:txBody>
                  <a:tcPr anchor="ctr">
                    <a:solidFill>
                      <a:srgbClr val="F6F8FA"/>
                    </a:solidFill>
                  </a:tcPr>
                </a:tc>
                <a:tc>
                  <a:txBody>
                    <a:bodyPr/>
                    <a:lstStyle/>
                    <a:p>
                      <a:pPr algn="r" rtl="1"/>
                      <a:r>
                        <a:rPr lang="he-IL" sz="1100" b="1">
                          <a:solidFill>
                            <a:srgbClr val="2E3338"/>
                          </a:solidFill>
                          <a:latin typeface="Segoe UI"/>
                        </a:rPr>
                        <a:t>מושב בתשלום, Work IQ, בלי קובץ</a:t>
                      </a:r>
                    </a:p>
                  </a:txBody>
                  <a:tcPr anchor="ctr">
                    <a:solidFill>
                      <a:srgbClr val="F6F8FA"/>
                    </a:solidFill>
                  </a:tcPr>
                </a:tc>
                <a:extLst>
                  <a:ext uri="{0D108BD9-81ED-4DB2-BD59-A6C34878D82A}">
                    <a16:rowId xmlns:a16="http://schemas.microsoft.com/office/drawing/2014/main" val="10002"/>
                  </a:ext>
                </a:extLst>
              </a:tr>
              <a:tr h="731520">
                <a:tc>
                  <a:txBody>
                    <a:bodyPr/>
                    <a:lstStyle/>
                    <a:p>
                      <a:pPr algn="r" rtl="1"/>
                      <a:r>
                        <a:rPr lang="he-IL" sz="1100" b="0">
                          <a:solidFill>
                            <a:srgbClr val="2E3338"/>
                          </a:solidFill>
                          <a:latin typeface="Segoe UI"/>
                        </a:rPr>
                        <a:t>210 שעות ב-18 שניות</a:t>
                      </a:r>
                    </a:p>
                  </a:txBody>
                  <a:tcPr anchor="ctr">
                    <a:solidFill>
                      <a:srgbClr val="FFFFFF"/>
                    </a:solidFill>
                  </a:tcPr>
                </a:tc>
                <a:tc>
                  <a:txBody>
                    <a:bodyPr/>
                    <a:lstStyle/>
                    <a:p>
                      <a:pPr algn="r" rtl="1"/>
                      <a:r>
                        <a:rPr lang="he-IL" sz="1100" b="0">
                          <a:solidFill>
                            <a:srgbClr val="2E3338"/>
                          </a:solidFill>
                          <a:latin typeface="Segoe UI"/>
                        </a:rPr>
                        <a:t>פילוח שלושת הפרויקטים, חישוב החריגה מול 180, וציטוט מקור מקושר לקובץ.</a:t>
                      </a:r>
                    </a:p>
                  </a:txBody>
                  <a:tcPr anchor="ctr">
                    <a:solidFill>
                      <a:srgbClr val="FFFFFF"/>
                    </a:solidFill>
                  </a:tcPr>
                </a:tc>
                <a:tc>
                  <a:txBody>
                    <a:bodyPr/>
                    <a:lstStyle/>
                    <a:p>
                      <a:pPr algn="r" rtl="1"/>
                      <a:r>
                        <a:rPr lang="he-IL" sz="1100" b="1">
                          <a:solidFill>
                            <a:srgbClr val="2E3338"/>
                          </a:solidFill>
                          <a:latin typeface="Segoe UI"/>
                        </a:rPr>
                        <a:t>כל שכבה, עם קובץ מצורף</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11376355" y="5102352"/>
            <a:ext cx="38100" cy="585216"/>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TextBox 9"/>
          <p:cNvSpPr txBox="1"/>
          <p:nvPr/>
        </p:nvSpPr>
        <p:spPr>
          <a:xfrm>
            <a:off x="960120" y="5248656"/>
            <a:ext cx="10134295" cy="369332"/>
          </a:xfrm>
          <a:prstGeom prst="rect">
            <a:avLst/>
          </a:prstGeom>
          <a:noFill/>
        </p:spPr>
        <p:txBody>
          <a:bodyPr wrap="square" lIns="0" tIns="0" rIns="0" bIns="0">
            <a:spAutoFit/>
          </a:bodyPr>
          <a:lstStyle/>
          <a:p>
            <a:pPr algn="r" rtl="1"/>
            <a:r>
              <a:rPr lang="he-IL" sz="1200" b="0">
                <a:solidFill>
                  <a:srgbClr val="565C62"/>
                </a:solidFill>
                <a:latin typeface="Segoe UI"/>
              </a:rPr>
              <a:t>השורה האמצעית היא ההצדקה החדה ביותר למושב: היא מוחקת את הצורך לדעת מראש איפה הקובץ. והשורה הראשונה אינה כישלון — Copilot לא המציא את 210, וזו הוכחת האמינות.</a:t>
            </a:r>
            <a:endParaRPr lang="en-US" sz="1200" b="0">
              <a:solidFill>
                <a:srgbClr val="565C62"/>
              </a:solidFill>
              <a:latin typeface="Segoe UI"/>
            </a:endParaRPr>
          </a:p>
        </p:txBody>
      </p:sp>
      <p:sp>
        <p:nvSpPr>
          <p:cNvPr id="11" name="TextBox 10"/>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33/37</a:t>
            </a:r>
            <a:endParaRPr lang="en-US" sz="900">
              <a:solidFill>
                <a:srgbClr val="565C62"/>
              </a:solidFill>
              <a:latin typeface="Segoe UI"/>
            </a:endParaRPr>
          </a:p>
        </p:txBody>
      </p:sp>
      <p:sp>
        <p:nvSpPr>
          <p:cNvPr id="12" name="TextBox 11"/>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ק י י ס   03</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התוצאה הראשונה אינה הסוף</a:t>
            </a:r>
            <a:endParaRPr lang="en-US" sz="2700" b="1">
              <a:solidFill>
                <a:srgbClr val="16181A"/>
              </a:solidFill>
              <a:latin typeface="Segoe UI"/>
            </a:endParaRPr>
          </a:p>
        </p:txBody>
      </p:sp>
      <p:sp>
        <p:nvSpPr>
          <p:cNvPr id="8" name="Rectangle 7"/>
          <p:cNvSpPr/>
          <p:nvPr/>
        </p:nvSpPr>
        <p:spPr>
          <a:xfrm>
            <a:off x="6223864" y="2267712"/>
            <a:ext cx="5190591"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9" name="Rectangle 8"/>
          <p:cNvSpPr/>
          <p:nvPr/>
        </p:nvSpPr>
        <p:spPr>
          <a:xfrm>
            <a:off x="6223864" y="2267712"/>
            <a:ext cx="5190591" cy="31750"/>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TextBox 9"/>
          <p:cNvSpPr txBox="1"/>
          <p:nvPr/>
        </p:nvSpPr>
        <p:spPr>
          <a:xfrm>
            <a:off x="6425032" y="2523744"/>
            <a:ext cx="4788255" cy="569387"/>
          </a:xfrm>
          <a:prstGeom prst="rect">
            <a:avLst/>
          </a:prstGeom>
          <a:noFill/>
        </p:spPr>
        <p:txBody>
          <a:bodyPr wrap="square" lIns="0" tIns="0" rIns="0" bIns="0">
            <a:spAutoFit/>
          </a:bodyPr>
          <a:lstStyle/>
          <a:p>
            <a:pPr algn="r" rtl="1"/>
            <a:r>
              <a:rPr lang="he-IL" sz="1400" b="1">
                <a:solidFill>
                  <a:srgbClr val="16181A"/>
                </a:solidFill>
                <a:latin typeface="Segoe UI"/>
              </a:rPr>
              <a:t>הפלט הראשון</a:t>
            </a:r>
            <a:endParaRPr lang="en-US" sz="1400" b="1">
              <a:solidFill>
                <a:srgbClr val="16181A"/>
              </a:solidFill>
              <a:latin typeface="Segoe UI"/>
            </a:endParaRPr>
          </a:p>
          <a:p>
            <a:pPr algn="r" rtl="1"/>
            <a:r>
              <a:rPr lang="he-IL" sz="1150" b="0">
                <a:solidFill>
                  <a:srgbClr val="2E3338"/>
                </a:solidFill>
                <a:latin typeface="Segoe UI"/>
              </a:rPr>
              <a:t>שלוש הרשומות שחרגו מעל 20% הודגשו באדום, נוצרו טבלת סיכום ותרשים עמודות. שימושי — אבל שמות הקטגוריות בתרשים צפופים, ושלושה פרויקטים חסרים.</a:t>
            </a:r>
            <a:endParaRPr lang="en-US" sz="1150" b="0">
              <a:solidFill>
                <a:srgbClr val="2E3338"/>
              </a:solidFill>
              <a:latin typeface="Segoe UI"/>
            </a:endParaRPr>
          </a:p>
        </p:txBody>
      </p:sp>
      <p:sp>
        <p:nvSpPr>
          <p:cNvPr id="11" name="Rectangle 10"/>
          <p:cNvSpPr/>
          <p:nvPr/>
        </p:nvSpPr>
        <p:spPr>
          <a:xfrm>
            <a:off x="777241" y="2267712"/>
            <a:ext cx="5190591" cy="23317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2" name="Rectangle 11"/>
          <p:cNvSpPr/>
          <p:nvPr/>
        </p:nvSpPr>
        <p:spPr>
          <a:xfrm>
            <a:off x="777241" y="2267712"/>
            <a:ext cx="5190591" cy="31750"/>
          </a:xfrm>
          <a:prstGeom prst="rect">
            <a:avLst/>
          </a:prstGeom>
          <a:solidFill>
            <a:srgbClr val="2253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3" name="TextBox 12"/>
          <p:cNvSpPr txBox="1"/>
          <p:nvPr/>
        </p:nvSpPr>
        <p:spPr>
          <a:xfrm>
            <a:off x="978409" y="2523744"/>
            <a:ext cx="4788255" cy="569387"/>
          </a:xfrm>
          <a:prstGeom prst="rect">
            <a:avLst/>
          </a:prstGeom>
          <a:noFill/>
        </p:spPr>
        <p:txBody>
          <a:bodyPr wrap="square" lIns="0" tIns="0" rIns="0" bIns="0">
            <a:spAutoFit/>
          </a:bodyPr>
          <a:lstStyle/>
          <a:p>
            <a:pPr algn="r" rtl="1"/>
            <a:r>
              <a:rPr lang="he-IL" sz="1400" b="1">
                <a:solidFill>
                  <a:srgbClr val="16181A"/>
                </a:solidFill>
                <a:latin typeface="Segoe UI"/>
              </a:rPr>
              <a:t>אחרי בקשת התיקון</a:t>
            </a:r>
            <a:endParaRPr lang="en-US" sz="1400" b="1">
              <a:solidFill>
                <a:srgbClr val="16181A"/>
              </a:solidFill>
              <a:latin typeface="Segoe UI"/>
            </a:endParaRPr>
          </a:p>
          <a:p>
            <a:pPr algn="r" rtl="1"/>
            <a:r>
              <a:rPr lang="he-IL" sz="1150" b="0">
                <a:solidFill>
                  <a:srgbClr val="2E3338"/>
                </a:solidFill>
                <a:latin typeface="Segoe UI"/>
              </a:rPr>
              <a:t>תרשים עמודות אופקי, שישה שמות מלאים וקריאים, ממוין לפי גודל הפער, עם הבלטת צבע לפרויקט לפעולה.</a:t>
            </a:r>
            <a:endParaRPr lang="en-US" sz="1150" b="0">
              <a:solidFill>
                <a:srgbClr val="2E3338"/>
              </a:solidFill>
              <a:latin typeface="Segoe UI"/>
            </a:endParaRPr>
          </a:p>
        </p:txBody>
      </p:sp>
      <p:sp>
        <p:nvSpPr>
          <p:cNvPr id="14" name="Rectangle 13"/>
          <p:cNvSpPr/>
          <p:nvPr/>
        </p:nvSpPr>
        <p:spPr>
          <a:xfrm>
            <a:off x="777240" y="4873752"/>
            <a:ext cx="10637215" cy="731520"/>
          </a:xfrm>
          <a:prstGeom prst="rect">
            <a:avLst/>
          </a:prstGeom>
          <a:solidFill>
            <a:srgbClr val="FFFFFF"/>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5" name="Rectangle 14"/>
          <p:cNvSpPr/>
          <p:nvPr/>
        </p:nvSpPr>
        <p:spPr>
          <a:xfrm>
            <a:off x="11376355" y="4873752"/>
            <a:ext cx="38100" cy="73152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6" name="TextBox 15"/>
          <p:cNvSpPr txBox="1"/>
          <p:nvPr/>
        </p:nvSpPr>
        <p:spPr>
          <a:xfrm>
            <a:off x="960120" y="5020056"/>
            <a:ext cx="10134295" cy="276999"/>
          </a:xfrm>
          <a:prstGeom prst="rect">
            <a:avLst/>
          </a:prstGeom>
          <a:noFill/>
        </p:spPr>
        <p:txBody>
          <a:bodyPr wrap="square" lIns="0" tIns="0" rIns="0" bIns="0">
            <a:spAutoFit/>
          </a:bodyPr>
          <a:lstStyle/>
          <a:p>
            <a:pPr algn="r" rtl="1"/>
            <a:r>
              <a:rPr lang="he-IL" sz="1800" b="1">
                <a:solidFill>
                  <a:srgbClr val="16181A"/>
                </a:solidFill>
                <a:latin typeface="Segoe UI"/>
              </a:rPr>
              <a:t>לא מתחילים מחדש — מגדירים מה חסר ומבקשים תיקון</a:t>
            </a:r>
            <a:endParaRPr lang="en-US" sz="1800" b="1">
              <a:solidFill>
                <a:srgbClr val="16181A"/>
              </a:solidFill>
              <a:latin typeface="Segoe UI"/>
            </a:endParaRPr>
          </a:p>
        </p:txBody>
      </p:sp>
      <p:sp>
        <p:nvSpPr>
          <p:cNvPr id="17" name="Rectangle 16"/>
          <p:cNvSpPr/>
          <p:nvPr/>
        </p:nvSpPr>
        <p:spPr>
          <a:xfrm>
            <a:off x="11376355" y="5751576"/>
            <a:ext cx="38100" cy="585216"/>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8" name="TextBox 17"/>
          <p:cNvSpPr txBox="1"/>
          <p:nvPr/>
        </p:nvSpPr>
        <p:spPr>
          <a:xfrm>
            <a:off x="960120" y="5897880"/>
            <a:ext cx="10134295" cy="369332"/>
          </a:xfrm>
          <a:prstGeom prst="rect">
            <a:avLst/>
          </a:prstGeom>
          <a:noFill/>
        </p:spPr>
        <p:txBody>
          <a:bodyPr wrap="square" lIns="0" tIns="0" rIns="0" bIns="0">
            <a:spAutoFit/>
          </a:bodyPr>
          <a:lstStyle/>
          <a:p>
            <a:pPr algn="r" rtl="1"/>
            <a:r>
              <a:rPr lang="he-IL" sz="1200" b="0">
                <a:solidFill>
                  <a:srgbClr val="565C62"/>
                </a:solidFill>
                <a:latin typeface="Segoe UI"/>
              </a:rPr>
              <a:t>בהצגה: קודם טבלת הסיכום ושני הפרויקטים בעדיפות — דוחות רגולציה 152 מול 120 (32 שעות, 26.7%) ופיילוט Document Understanding 108 מול 80 (28 שעות, 35%) — ורק אז התרשים.</a:t>
            </a:r>
            <a:endParaRPr lang="en-US" sz="1200" b="0">
              <a:solidFill>
                <a:srgbClr val="565C62"/>
              </a:solidFill>
              <a:latin typeface="Segoe UI"/>
            </a:endParaRPr>
          </a:p>
        </p:txBody>
      </p:sp>
      <p:sp>
        <p:nvSpPr>
          <p:cNvPr id="19" name="TextBox 18"/>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34/37</a:t>
            </a:r>
            <a:endParaRPr lang="en-US" sz="900">
              <a:solidFill>
                <a:srgbClr val="565C62"/>
              </a:solidFill>
              <a:latin typeface="Segoe UI"/>
            </a:endParaRPr>
          </a:p>
        </p:txBody>
      </p:sp>
      <p:sp>
        <p:nvSpPr>
          <p:cNvPr id="20" name="TextBox 19"/>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pic>
        <p:nvPicPr>
          <p:cNvPr id="13" name="Picture 12" descr="s35.png"/>
          <p:cNvPicPr>
            <a:picLocks noChangeAspect="1"/>
          </p:cNvPicPr>
          <p:nvPr/>
        </p:nvPicPr>
        <p:blipFill>
          <a:blip r:embed="rId6"/>
          <a:stretch>
            <a:fillRect/>
          </a:stretch>
        </p:blipFill>
        <p:spPr>
          <a:xfrm>
            <a:off x="822960" y="4956048"/>
            <a:ext cx="10543032" cy="1755648"/>
          </a:xfrm>
          <a:prstGeom prst="roundRect">
            <a:avLst>
              <a:gd name="adj" fmla="val 3000"/>
            </a:avLst>
          </a:prstGeom>
          <a:effectLst>
            <a:outerShdw blurRad="63500" dist="38100" dir="5400000" algn="tl" rotWithShape="0">
              <a:srgbClr val="141818">
                <a:alpha val="20000"/>
              </a:srgbClr>
            </a:outerShdw>
          </a:effectLst>
        </p:spPr>
      </p:pic>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ש כ ב ה   3</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Cowork — העובד הדיגיטלי</a:t>
            </a:r>
            <a:endParaRPr lang="en-US" sz="2700" b="1">
              <a:solidFill>
                <a:srgbClr val="16181A"/>
              </a:solidFill>
              <a:latin typeface="Segoe UI"/>
            </a:endParaRPr>
          </a:p>
        </p:txBody>
      </p:sp>
      <p:sp>
        <p:nvSpPr>
          <p:cNvPr id="8" name="TextBox 7"/>
          <p:cNvSpPr txBox="1"/>
          <p:nvPr/>
        </p:nvSpPr>
        <p:spPr>
          <a:xfrm>
            <a:off x="777240" y="2267712"/>
            <a:ext cx="10637215" cy="923330"/>
          </a:xfrm>
          <a:prstGeom prst="rect">
            <a:avLst/>
          </a:prstGeom>
          <a:noFill/>
        </p:spPr>
        <p:txBody>
          <a:bodyPr wrap="square" lIns="0" tIns="0" rIns="0" bIns="0">
            <a:spAutoFit/>
          </a:bodyPr>
          <a:lstStyle/>
          <a:p>
            <a:pPr algn="r" rtl="1"/>
            <a:r>
              <a:rPr lang="he-IL" sz="1500" b="0">
                <a:solidFill>
                  <a:srgbClr val="85A6CB"/>
                </a:solidFill>
                <a:latin typeface="Segoe UI"/>
              </a:rPr>
              <a:t>▪  </a:t>
            </a:r>
            <a:r>
              <a:rPr lang="he-IL" sz="1500" b="0">
                <a:latin typeface="Segoe UI"/>
              </a:rPr>
              <a:t>סוכן אוטונומי למשימות ארוכות ומרובות-כלים. זמין לכלל הלקוחות מ-16.6.2026.</a:t>
            </a:r>
            <a:endParaRPr lang="en-US" sz="1500" b="0">
              <a:solidFill>
                <a:srgbClr val="2E3338"/>
              </a:solidFill>
              <a:latin typeface="Segoe UI"/>
            </a:endParaRPr>
          </a:p>
          <a:p>
            <a:pPr algn="r" rtl="1"/>
            <a:r>
              <a:rPr lang="he-IL" sz="1500" b="0">
                <a:solidFill>
                  <a:srgbClr val="2E3338"/>
                </a:solidFill>
                <a:latin typeface="Segoe UI"/>
              </a:rPr>
              <a:t>▪  </a:t>
            </a:r>
            <a:r>
              <a:rPr lang="he-IL" sz="1500" b="1">
                <a:solidFill>
                  <a:srgbClr val="2E3338"/>
                </a:solidFill>
                <a:latin typeface="Segoe UI"/>
              </a:rPr>
              <a:t>אינו כלול במושב.</a:t>
            </a:r>
            <a:r>
              <a:rPr lang="he-IL" sz="1500" b="0">
                <a:solidFill>
                  <a:srgbClr val="2E3338"/>
                </a:solidFill>
                <a:latin typeface="Segoe UI"/>
              </a:rPr>
              <a:t> חיוב פר-משימה בקרדיטים: 125 קלה · 500 בינונית · 1,200 כבדה.</a:t>
            </a:r>
            <a:endParaRPr lang="en-US" sz="1500" b="0">
              <a:solidFill>
                <a:srgbClr val="2E3338"/>
              </a:solidFill>
              <a:latin typeface="Segoe UI"/>
            </a:endParaRPr>
          </a:p>
          <a:p>
            <a:pPr algn="r" rtl="1"/>
            <a:r>
              <a:rPr lang="he-IL" sz="1500" b="0">
                <a:solidFill>
                  <a:srgbClr val="85A6CB"/>
                </a:solidFill>
                <a:latin typeface="Segoe UI"/>
              </a:rPr>
              <a:t>▪  </a:t>
            </a:r>
            <a:r>
              <a:rPr lang="he-IL" sz="1500" b="0">
                <a:latin typeface="Segoe UI"/>
              </a:rPr>
              <a:t>דורש הפעלת חיוב-שימוש ברמת הטננט. בלעדיה — חסום לחלוטין, החל מ-1.7.2026.</a:t>
            </a:r>
            <a:endParaRPr lang="en-US" sz="1500" b="0">
              <a:solidFill>
                <a:srgbClr val="2E3338"/>
              </a:solidFill>
              <a:latin typeface="Segoe UI"/>
            </a:endParaRPr>
          </a:p>
          <a:p>
            <a:pPr algn="r" rtl="1"/>
            <a:r>
              <a:rPr lang="he-IL" sz="1500" b="1">
                <a:solidFill>
                  <a:srgbClr val="1E8E3E"/>
                </a:solidFill>
                <a:latin typeface="Segoe UI"/>
              </a:rPr>
              <a:t>✔  </a:t>
            </a:r>
            <a:r>
              <a:rPr lang="he-IL" sz="1500" b="0">
                <a:latin typeface="Segoe UI"/>
              </a:rPr>
              <a:t>אימתנו חי: מושב פעיל + חיוב כבוי = Cowork מופיע בתפריט אך אינו נטען.</a:t>
            </a:r>
            <a:endParaRPr lang="en-US" sz="1500" b="0">
              <a:solidFill>
                <a:srgbClr val="2E3338"/>
              </a:solidFill>
              <a:latin typeface="Segoe UI"/>
            </a:endParaRPr>
          </a:p>
        </p:txBody>
      </p:sp>
      <p:sp>
        <p:nvSpPr>
          <p:cNvPr id="9" name="Rectangle 8"/>
          <p:cNvSpPr/>
          <p:nvPr/>
        </p:nvSpPr>
        <p:spPr>
          <a:xfrm>
            <a:off x="11376355" y="4151376"/>
            <a:ext cx="38100" cy="585216"/>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0" name="TextBox 9"/>
          <p:cNvSpPr txBox="1"/>
          <p:nvPr/>
        </p:nvSpPr>
        <p:spPr>
          <a:xfrm>
            <a:off x="960120" y="4297680"/>
            <a:ext cx="10134295" cy="184666"/>
          </a:xfrm>
          <a:prstGeom prst="rect">
            <a:avLst/>
          </a:prstGeom>
          <a:noFill/>
        </p:spPr>
        <p:txBody>
          <a:bodyPr wrap="square" lIns="0" tIns="0" rIns="0" bIns="0">
            <a:spAutoFit/>
          </a:bodyPr>
          <a:lstStyle/>
          <a:p>
            <a:pPr algn="r" rtl="1"/>
            <a:r>
              <a:rPr lang="he-IL" sz="1200" b="0">
                <a:solidFill>
                  <a:srgbClr val="565C62"/>
                </a:solidFill>
                <a:latin typeface="Segoe UI"/>
              </a:rPr>
              <a:t>מקור המשקלים: Cowork Estimator הרשמי של מיקרוסופט. אומדן כיווני, תלוי-תרחיש.</a:t>
            </a:r>
            <a:endParaRPr lang="en-US" sz="1200" b="0">
              <a:solidFill>
                <a:srgbClr val="565C62"/>
              </a:solidFill>
              <a:latin typeface="Segoe UI"/>
            </a:endParaRPr>
          </a:p>
        </p:txBody>
      </p:sp>
      <p:sp>
        <p:nvSpPr>
          <p:cNvPr id="11" name="TextBox 10"/>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35/37</a:t>
            </a:r>
            <a:endParaRPr lang="en-US" sz="900">
              <a:solidFill>
                <a:srgbClr val="565C62"/>
              </a:solidFill>
              <a:latin typeface="Segoe UI"/>
            </a:endParaRPr>
          </a:p>
        </p:txBody>
      </p:sp>
      <p:sp>
        <p:nvSpPr>
          <p:cNvPr id="12" name="TextBox 11"/>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ט מ ע ה</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איך מטמיעים נכון</a:t>
            </a:r>
            <a:endParaRPr lang="en-US" sz="2700" b="1">
              <a:solidFill>
                <a:srgbClr val="16181A"/>
              </a:solidFill>
              <a:latin typeface="Segoe UI"/>
            </a:endParaRPr>
          </a:p>
        </p:txBody>
      </p:sp>
      <p:sp>
        <p:nvSpPr>
          <p:cNvPr id="8" name="TextBox 7"/>
          <p:cNvSpPr txBox="1"/>
          <p:nvPr/>
        </p:nvSpPr>
        <p:spPr>
          <a:xfrm>
            <a:off x="9128455" y="226771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lang="he-IL" sz="1500" b="1">
                <a:solidFill>
                  <a:srgbClr val="16181A"/>
                </a:solidFill>
                <a:latin typeface="Segoe UI"/>
              </a:rPr>
              <a:t>שבוע ראשון</a:t>
            </a:r>
            <a:endParaRPr lang="en-US" sz="1500" b="1">
              <a:solidFill>
                <a:srgbClr val="16181A"/>
              </a:solidFill>
              <a:latin typeface="Segoe UI"/>
            </a:endParaRPr>
          </a:p>
        </p:txBody>
      </p:sp>
      <p:sp>
        <p:nvSpPr>
          <p:cNvPr id="9" name="TextBox 8"/>
          <p:cNvSpPr txBox="1"/>
          <p:nvPr/>
        </p:nvSpPr>
        <p:spPr>
          <a:xfrm>
            <a:off x="777240" y="230428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דוח שימוש, זיהוי מי כבר משתמש, ומינוי שניים-שלושה משתמשי עוגן.</a:t>
            </a:r>
            <a:endParaRPr lang="en-US" sz="1400" b="0">
              <a:solidFill>
                <a:srgbClr val="2E3338"/>
              </a:solidFill>
              <a:latin typeface="Segoe UI"/>
            </a:endParaRPr>
          </a:p>
        </p:txBody>
      </p:sp>
      <p:sp>
        <p:nvSpPr>
          <p:cNvPr id="10" name="Rectangle 9"/>
          <p:cNvSpPr/>
          <p:nvPr/>
        </p:nvSpPr>
        <p:spPr>
          <a:xfrm>
            <a:off x="777240" y="2889504"/>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2980944"/>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שבועות 2–3</a:t>
            </a:r>
            <a:endParaRPr lang="en-US" sz="1500" b="1">
              <a:solidFill>
                <a:srgbClr val="16181A"/>
              </a:solidFill>
              <a:latin typeface="Segoe UI"/>
            </a:endParaRPr>
          </a:p>
        </p:txBody>
      </p:sp>
      <p:sp>
        <p:nvSpPr>
          <p:cNvPr id="12" name="TextBox 11"/>
          <p:cNvSpPr txBox="1"/>
          <p:nvPr/>
        </p:nvSpPr>
        <p:spPr>
          <a:xfrm>
            <a:off x="777240" y="3017520"/>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הדרכה על הרישוי הרגיל, על קבצים אמיתיים של הארגון עצמו.</a:t>
            </a:r>
            <a:endParaRPr lang="en-US" sz="1400" b="0">
              <a:solidFill>
                <a:srgbClr val="2E3338"/>
              </a:solidFill>
              <a:latin typeface="Segoe UI"/>
            </a:endParaRPr>
          </a:p>
        </p:txBody>
      </p:sp>
      <p:sp>
        <p:nvSpPr>
          <p:cNvPr id="13" name="Rectangle 12"/>
          <p:cNvSpPr/>
          <p:nvPr/>
        </p:nvSpPr>
        <p:spPr>
          <a:xfrm>
            <a:off x="777240" y="3602736"/>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3694176"/>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רכש מבוסס-נתונים</a:t>
            </a:r>
            <a:endParaRPr lang="en-US" sz="1500" b="1">
              <a:solidFill>
                <a:srgbClr val="16181A"/>
              </a:solidFill>
              <a:latin typeface="Segoe UI"/>
            </a:endParaRPr>
          </a:p>
        </p:txBody>
      </p:sp>
      <p:sp>
        <p:nvSpPr>
          <p:cNvPr id="15" name="TextBox 14"/>
          <p:cNvSpPr txBox="1"/>
          <p:nvPr/>
        </p:nvSpPr>
        <p:spPr>
          <a:xfrm>
            <a:off x="777240" y="3730752"/>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מושב רק למי שנתקע במכסה פעמיים בשבוע — הסימן האמין היחיד לשימוש אמיתי.</a:t>
            </a:r>
            <a:endParaRPr lang="en-US" sz="1400" b="0">
              <a:solidFill>
                <a:srgbClr val="2E3338"/>
              </a:solidFill>
              <a:latin typeface="Segoe UI"/>
            </a:endParaRPr>
          </a:p>
        </p:txBody>
      </p:sp>
      <p:sp>
        <p:nvSpPr>
          <p:cNvPr id="16" name="Rectangle 15"/>
          <p:cNvSpPr/>
          <p:nvPr/>
        </p:nvSpPr>
        <p:spPr>
          <a:xfrm>
            <a:off x="777240" y="4315968"/>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407408"/>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ארגון גדול</a:t>
            </a:r>
            <a:endParaRPr lang="en-US" sz="1500" b="1">
              <a:solidFill>
                <a:srgbClr val="16181A"/>
              </a:solidFill>
              <a:latin typeface="Segoe UI"/>
            </a:endParaRPr>
          </a:p>
        </p:txBody>
      </p:sp>
      <p:sp>
        <p:nvSpPr>
          <p:cNvPr id="18" name="TextBox 17"/>
          <p:cNvSpPr txBox="1"/>
          <p:nvPr/>
        </p:nvSpPr>
        <p:spPr>
          <a:xfrm>
            <a:off x="777240" y="4443984"/>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אין פיילוט חינמי. לתקצב מושבים לקבוצת הפיילוט מראש.</a:t>
            </a:r>
            <a:endParaRPr lang="en-US" sz="1400" b="0">
              <a:solidFill>
                <a:srgbClr val="2E3338"/>
              </a:solidFill>
              <a:latin typeface="Segoe UI"/>
            </a:endParaRPr>
          </a:p>
        </p:txBody>
      </p:sp>
      <p:sp>
        <p:nvSpPr>
          <p:cNvPr id="19" name="Rectangle 18"/>
          <p:cNvSpPr/>
          <p:nvPr/>
        </p:nvSpPr>
        <p:spPr>
          <a:xfrm>
            <a:off x="777240" y="5029200"/>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TextBox 19"/>
          <p:cNvSpPr txBox="1"/>
          <p:nvPr/>
        </p:nvSpPr>
        <p:spPr>
          <a:xfrm>
            <a:off x="9128455" y="5120640"/>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05</a:t>
            </a:r>
            <a:endParaRPr lang="en-US" sz="1100" b="1">
              <a:solidFill>
                <a:srgbClr val="2E6FA7"/>
              </a:solidFill>
              <a:latin typeface="Segoe UI"/>
            </a:endParaRPr>
          </a:p>
          <a:p>
            <a:pPr algn="r" rtl="1"/>
            <a:r>
              <a:rPr lang="he-IL" sz="1500" b="1">
                <a:solidFill>
                  <a:srgbClr val="16181A"/>
                </a:solidFill>
                <a:latin typeface="Segoe UI"/>
              </a:rPr>
              <a:t>כלל אצבע לעלות</a:t>
            </a:r>
            <a:endParaRPr lang="en-US" sz="1500" b="1">
              <a:solidFill>
                <a:srgbClr val="16181A"/>
              </a:solidFill>
              <a:latin typeface="Segoe UI"/>
            </a:endParaRPr>
          </a:p>
        </p:txBody>
      </p:sp>
      <p:sp>
        <p:nvSpPr>
          <p:cNvPr id="21" name="TextBox 20"/>
          <p:cNvSpPr txBox="1"/>
          <p:nvPr/>
        </p:nvSpPr>
        <p:spPr>
          <a:xfrm>
            <a:off x="777240" y="5157216"/>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מושב שקול לשעת עבודה אחת בחודש. חוסך יותר משעה — מחזיר את עצמו.</a:t>
            </a:r>
            <a:endParaRPr lang="en-US" sz="1400" b="0">
              <a:solidFill>
                <a:srgbClr val="2E3338"/>
              </a:solidFill>
              <a:latin typeface="Segoe UI"/>
            </a:endParaRPr>
          </a:p>
        </p:txBody>
      </p:sp>
      <p:sp>
        <p:nvSpPr>
          <p:cNvPr id="22" name="TextBox 21"/>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36/37</a:t>
            </a:r>
            <a:endParaRPr lang="en-US" sz="900">
              <a:solidFill>
                <a:srgbClr val="565C62"/>
              </a:solidFill>
              <a:latin typeface="Segoe UI"/>
            </a:endParaRPr>
          </a:p>
        </p:txBody>
      </p:sp>
      <p:sp>
        <p:nvSpPr>
          <p:cNvPr id="23" name="TextBox 22"/>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7619695"/>
          </a:xfrm>
          <a:prstGeom prst="rect">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3" name="TextBox 2"/>
          <p:cNvSpPr txBox="1"/>
          <p:nvPr/>
        </p:nvSpPr>
        <p:spPr>
          <a:xfrm>
            <a:off x="8488375" y="475488"/>
            <a:ext cx="2926080" cy="153888"/>
          </a:xfrm>
          <a:prstGeom prst="rect">
            <a:avLst/>
          </a:prstGeom>
          <a:noFill/>
        </p:spPr>
        <p:txBody>
          <a:bodyPr wrap="square" lIns="0" tIns="0" rIns="0" bIns="0">
            <a:spAutoFit/>
          </a:bodyPr>
          <a:lstStyle/>
          <a:p>
            <a:pPr algn="r" rtl="1"/>
            <a:r>
              <a:rPr lang="he-IL" sz="1000" b="0">
                <a:solidFill>
                  <a:srgbClr val="565C62"/>
                </a:solidFill>
                <a:latin typeface="Segoe UI"/>
              </a:rPr>
              <a:t>ה ח ל ט ה</a:t>
            </a:r>
            <a:endParaRPr lang="en-US" sz="1000" b="0">
              <a:solidFill>
                <a:srgbClr val="565C62"/>
              </a:solidFill>
              <a:latin typeface="Segoe UI"/>
            </a:endParaRPr>
          </a:p>
        </p:txBody>
      </p:sp>
      <p:pic>
        <p:nvPicPr>
          <p:cNvPr id="4" name="Picture 3" descr="logo.png"/>
          <p:cNvPicPr>
            <a:picLocks noChangeAspect="1"/>
          </p:cNvPicPr>
          <p:nvPr/>
        </p:nvPicPr>
        <p:blipFill>
          <a:blip r:embed="rId3"/>
          <a:stretch>
            <a:fillRect/>
          </a:stretch>
        </p:blipFill>
        <p:spPr>
          <a:xfrm>
            <a:off x="777240" y="384048"/>
            <a:ext cx="694143" cy="475488"/>
          </a:xfrm>
          <a:prstGeom prst="rect">
            <a:avLst/>
          </a:prstGeom>
        </p:spPr>
      </p:pic>
      <p:pic>
        <p:nvPicPr>
          <p:cNvPr id="5" name="Picture 4" descr="dot.png"/>
          <p:cNvPicPr>
            <a:picLocks noChangeAspect="1"/>
          </p:cNvPicPr>
          <p:nvPr/>
        </p:nvPicPr>
        <p:blipFill>
          <a:blip r:embed="rId4"/>
          <a:stretch>
            <a:fillRect/>
          </a:stretch>
        </p:blipFill>
        <p:spPr>
          <a:xfrm>
            <a:off x="5949543" y="475488"/>
            <a:ext cx="292608" cy="292608"/>
          </a:xfrm>
          <a:prstGeom prst="rect">
            <a:avLst/>
          </a:prstGeom>
        </p:spPr>
      </p:pic>
      <p:sp>
        <p:nvSpPr>
          <p:cNvPr id="6" name="Rectangle 5"/>
          <p:cNvSpPr/>
          <p:nvPr/>
        </p:nvSpPr>
        <p:spPr>
          <a:xfrm>
            <a:off x="777240" y="1060704"/>
            <a:ext cx="10637215" cy="25400"/>
          </a:xfrm>
          <a:prstGeom prst="rect">
            <a:avLst/>
          </a:prstGeom>
          <a:solidFill>
            <a:srgbClr val="2E6F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7" name="TextBox 6"/>
          <p:cNvSpPr txBox="1"/>
          <p:nvPr/>
        </p:nvSpPr>
        <p:spPr>
          <a:xfrm>
            <a:off x="777240" y="1371600"/>
            <a:ext cx="10637215" cy="415498"/>
          </a:xfrm>
          <a:prstGeom prst="rect">
            <a:avLst/>
          </a:prstGeom>
          <a:noFill/>
        </p:spPr>
        <p:txBody>
          <a:bodyPr wrap="square" lIns="0" tIns="0" rIns="0" bIns="0">
            <a:spAutoFit/>
          </a:bodyPr>
          <a:lstStyle/>
          <a:p>
            <a:pPr algn="r" rtl="1"/>
            <a:r>
              <a:rPr lang="he-IL" sz="2700" b="1">
                <a:solidFill>
                  <a:srgbClr val="16181A"/>
                </a:solidFill>
                <a:latin typeface="Segoe UI"/>
              </a:rPr>
              <a:t>מה אני מבקש להחליט</a:t>
            </a:r>
            <a:endParaRPr lang="en-US" sz="2700" b="1">
              <a:solidFill>
                <a:srgbClr val="16181A"/>
              </a:solidFill>
              <a:latin typeface="Segoe UI"/>
            </a:endParaRPr>
          </a:p>
        </p:txBody>
      </p:sp>
      <p:sp>
        <p:nvSpPr>
          <p:cNvPr id="8" name="TextBox 7"/>
          <p:cNvSpPr txBox="1"/>
          <p:nvPr/>
        </p:nvSpPr>
        <p:spPr>
          <a:xfrm>
            <a:off x="9128455" y="226771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01</a:t>
            </a:r>
            <a:endParaRPr lang="en-US" sz="1100" b="1">
              <a:solidFill>
                <a:srgbClr val="2E6FA7"/>
              </a:solidFill>
              <a:latin typeface="Segoe UI"/>
            </a:endParaRPr>
          </a:p>
          <a:p>
            <a:pPr algn="r" rtl="1"/>
            <a:r>
              <a:rPr lang="he-IL" sz="1500" b="1">
                <a:solidFill>
                  <a:srgbClr val="16181A"/>
                </a:solidFill>
                <a:latin typeface="Segoe UI"/>
              </a:rPr>
              <a:t>אישור התוכן</a:t>
            </a:r>
            <a:endParaRPr lang="en-US" sz="1500" b="1">
              <a:solidFill>
                <a:srgbClr val="16181A"/>
              </a:solidFill>
              <a:latin typeface="Segoe UI"/>
            </a:endParaRPr>
          </a:p>
        </p:txBody>
      </p:sp>
      <p:sp>
        <p:nvSpPr>
          <p:cNvPr id="9" name="TextBox 8"/>
          <p:cNvSpPr txBox="1"/>
          <p:nvPr/>
        </p:nvSpPr>
        <p:spPr>
          <a:xfrm>
            <a:off x="777240" y="230428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המצגת הזו כסשן לקוח של 60 דקות, כפי שראית אותה — כולל ההדגמות החיות וההקלטות כגיבוי.</a:t>
            </a:r>
            <a:endParaRPr lang="en-US" sz="1400" b="0">
              <a:solidFill>
                <a:srgbClr val="2E3338"/>
              </a:solidFill>
              <a:latin typeface="Segoe UI"/>
            </a:endParaRPr>
          </a:p>
        </p:txBody>
      </p:sp>
      <p:sp>
        <p:nvSpPr>
          <p:cNvPr id="10" name="Rectangle 9"/>
          <p:cNvSpPr/>
          <p:nvPr/>
        </p:nvSpPr>
        <p:spPr>
          <a:xfrm>
            <a:off x="777240" y="304495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1" name="TextBox 10"/>
          <p:cNvSpPr txBox="1"/>
          <p:nvPr/>
        </p:nvSpPr>
        <p:spPr>
          <a:xfrm>
            <a:off x="9128455" y="313639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02</a:t>
            </a:r>
            <a:endParaRPr lang="en-US" sz="1100" b="1">
              <a:solidFill>
                <a:srgbClr val="2E6FA7"/>
              </a:solidFill>
              <a:latin typeface="Segoe UI"/>
            </a:endParaRPr>
          </a:p>
          <a:p>
            <a:pPr algn="r" rtl="1"/>
            <a:r>
              <a:rPr lang="he-IL" sz="1500" b="1">
                <a:solidFill>
                  <a:srgbClr val="16181A"/>
                </a:solidFill>
                <a:latin typeface="Segoe UI"/>
              </a:rPr>
              <a:t>אריזה ותמחור</a:t>
            </a:r>
            <a:endParaRPr lang="en-US" sz="1500" b="1">
              <a:solidFill>
                <a:srgbClr val="16181A"/>
              </a:solidFill>
              <a:latin typeface="Segoe UI"/>
            </a:endParaRPr>
          </a:p>
        </p:txBody>
      </p:sp>
      <p:sp>
        <p:nvSpPr>
          <p:cNvPr id="12" name="TextBox 11"/>
          <p:cNvSpPr txBox="1"/>
          <p:nvPr/>
        </p:nvSpPr>
        <p:spPr>
          <a:xfrm>
            <a:off x="777240" y="317296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מסלול אחד (סדנת יסודות) או שניים (יסודות + מאיץ מחלקתי), ומה המחיר לסשן.</a:t>
            </a:r>
            <a:endParaRPr lang="en-US" sz="1400" b="0">
              <a:solidFill>
                <a:srgbClr val="2E3338"/>
              </a:solidFill>
              <a:latin typeface="Segoe UI"/>
            </a:endParaRPr>
          </a:p>
        </p:txBody>
      </p:sp>
      <p:sp>
        <p:nvSpPr>
          <p:cNvPr id="13" name="Rectangle 12"/>
          <p:cNvSpPr/>
          <p:nvPr/>
        </p:nvSpPr>
        <p:spPr>
          <a:xfrm>
            <a:off x="777240" y="391363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4" name="TextBox 13"/>
          <p:cNvSpPr txBox="1"/>
          <p:nvPr/>
        </p:nvSpPr>
        <p:spPr>
          <a:xfrm>
            <a:off x="9128455" y="400507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03</a:t>
            </a:r>
            <a:endParaRPr lang="en-US" sz="1100" b="1">
              <a:solidFill>
                <a:srgbClr val="2E6FA7"/>
              </a:solidFill>
              <a:latin typeface="Segoe UI"/>
            </a:endParaRPr>
          </a:p>
          <a:p>
            <a:pPr algn="r" rtl="1"/>
            <a:r>
              <a:rPr lang="he-IL" sz="1500" b="1">
                <a:solidFill>
                  <a:srgbClr val="16181A"/>
                </a:solidFill>
                <a:latin typeface="Segoe UI"/>
              </a:rPr>
              <a:t>שני פערים פתוחים</a:t>
            </a:r>
            <a:endParaRPr lang="en-US" sz="1500" b="1">
              <a:solidFill>
                <a:srgbClr val="16181A"/>
              </a:solidFill>
              <a:latin typeface="Segoe UI"/>
            </a:endParaRPr>
          </a:p>
        </p:txBody>
      </p:sp>
      <p:sp>
        <p:nvSpPr>
          <p:cNvPr id="15" name="TextBox 14"/>
          <p:cNvSpPr txBox="1"/>
          <p:nvPr/>
        </p:nvSpPr>
        <p:spPr>
          <a:xfrm>
            <a:off x="777240" y="404164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קיצור הקייס המרכזי לגרסת הרצאה, והקלטת התרחיש של רישוי פרימיום ללא קובץ — כיום מתועד בצילום בלבד.</a:t>
            </a:r>
            <a:endParaRPr lang="en-US" sz="1400" b="0">
              <a:solidFill>
                <a:srgbClr val="2E3338"/>
              </a:solidFill>
              <a:latin typeface="Segoe UI"/>
            </a:endParaRPr>
          </a:p>
        </p:txBody>
      </p:sp>
      <p:sp>
        <p:nvSpPr>
          <p:cNvPr id="16" name="Rectangle 15"/>
          <p:cNvSpPr/>
          <p:nvPr/>
        </p:nvSpPr>
        <p:spPr>
          <a:xfrm>
            <a:off x="777240" y="4782312"/>
            <a:ext cx="10637215" cy="9525"/>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17" name="TextBox 16"/>
          <p:cNvSpPr txBox="1"/>
          <p:nvPr/>
        </p:nvSpPr>
        <p:spPr>
          <a:xfrm>
            <a:off x="9128455" y="4873752"/>
            <a:ext cx="2286000" cy="400110"/>
          </a:xfrm>
          <a:prstGeom prst="rect">
            <a:avLst/>
          </a:prstGeom>
          <a:noFill/>
        </p:spPr>
        <p:txBody>
          <a:bodyPr wrap="square" lIns="0" tIns="0" rIns="0" bIns="0">
            <a:spAutoFit/>
          </a:bodyPr>
          <a:lstStyle/>
          <a:p>
            <a:pPr algn="r" rtl="1"/>
            <a:r>
              <a:rPr lang="he-IL" sz="1100" b="1">
                <a:solidFill>
                  <a:srgbClr val="2E6FA7"/>
                </a:solidFill>
                <a:latin typeface="Segoe UI"/>
              </a:rPr>
              <a:t>04</a:t>
            </a:r>
            <a:endParaRPr lang="en-US" sz="1100" b="1">
              <a:solidFill>
                <a:srgbClr val="2E6FA7"/>
              </a:solidFill>
              <a:latin typeface="Segoe UI"/>
            </a:endParaRPr>
          </a:p>
          <a:p>
            <a:pPr algn="r" rtl="1"/>
            <a:r>
              <a:rPr lang="he-IL" sz="1500" b="1">
                <a:solidFill>
                  <a:srgbClr val="16181A"/>
                </a:solidFill>
                <a:latin typeface="Segoe UI"/>
              </a:rPr>
              <a:t>תוקף ובעלוּת</a:t>
            </a:r>
            <a:endParaRPr lang="en-US" sz="1500" b="1">
              <a:solidFill>
                <a:srgbClr val="16181A"/>
              </a:solidFill>
              <a:latin typeface="Segoe UI"/>
            </a:endParaRPr>
          </a:p>
        </p:txBody>
      </p:sp>
      <p:sp>
        <p:nvSpPr>
          <p:cNvPr id="18" name="TextBox 17"/>
          <p:cNvSpPr txBox="1"/>
          <p:nvPr/>
        </p:nvSpPr>
        <p:spPr>
          <a:xfrm>
            <a:off x="777240" y="4910328"/>
            <a:ext cx="8031175" cy="215444"/>
          </a:xfrm>
          <a:prstGeom prst="rect">
            <a:avLst/>
          </a:prstGeom>
          <a:noFill/>
        </p:spPr>
        <p:txBody>
          <a:bodyPr wrap="square" lIns="0" tIns="0" rIns="0" bIns="0">
            <a:spAutoFit/>
          </a:bodyPr>
          <a:lstStyle/>
          <a:p>
            <a:pPr algn="r" rtl="1"/>
            <a:r>
              <a:rPr lang="he-IL" sz="1400" b="0">
                <a:solidFill>
                  <a:srgbClr val="2E3338"/>
                </a:solidFill>
                <a:latin typeface="Segoe UI"/>
              </a:rPr>
              <a:t>מיקרוסופט שינתה את מודל הרישוי שלוש פעמים השנה. נדרש תאריך בדיקה חוזרת לשקפי המחירים, ובעלים לעדכון.</a:t>
            </a:r>
            <a:endParaRPr lang="en-US" sz="1400" b="0">
              <a:solidFill>
                <a:srgbClr val="2E3338"/>
              </a:solidFill>
              <a:latin typeface="Segoe UI"/>
            </a:endParaRPr>
          </a:p>
        </p:txBody>
      </p:sp>
      <p:sp>
        <p:nvSpPr>
          <p:cNvPr id="19" name="Rectangle 18"/>
          <p:cNvSpPr/>
          <p:nvPr/>
        </p:nvSpPr>
        <p:spPr>
          <a:xfrm>
            <a:off x="11376355" y="5943600"/>
            <a:ext cx="38100" cy="585216"/>
          </a:xfrm>
          <a:prstGeom prst="rect">
            <a:avLst/>
          </a:prstGeom>
          <a:solidFill>
            <a:srgbClr val="85A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lang="en-US"/>
          </a:p>
        </p:txBody>
      </p:sp>
      <p:sp>
        <p:nvSpPr>
          <p:cNvPr id="20" name="TextBox 19"/>
          <p:cNvSpPr txBox="1"/>
          <p:nvPr/>
        </p:nvSpPr>
        <p:spPr>
          <a:xfrm>
            <a:off x="960120" y="6089904"/>
            <a:ext cx="10134295" cy="184666"/>
          </a:xfrm>
          <a:prstGeom prst="rect">
            <a:avLst/>
          </a:prstGeom>
          <a:noFill/>
        </p:spPr>
        <p:txBody>
          <a:bodyPr wrap="square" lIns="0" tIns="0" rIns="0" bIns="0">
            <a:spAutoFit/>
          </a:bodyPr>
          <a:lstStyle/>
          <a:p>
            <a:pPr algn="r" rtl="1"/>
            <a:r>
              <a:rPr lang="he-IL" sz="1200" b="0">
                <a:solidFill>
                  <a:srgbClr val="565C62"/>
                </a:solidFill>
                <a:latin typeface="Segoe UI"/>
              </a:rPr>
              <a:t>השקף הבא הוא סגירת </a:t>
            </a:r>
            <a:r>
              <a:rPr lang="he-IL" sz="1200" b="1">
                <a:solidFill>
                  <a:srgbClr val="565C62"/>
                </a:solidFill>
                <a:latin typeface="Segoe UI"/>
              </a:rPr>
              <a:t>מצגת הלקוח</a:t>
            </a:r>
            <a:r>
              <a:rPr lang="he-IL" sz="1200" b="0">
                <a:solidFill>
                  <a:srgbClr val="565C62"/>
                </a:solidFill>
                <a:latin typeface="Segoe UI"/>
              </a:rPr>
              <a:t> — לא סגירת הפגישה הזו.</a:t>
            </a:r>
            <a:endParaRPr lang="en-US" sz="1200" b="0">
              <a:solidFill>
                <a:srgbClr val="565C62"/>
              </a:solidFill>
              <a:latin typeface="Segoe UI"/>
            </a:endParaRPr>
          </a:p>
        </p:txBody>
      </p:sp>
      <p:sp>
        <p:nvSpPr>
          <p:cNvPr id="21" name="TextBox 20"/>
          <p:cNvSpPr txBox="1"/>
          <p:nvPr/>
        </p:nvSpPr>
        <p:spPr>
          <a:xfrm>
            <a:off x="777240" y="7089343"/>
            <a:ext cx="1097280" cy="138499"/>
          </a:xfrm>
          <a:prstGeom prst="rect">
            <a:avLst/>
          </a:prstGeom>
          <a:noFill/>
        </p:spPr>
        <p:txBody>
          <a:bodyPr wrap="square" lIns="0" tIns="0" rIns="0" bIns="0">
            <a:spAutoFit/>
          </a:bodyPr>
          <a:lstStyle/>
          <a:p>
            <a:pPr algn="l" rtl="0"/>
            <a:r>
              <a:rPr lang="he-IL" sz="900">
                <a:solidFill>
                  <a:srgbClr val="565C62"/>
                </a:solidFill>
                <a:latin typeface="Segoe UI"/>
              </a:rPr>
              <a:t>37/37</a:t>
            </a:r>
            <a:endParaRPr lang="en-US" sz="900">
              <a:solidFill>
                <a:srgbClr val="565C62"/>
              </a:solidFill>
              <a:latin typeface="Segoe UI"/>
            </a:endParaRPr>
          </a:p>
        </p:txBody>
      </p:sp>
      <p:sp>
        <p:nvSpPr>
          <p:cNvPr id="22" name="TextBox 21"/>
          <p:cNvSpPr txBox="1"/>
          <p:nvPr/>
        </p:nvSpPr>
        <p:spPr>
          <a:xfrm>
            <a:off x="8671255" y="7089343"/>
            <a:ext cx="2743200" cy="138499"/>
          </a:xfrm>
          <a:prstGeom prst="rect">
            <a:avLst/>
          </a:prstGeom>
          <a:noFill/>
        </p:spPr>
        <p:txBody>
          <a:bodyPr wrap="square" lIns="0" tIns="0" rIns="0" bIns="0">
            <a:spAutoFit/>
          </a:bodyPr>
          <a:lstStyle/>
          <a:p>
            <a:pPr algn="r" rtl="1"/>
            <a:r>
              <a:rPr lang="he-IL" sz="900" b="0">
                <a:solidFill>
                  <a:srgbClr val="565C62"/>
                </a:solidFill>
                <a:latin typeface="Segoe UI"/>
              </a:rPr>
              <a:t>ואלור פתרונות אוטומציה</a:t>
            </a:r>
            <a:endParaRPr lang="en-US" sz="900" b="0">
              <a:solidFill>
                <a:srgbClr val="565C62"/>
              </a:solidFill>
              <a:latin typeface="Segoe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3587</Words>
  <Application>Microsoft Office PowerPoint</Application>
  <PresentationFormat>Custom</PresentationFormat>
  <Paragraphs>429</Paragraphs>
  <Slides>37</Slides>
  <Notes>15</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Guy Cohen</cp:lastModifiedBy>
  <cp:revision>2</cp:revision>
  <dcterms:created xsi:type="dcterms:W3CDTF">2013-01-27T09:14:16Z</dcterms:created>
  <dcterms:modified xsi:type="dcterms:W3CDTF">2026-09-02T08:14:12Z</dcterms:modified>
  <cp:category/>
</cp:coreProperties>
</file>